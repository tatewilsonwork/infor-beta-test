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customXml/itemProps110.xml" ContentType="application/vnd.openxmlformats-officedocument.customXmlProperties+xml"/>
  <Override PartName="/customXml/itemProps111.xml" ContentType="application/vnd.openxmlformats-officedocument.customXmlProperties+xml"/>
  <Override PartName="/customXml/itemProps112.xml" ContentType="application/vnd.openxmlformats-officedocument.customXmlProperties+xml"/>
  <Override PartName="/customXml/itemProps113.xml" ContentType="application/vnd.openxmlformats-officedocument.customXmlProperties+xml"/>
  <Override PartName="/customXml/itemProps114.xml" ContentType="application/vnd.openxmlformats-officedocument.customXmlProperties+xml"/>
  <Override PartName="/customXml/itemProps115.xml" ContentType="application/vnd.openxmlformats-officedocument.customXmlProperties+xml"/>
  <Override PartName="/customXml/itemProps116.xml" ContentType="application/vnd.openxmlformats-officedocument.customXmlProperties+xml"/>
  <Override PartName="/customXml/itemProps117.xml" ContentType="application/vnd.openxmlformats-officedocument.customXmlProperties+xml"/>
  <Override PartName="/customXml/itemProps118.xml" ContentType="application/vnd.openxmlformats-officedocument.customXmlProperties+xml"/>
  <Override PartName="/customXml/itemProps119.xml" ContentType="application/vnd.openxmlformats-officedocument.customXmlProperties+xml"/>
  <Override PartName="/customXml/itemProps120.xml" ContentType="application/vnd.openxmlformats-officedocument.customXmlProperties+xml"/>
  <Override PartName="/customXml/itemProps121.xml" ContentType="application/vnd.openxmlformats-officedocument.customXmlProperties+xml"/>
  <Override PartName="/customXml/itemProps122.xml" ContentType="application/vnd.openxmlformats-officedocument.customXmlProperties+xml"/>
  <Override PartName="/customXml/itemProps123.xml" ContentType="application/vnd.openxmlformats-officedocument.customXmlProperties+xml"/>
  <Override PartName="/customXml/itemProps124.xml" ContentType="application/vnd.openxmlformats-officedocument.customXmlProperties+xml"/>
  <Override PartName="/customXml/itemProps125.xml" ContentType="application/vnd.openxmlformats-officedocument.customXmlProperties+xml"/>
  <Override PartName="/customXml/itemProps126.xml" ContentType="application/vnd.openxmlformats-officedocument.customXmlProperties+xml"/>
  <Override PartName="/customXml/itemProps127.xml" ContentType="application/vnd.openxmlformats-officedocument.customXmlProperties+xml"/>
  <Override PartName="/customXml/itemProps128.xml" ContentType="application/vnd.openxmlformats-officedocument.customXmlProperties+xml"/>
  <Override PartName="/customXml/itemProps129.xml" ContentType="application/vnd.openxmlformats-officedocument.customXmlProperties+xml"/>
  <Override PartName="/customXml/itemProps130.xml" ContentType="application/vnd.openxmlformats-officedocument.customXmlProperties+xml"/>
  <Override PartName="/customXml/itemProps131.xml" ContentType="application/vnd.openxmlformats-officedocument.customXmlProperties+xml"/>
  <Override PartName="/customXml/itemProps13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autoCompressPictures="0" bookmarkIdSeed="2">
  <p:sldMasterIdLst>
    <p:sldMasterId id="2147483718" r:id="rId133"/>
    <p:sldMasterId id="2147483732" r:id="rId134"/>
  </p:sldMasterIdLst>
  <p:notesMasterIdLst>
    <p:notesMasterId r:id="rId153"/>
  </p:notesMasterIdLst>
  <p:handoutMasterIdLst>
    <p:handoutMasterId r:id="rId154"/>
  </p:handoutMasterIdLst>
  <p:sldIdLst>
    <p:sldId id="3958" r:id="rId135"/>
    <p:sldId id="3931" r:id="rId136"/>
    <p:sldId id="3980" r:id="rId137"/>
    <p:sldId id="4010" r:id="rId138"/>
    <p:sldId id="3951" r:id="rId139"/>
    <p:sldId id="1670" r:id="rId140"/>
    <p:sldId id="3956" r:id="rId141"/>
    <p:sldId id="4024" r:id="rId142"/>
    <p:sldId id="837" r:id="rId143"/>
    <p:sldId id="3880" r:id="rId144"/>
    <p:sldId id="4104" r:id="rId145"/>
    <p:sldId id="4273" r:id="rId146"/>
    <p:sldId id="4272" r:id="rId147"/>
    <p:sldId id="3971" r:id="rId148"/>
    <p:sldId id="4275" r:id="rId149"/>
    <p:sldId id="4274" r:id="rId150"/>
    <p:sldId id="468" r:id="rId151"/>
    <p:sldId id="985" r:id="rId152"/>
  </p:sldIdLst>
  <p:sldSz cx="9144000" cy="6858000" type="screen4x3"/>
  <p:notesSz cx="7010400" cy="9296400"/>
  <p:embeddedFontLst>
    <p:embeddedFont>
      <p:font typeface="Aharoni" panose="02010803020104030203" pitchFamily="2" charset="-79"/>
      <p:bold r:id="rId155"/>
    </p:embeddedFont>
    <p:embeddedFont>
      <p:font typeface="Century Gothic" panose="020B0502020202020204" pitchFamily="34" charset="0"/>
      <p:regular r:id="rId156"/>
      <p:bold r:id="rId157"/>
      <p:italic r:id="rId158"/>
      <p:boldItalic r:id="rId159"/>
    </p:embeddedFont>
    <p:embeddedFont>
      <p:font typeface="Corbel" panose="020B0503020204020204" pitchFamily="34" charset="0"/>
      <p:regular r:id="rId160"/>
      <p:bold r:id="rId161"/>
      <p:italic r:id="rId162"/>
      <p:boldItalic r:id="rId163"/>
    </p:embeddedFont>
    <p:embeddedFont>
      <p:font typeface="Palatino Linotype" panose="02040502050505030304" pitchFamily="18" charset="0"/>
      <p:regular r:id="rId164"/>
      <p:bold r:id="rId165"/>
      <p:italic r:id="rId166"/>
      <p:boldItalic r:id="rId167"/>
    </p:embeddedFont>
    <p:embeddedFont>
      <p:font typeface="Segoe UI" panose="020B0502040204020203" pitchFamily="34" charset="0"/>
      <p:regular r:id="rId168"/>
      <p:bold r:id="rId169"/>
      <p:italic r:id="rId170"/>
      <p:boldItalic r:id="rId171"/>
    </p:embeddedFont>
  </p:embeddedFontLst>
  <p:custDataLst>
    <p:tags r:id="rId17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952" userDrawn="1">
          <p15:clr>
            <a:srgbClr val="A4A3A4"/>
          </p15:clr>
        </p15:guide>
        <p15:guide id="3" pos="816" userDrawn="1">
          <p15:clr>
            <a:srgbClr val="A4A3A4"/>
          </p15:clr>
        </p15:guide>
        <p15:guide id="4" pos="216" userDrawn="1">
          <p15:clr>
            <a:srgbClr val="A4A3A4"/>
          </p15:clr>
        </p15:guide>
        <p15:guide id="6" pos="5544" userDrawn="1">
          <p15:clr>
            <a:srgbClr val="A4A3A4"/>
          </p15:clr>
        </p15:guide>
        <p15:guide id="7" pos="5424" userDrawn="1">
          <p15:clr>
            <a:srgbClr val="A4A3A4"/>
          </p15:clr>
        </p15:guide>
        <p15:guide id="8" pos="363" userDrawn="1">
          <p15:clr>
            <a:srgbClr val="A4A3A4"/>
          </p15:clr>
        </p15:guide>
        <p15:guide id="10" orient="horz" pos="3317" userDrawn="1">
          <p15:clr>
            <a:srgbClr val="A4A3A4"/>
          </p15:clr>
        </p15:guide>
        <p15:guide id="11" orient="horz" pos="1797" userDrawn="1">
          <p15:clr>
            <a:srgbClr val="A4A3A4"/>
          </p15:clr>
        </p15:guide>
        <p15:guide id="13" orient="horz" pos="3906"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CF5F306-4ED6-795C-C3B7-FA8047F68CA0}" name="Petar Mijacevic" initials="PM" userId="S::pmijacevic@inforfg.com::87170486-a460-4fab-9bb6-4fe79e90bab6" providerId="AD"/>
  <p188:author id="{5FF8D615-BFCE-EE3F-8A36-3336454C3871}" name="Joey Shaw" initials="JS" userId="S::jshaw@inforfg.com::06bdb8e4-7545-463a-95a2-3a9f011cefd4" providerId="AD"/>
  <p188:author id="{F65E286F-26DC-E4EA-0386-DBCAA223FCB6}" name="Tate Wilson" initials="TW" userId="S::twilson@inforfg.com::dd715062-ed57-4058-a014-95cd6b7000da" providerId="AD"/>
  <p188:author id="{84C68970-5F03-B2E7-DD34-AD5666F5BE71}" name="Joe Winnitoy" initials="JW" userId="S::jwinnitoy@inforfg.com::59a0b5f6-ccff-44a7-b378-e7509c28860a" providerId="AD"/>
  <p188:author id="{26379496-5BC4-1D91-490E-6ACADF49F87B}" name="Matthew Buckles" initials="MB" userId="S::mbuckles@inforfg.com::241cfb4c-4deb-4fbf-93e8-634796df9da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ebastian McKinlay" initials="SM" lastIdx="1" clrIdx="0"/>
  <p:cmAuthor id="2" name="Greg Lewis" initials="GL" lastIdx="1" clrIdx="1"/>
  <p:cmAuthor id="3" name="Nick Matta" initials="NM" lastIdx="2" clrIdx="2">
    <p:extLst>
      <p:ext uri="{19B8F6BF-5375-455C-9EA6-DF929625EA0E}">
        <p15:presenceInfo xmlns:p15="http://schemas.microsoft.com/office/powerpoint/2012/main" userId="S::nmatta@inforfg.com::9700b57c-2069-47c2-812e-fa76cd19aacb" providerId="AD"/>
      </p:ext>
    </p:extLst>
  </p:cmAuthor>
  <p:cmAuthor id="4" name="Sukhmun Dosanjh" initials="SD" lastIdx="1" clrIdx="3">
    <p:extLst>
      <p:ext uri="{19B8F6BF-5375-455C-9EA6-DF929625EA0E}">
        <p15:presenceInfo xmlns:p15="http://schemas.microsoft.com/office/powerpoint/2012/main" userId="S::Sdosanjh@inforfg.com::38ac0071-4363-43cd-b57b-c27ed8897e3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FFFFFF"/>
    <a:srgbClr val="46566E"/>
    <a:srgbClr val="E7E8E8"/>
    <a:srgbClr val="CCCCCE"/>
    <a:srgbClr val="83531E"/>
    <a:srgbClr val="00B050"/>
    <a:srgbClr val="0E213F"/>
    <a:srgbClr val="ADB9CA"/>
    <a:srgbClr val="022E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96"/>
      </p:cViewPr>
      <p:guideLst>
        <p:guide pos="2952"/>
        <p:guide pos="816"/>
        <p:guide pos="216"/>
        <p:guide pos="5544"/>
        <p:guide pos="5424"/>
        <p:guide pos="363"/>
        <p:guide orient="horz" pos="3317"/>
        <p:guide orient="horz" pos="1797"/>
        <p:guide orient="horz" pos="3906"/>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customXml" Target="../customXml/item117.xml"/><Relationship Id="rId21" Type="http://schemas.openxmlformats.org/officeDocument/2006/relationships/customXml" Target="../customXml/item21.xml"/><Relationship Id="rId42" Type="http://schemas.openxmlformats.org/officeDocument/2006/relationships/customXml" Target="../customXml/item42.xml"/><Relationship Id="rId63" Type="http://schemas.openxmlformats.org/officeDocument/2006/relationships/customXml" Target="../customXml/item63.xml"/><Relationship Id="rId84" Type="http://schemas.openxmlformats.org/officeDocument/2006/relationships/customXml" Target="../customXml/item84.xml"/><Relationship Id="rId138" Type="http://schemas.openxmlformats.org/officeDocument/2006/relationships/slide" Target="slides/slide4.xml"/><Relationship Id="rId159" Type="http://schemas.openxmlformats.org/officeDocument/2006/relationships/font" Target="fonts/font5.fntdata"/><Relationship Id="rId170" Type="http://schemas.openxmlformats.org/officeDocument/2006/relationships/font" Target="fonts/font16.fntdata"/><Relationship Id="rId107" Type="http://schemas.openxmlformats.org/officeDocument/2006/relationships/customXml" Target="../customXml/item107.xml"/><Relationship Id="rId11" Type="http://schemas.openxmlformats.org/officeDocument/2006/relationships/customXml" Target="../customXml/item11.xml"/><Relationship Id="rId32" Type="http://schemas.openxmlformats.org/officeDocument/2006/relationships/customXml" Target="../customXml/item32.xml"/><Relationship Id="rId53" Type="http://schemas.openxmlformats.org/officeDocument/2006/relationships/customXml" Target="../customXml/item53.xml"/><Relationship Id="rId74" Type="http://schemas.openxmlformats.org/officeDocument/2006/relationships/customXml" Target="../customXml/item74.xml"/><Relationship Id="rId128" Type="http://schemas.openxmlformats.org/officeDocument/2006/relationships/customXml" Target="../customXml/item128.xml"/><Relationship Id="rId149" Type="http://schemas.openxmlformats.org/officeDocument/2006/relationships/slide" Target="slides/slide15.xml"/><Relationship Id="rId5" Type="http://schemas.openxmlformats.org/officeDocument/2006/relationships/customXml" Target="../customXml/item5.xml"/><Relationship Id="rId95" Type="http://schemas.openxmlformats.org/officeDocument/2006/relationships/customXml" Target="../customXml/item95.xml"/><Relationship Id="rId160" Type="http://schemas.openxmlformats.org/officeDocument/2006/relationships/font" Target="fonts/font6.fntdata"/><Relationship Id="rId22" Type="http://schemas.openxmlformats.org/officeDocument/2006/relationships/customXml" Target="../customXml/item22.xml"/><Relationship Id="rId43" Type="http://schemas.openxmlformats.org/officeDocument/2006/relationships/customXml" Target="../customXml/item43.xml"/><Relationship Id="rId64" Type="http://schemas.openxmlformats.org/officeDocument/2006/relationships/customXml" Target="../customXml/item64.xml"/><Relationship Id="rId118" Type="http://schemas.openxmlformats.org/officeDocument/2006/relationships/customXml" Target="../customXml/item118.xml"/><Relationship Id="rId139" Type="http://schemas.openxmlformats.org/officeDocument/2006/relationships/slide" Target="slides/slide5.xml"/><Relationship Id="rId85" Type="http://schemas.openxmlformats.org/officeDocument/2006/relationships/customXml" Target="../customXml/item85.xml"/><Relationship Id="rId150" Type="http://schemas.openxmlformats.org/officeDocument/2006/relationships/slide" Target="slides/slide16.xml"/><Relationship Id="rId171" Type="http://schemas.openxmlformats.org/officeDocument/2006/relationships/font" Target="fonts/font17.fntdata"/><Relationship Id="rId12" Type="http://schemas.openxmlformats.org/officeDocument/2006/relationships/customXml" Target="../customXml/item12.xml"/><Relationship Id="rId33" Type="http://schemas.openxmlformats.org/officeDocument/2006/relationships/customXml" Target="../customXml/item33.xml"/><Relationship Id="rId108" Type="http://schemas.openxmlformats.org/officeDocument/2006/relationships/customXml" Target="../customXml/item108.xml"/><Relationship Id="rId129" Type="http://schemas.openxmlformats.org/officeDocument/2006/relationships/customXml" Target="../customXml/item129.xml"/><Relationship Id="rId54" Type="http://schemas.openxmlformats.org/officeDocument/2006/relationships/customXml" Target="../customXml/item54.xml"/><Relationship Id="rId75" Type="http://schemas.openxmlformats.org/officeDocument/2006/relationships/customXml" Target="../customXml/item75.xml"/><Relationship Id="rId96" Type="http://schemas.openxmlformats.org/officeDocument/2006/relationships/customXml" Target="../customXml/item96.xml"/><Relationship Id="rId140" Type="http://schemas.openxmlformats.org/officeDocument/2006/relationships/slide" Target="slides/slide6.xml"/><Relationship Id="rId161" Type="http://schemas.openxmlformats.org/officeDocument/2006/relationships/font" Target="fonts/font7.fntdata"/><Relationship Id="rId6" Type="http://schemas.openxmlformats.org/officeDocument/2006/relationships/customXml" Target="../customXml/item6.xml"/><Relationship Id="rId23" Type="http://schemas.openxmlformats.org/officeDocument/2006/relationships/customXml" Target="../customXml/item23.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customXml" Target="../customXml/item114.xml"/><Relationship Id="rId119" Type="http://schemas.openxmlformats.org/officeDocument/2006/relationships/customXml" Target="../customXml/item119.xml"/><Relationship Id="rId44" Type="http://schemas.openxmlformats.org/officeDocument/2006/relationships/customXml" Target="../customXml/item44.xml"/><Relationship Id="rId60" Type="http://schemas.openxmlformats.org/officeDocument/2006/relationships/customXml" Target="../customXml/item60.xml"/><Relationship Id="rId65" Type="http://schemas.openxmlformats.org/officeDocument/2006/relationships/customXml" Target="../customXml/item65.xml"/><Relationship Id="rId81" Type="http://schemas.openxmlformats.org/officeDocument/2006/relationships/customXml" Target="../customXml/item81.xml"/><Relationship Id="rId86" Type="http://schemas.openxmlformats.org/officeDocument/2006/relationships/customXml" Target="../customXml/item86.xml"/><Relationship Id="rId130" Type="http://schemas.openxmlformats.org/officeDocument/2006/relationships/customXml" Target="../customXml/item130.xml"/><Relationship Id="rId135" Type="http://schemas.openxmlformats.org/officeDocument/2006/relationships/slide" Target="slides/slide1.xml"/><Relationship Id="rId151" Type="http://schemas.openxmlformats.org/officeDocument/2006/relationships/slide" Target="slides/slide17.xml"/><Relationship Id="rId156" Type="http://schemas.openxmlformats.org/officeDocument/2006/relationships/font" Target="fonts/font2.fntdata"/><Relationship Id="rId177" Type="http://schemas.openxmlformats.org/officeDocument/2006/relationships/tableStyles" Target="tableStyles.xml"/><Relationship Id="rId172" Type="http://schemas.openxmlformats.org/officeDocument/2006/relationships/tags" Target="tags/tag1.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109" Type="http://schemas.openxmlformats.org/officeDocument/2006/relationships/customXml" Target="../customXml/item109.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customXml" Target="../customXml/item76.xml"/><Relationship Id="rId97" Type="http://schemas.openxmlformats.org/officeDocument/2006/relationships/customXml" Target="../customXml/item97.xml"/><Relationship Id="rId104" Type="http://schemas.openxmlformats.org/officeDocument/2006/relationships/customXml" Target="../customXml/item104.xml"/><Relationship Id="rId120" Type="http://schemas.openxmlformats.org/officeDocument/2006/relationships/customXml" Target="../customXml/item120.xml"/><Relationship Id="rId125" Type="http://schemas.openxmlformats.org/officeDocument/2006/relationships/customXml" Target="../customXml/item125.xml"/><Relationship Id="rId141" Type="http://schemas.openxmlformats.org/officeDocument/2006/relationships/slide" Target="slides/slide7.xml"/><Relationship Id="rId146" Type="http://schemas.openxmlformats.org/officeDocument/2006/relationships/slide" Target="slides/slide12.xml"/><Relationship Id="rId167" Type="http://schemas.openxmlformats.org/officeDocument/2006/relationships/font" Target="fonts/font13.fntdata"/><Relationship Id="rId7" Type="http://schemas.openxmlformats.org/officeDocument/2006/relationships/customXml" Target="../customXml/item7.xml"/><Relationship Id="rId71" Type="http://schemas.openxmlformats.org/officeDocument/2006/relationships/customXml" Target="../customXml/item71.xml"/><Relationship Id="rId92" Type="http://schemas.openxmlformats.org/officeDocument/2006/relationships/customXml" Target="../customXml/item92.xml"/><Relationship Id="rId162" Type="http://schemas.openxmlformats.org/officeDocument/2006/relationships/font" Target="fonts/font8.fntdata"/><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customXml" Target="../customXml/item87.xml"/><Relationship Id="rId110" Type="http://schemas.openxmlformats.org/officeDocument/2006/relationships/customXml" Target="../customXml/item110.xml"/><Relationship Id="rId115" Type="http://schemas.openxmlformats.org/officeDocument/2006/relationships/customXml" Target="../customXml/item115.xml"/><Relationship Id="rId131" Type="http://schemas.openxmlformats.org/officeDocument/2006/relationships/customXml" Target="../customXml/item131.xml"/><Relationship Id="rId136" Type="http://schemas.openxmlformats.org/officeDocument/2006/relationships/slide" Target="slides/slide2.xml"/><Relationship Id="rId157" Type="http://schemas.openxmlformats.org/officeDocument/2006/relationships/font" Target="fonts/font3.fntdata"/><Relationship Id="rId178" Type="http://schemas.microsoft.com/office/2016/11/relationships/changesInfo" Target="changesInfos/changesInfo1.xml"/><Relationship Id="rId61" Type="http://schemas.openxmlformats.org/officeDocument/2006/relationships/customXml" Target="../customXml/item61.xml"/><Relationship Id="rId82" Type="http://schemas.openxmlformats.org/officeDocument/2006/relationships/customXml" Target="../customXml/item82.xml"/><Relationship Id="rId152" Type="http://schemas.openxmlformats.org/officeDocument/2006/relationships/slide" Target="slides/slide18.xml"/><Relationship Id="rId173" Type="http://schemas.openxmlformats.org/officeDocument/2006/relationships/commentAuthors" Target="commentAuthors.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customXml" Target="../customXml/item77.xml"/><Relationship Id="rId100" Type="http://schemas.openxmlformats.org/officeDocument/2006/relationships/customXml" Target="../customXml/item100.xml"/><Relationship Id="rId105" Type="http://schemas.openxmlformats.org/officeDocument/2006/relationships/customXml" Target="../customXml/item105.xml"/><Relationship Id="rId126" Type="http://schemas.openxmlformats.org/officeDocument/2006/relationships/customXml" Target="../customXml/item126.xml"/><Relationship Id="rId147" Type="http://schemas.openxmlformats.org/officeDocument/2006/relationships/slide" Target="slides/slide13.xml"/><Relationship Id="rId168" Type="http://schemas.openxmlformats.org/officeDocument/2006/relationships/font" Target="fonts/font14.fntdata"/><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customXml" Target="../customXml/item72.xml"/><Relationship Id="rId93" Type="http://schemas.openxmlformats.org/officeDocument/2006/relationships/customXml" Target="../customXml/item93.xml"/><Relationship Id="rId98" Type="http://schemas.openxmlformats.org/officeDocument/2006/relationships/customXml" Target="../customXml/item98.xml"/><Relationship Id="rId121" Type="http://schemas.openxmlformats.org/officeDocument/2006/relationships/customXml" Target="../customXml/item121.xml"/><Relationship Id="rId142" Type="http://schemas.openxmlformats.org/officeDocument/2006/relationships/slide" Target="slides/slide8.xml"/><Relationship Id="rId163" Type="http://schemas.openxmlformats.org/officeDocument/2006/relationships/font" Target="fonts/font9.fntdata"/><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 Id="rId116" Type="http://schemas.openxmlformats.org/officeDocument/2006/relationships/customXml" Target="../customXml/item116.xml"/><Relationship Id="rId137" Type="http://schemas.openxmlformats.org/officeDocument/2006/relationships/slide" Target="slides/slide3.xml"/><Relationship Id="rId158" Type="http://schemas.openxmlformats.org/officeDocument/2006/relationships/font" Target="fonts/font4.fntdata"/><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customXml" Target="../customXml/item83.xml"/><Relationship Id="rId88" Type="http://schemas.openxmlformats.org/officeDocument/2006/relationships/customXml" Target="../customXml/item88.xml"/><Relationship Id="rId111" Type="http://schemas.openxmlformats.org/officeDocument/2006/relationships/customXml" Target="../customXml/item111.xml"/><Relationship Id="rId132" Type="http://schemas.openxmlformats.org/officeDocument/2006/relationships/customXml" Target="../customXml/item132.xml"/><Relationship Id="rId153" Type="http://schemas.openxmlformats.org/officeDocument/2006/relationships/notesMaster" Target="notesMasters/notesMaster1.xml"/><Relationship Id="rId174" Type="http://schemas.openxmlformats.org/officeDocument/2006/relationships/presProps" Target="presProps.xml"/><Relationship Id="rId179" Type="http://schemas.microsoft.com/office/2018/10/relationships/authors" Target="authors.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6" Type="http://schemas.openxmlformats.org/officeDocument/2006/relationships/customXml" Target="../customXml/item106.xml"/><Relationship Id="rId127" Type="http://schemas.openxmlformats.org/officeDocument/2006/relationships/customXml" Target="../customXml/item127.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customXml" Target="../customXml/item73.xml"/><Relationship Id="rId78" Type="http://schemas.openxmlformats.org/officeDocument/2006/relationships/customXml" Target="../customXml/item78.xml"/><Relationship Id="rId94" Type="http://schemas.openxmlformats.org/officeDocument/2006/relationships/customXml" Target="../customXml/item94.xml"/><Relationship Id="rId99" Type="http://schemas.openxmlformats.org/officeDocument/2006/relationships/customXml" Target="../customXml/item99.xml"/><Relationship Id="rId101" Type="http://schemas.openxmlformats.org/officeDocument/2006/relationships/customXml" Target="../customXml/item101.xml"/><Relationship Id="rId122" Type="http://schemas.openxmlformats.org/officeDocument/2006/relationships/customXml" Target="../customXml/item122.xml"/><Relationship Id="rId143" Type="http://schemas.openxmlformats.org/officeDocument/2006/relationships/slide" Target="slides/slide9.xml"/><Relationship Id="rId148" Type="http://schemas.openxmlformats.org/officeDocument/2006/relationships/slide" Target="slides/slide14.xml"/><Relationship Id="rId164" Type="http://schemas.openxmlformats.org/officeDocument/2006/relationships/font" Target="fonts/font10.fntdata"/><Relationship Id="rId169" Type="http://schemas.openxmlformats.org/officeDocument/2006/relationships/font" Target="fonts/font15.fntdata"/><Relationship Id="rId4" Type="http://schemas.openxmlformats.org/officeDocument/2006/relationships/customXml" Target="../customXml/item4.xml"/><Relationship Id="rId9" Type="http://schemas.openxmlformats.org/officeDocument/2006/relationships/customXml" Target="../customXml/item9.xml"/><Relationship Id="rId26" Type="http://schemas.openxmlformats.org/officeDocument/2006/relationships/customXml" Target="../customXml/item26.xml"/><Relationship Id="rId47" Type="http://schemas.openxmlformats.org/officeDocument/2006/relationships/customXml" Target="../customXml/item47.xml"/><Relationship Id="rId68" Type="http://schemas.openxmlformats.org/officeDocument/2006/relationships/customXml" Target="../customXml/item68.xml"/><Relationship Id="rId89" Type="http://schemas.openxmlformats.org/officeDocument/2006/relationships/customXml" Target="../customXml/item89.xml"/><Relationship Id="rId112" Type="http://schemas.openxmlformats.org/officeDocument/2006/relationships/customXml" Target="../customXml/item112.xml"/><Relationship Id="rId133" Type="http://schemas.openxmlformats.org/officeDocument/2006/relationships/slideMaster" Target="slideMasters/slideMaster1.xml"/><Relationship Id="rId154" Type="http://schemas.openxmlformats.org/officeDocument/2006/relationships/handoutMaster" Target="handoutMasters/handoutMaster1.xml"/><Relationship Id="rId175" Type="http://schemas.openxmlformats.org/officeDocument/2006/relationships/viewProps" Target="viewProps.xml"/><Relationship Id="rId16" Type="http://schemas.openxmlformats.org/officeDocument/2006/relationships/customXml" Target="../customXml/item16.xml"/><Relationship Id="rId37" Type="http://schemas.openxmlformats.org/officeDocument/2006/relationships/customXml" Target="../customXml/item37.xml"/><Relationship Id="rId58" Type="http://schemas.openxmlformats.org/officeDocument/2006/relationships/customXml" Target="../customXml/item58.xml"/><Relationship Id="rId79" Type="http://schemas.openxmlformats.org/officeDocument/2006/relationships/customXml" Target="../customXml/item79.xml"/><Relationship Id="rId102" Type="http://schemas.openxmlformats.org/officeDocument/2006/relationships/customXml" Target="../customXml/item102.xml"/><Relationship Id="rId123" Type="http://schemas.openxmlformats.org/officeDocument/2006/relationships/customXml" Target="../customXml/item123.xml"/><Relationship Id="rId144" Type="http://schemas.openxmlformats.org/officeDocument/2006/relationships/slide" Target="slides/slide10.xml"/><Relationship Id="rId90" Type="http://schemas.openxmlformats.org/officeDocument/2006/relationships/customXml" Target="../customXml/item90.xml"/><Relationship Id="rId165" Type="http://schemas.openxmlformats.org/officeDocument/2006/relationships/font" Target="fonts/font11.fntdata"/><Relationship Id="rId27" Type="http://schemas.openxmlformats.org/officeDocument/2006/relationships/customXml" Target="../customXml/item27.xml"/><Relationship Id="rId48" Type="http://schemas.openxmlformats.org/officeDocument/2006/relationships/customXml" Target="../customXml/item48.xml"/><Relationship Id="rId69" Type="http://schemas.openxmlformats.org/officeDocument/2006/relationships/customXml" Target="../customXml/item69.xml"/><Relationship Id="rId113" Type="http://schemas.openxmlformats.org/officeDocument/2006/relationships/customXml" Target="../customXml/item113.xml"/><Relationship Id="rId134" Type="http://schemas.openxmlformats.org/officeDocument/2006/relationships/slideMaster" Target="slideMasters/slideMaster2.xml"/><Relationship Id="rId80" Type="http://schemas.openxmlformats.org/officeDocument/2006/relationships/customXml" Target="../customXml/item80.xml"/><Relationship Id="rId155" Type="http://schemas.openxmlformats.org/officeDocument/2006/relationships/font" Target="fonts/font1.fntdata"/><Relationship Id="rId176" Type="http://schemas.openxmlformats.org/officeDocument/2006/relationships/theme" Target="theme/theme1.xml"/><Relationship Id="rId17" Type="http://schemas.openxmlformats.org/officeDocument/2006/relationships/customXml" Target="../customXml/item17.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customXml" Target="../customXml/item103.xml"/><Relationship Id="rId124" Type="http://schemas.openxmlformats.org/officeDocument/2006/relationships/customXml" Target="../customXml/item124.xml"/><Relationship Id="rId70" Type="http://schemas.openxmlformats.org/officeDocument/2006/relationships/customXml" Target="../customXml/item70.xml"/><Relationship Id="rId91" Type="http://schemas.openxmlformats.org/officeDocument/2006/relationships/customXml" Target="../customXml/item91.xml"/><Relationship Id="rId145" Type="http://schemas.openxmlformats.org/officeDocument/2006/relationships/slide" Target="slides/slide11.xml"/><Relationship Id="rId166" Type="http://schemas.openxmlformats.org/officeDocument/2006/relationships/font" Target="fonts/font12.fntdata"/><Relationship Id="rId1"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te Wilson" userId="dd715062-ed57-4058-a014-95cd6b7000da" providerId="ADAL" clId="{ECC2427A-958D-48F4-91B3-1A337BB0DFE3}"/>
    <pc:docChg chg="undo custSel addSld modSld modMainMaster">
      <pc:chgData name="Tate Wilson" userId="dd715062-ed57-4058-a014-95cd6b7000da" providerId="ADAL" clId="{ECC2427A-958D-48F4-91B3-1A337BB0DFE3}" dt="2026-07-16T21:19:45.920" v="117" actId="465"/>
      <pc:docMkLst>
        <pc:docMk/>
      </pc:docMkLst>
      <pc:sldChg chg="modSp mod">
        <pc:chgData name="Tate Wilson" userId="dd715062-ed57-4058-a014-95cd6b7000da" providerId="ADAL" clId="{ECC2427A-958D-48F4-91B3-1A337BB0DFE3}" dt="2026-07-16T21:19:45.920" v="117" actId="465"/>
        <pc:sldMkLst>
          <pc:docMk/>
          <pc:sldMk cId="678158297" sldId="1670"/>
        </pc:sldMkLst>
        <pc:spChg chg="mod">
          <ac:chgData name="Tate Wilson" userId="dd715062-ed57-4058-a014-95cd6b7000da" providerId="ADAL" clId="{ECC2427A-958D-48F4-91B3-1A337BB0DFE3}" dt="2026-07-16T21:19:33.397" v="116" actId="1076"/>
          <ac:spMkLst>
            <pc:docMk/>
            <pc:sldMk cId="678158297" sldId="1670"/>
            <ac:spMk id="6" creationId="{FD45F4D9-2E91-0CF5-9FF4-277C68C70239}"/>
          </ac:spMkLst>
        </pc:spChg>
        <pc:spChg chg="mod">
          <ac:chgData name="Tate Wilson" userId="dd715062-ed57-4058-a014-95cd6b7000da" providerId="ADAL" clId="{ECC2427A-958D-48F4-91B3-1A337BB0DFE3}" dt="2026-07-16T21:19:45.920" v="117" actId="465"/>
          <ac:spMkLst>
            <pc:docMk/>
            <pc:sldMk cId="678158297" sldId="1670"/>
            <ac:spMk id="7" creationId="{0B1503B3-C17C-9996-24DA-DED5E12E8A80}"/>
          </ac:spMkLst>
        </pc:spChg>
        <pc:spChg chg="mod">
          <ac:chgData name="Tate Wilson" userId="dd715062-ed57-4058-a014-95cd6b7000da" providerId="ADAL" clId="{ECC2427A-958D-48F4-91B3-1A337BB0DFE3}" dt="2026-07-16T21:19:45.920" v="117" actId="465"/>
          <ac:spMkLst>
            <pc:docMk/>
            <pc:sldMk cId="678158297" sldId="1670"/>
            <ac:spMk id="8" creationId="{8D93159A-F65F-D627-A15E-596C972F430E}"/>
          </ac:spMkLst>
        </pc:spChg>
        <pc:spChg chg="mod">
          <ac:chgData name="Tate Wilson" userId="dd715062-ed57-4058-a014-95cd6b7000da" providerId="ADAL" clId="{ECC2427A-958D-48F4-91B3-1A337BB0DFE3}" dt="2026-07-16T21:19:30.758" v="115" actId="1076"/>
          <ac:spMkLst>
            <pc:docMk/>
            <pc:sldMk cId="678158297" sldId="1670"/>
            <ac:spMk id="9" creationId="{E49D0158-455A-0D9C-16DE-6F07B9B9C01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8" y="4"/>
            <a:ext cx="3037455" cy="465940"/>
          </a:xfrm>
          <a:prstGeom prst="rect">
            <a:avLst/>
          </a:prstGeom>
        </p:spPr>
        <p:txBody>
          <a:bodyPr vert="horz" lIns="91332" tIns="45668" rIns="91332" bIns="45668" rtlCol="0"/>
          <a:lstStyle>
            <a:lvl1pPr algn="l">
              <a:defRPr sz="1200"/>
            </a:lvl1pPr>
          </a:lstStyle>
          <a:p>
            <a:endParaRPr lang="en-CA"/>
          </a:p>
        </p:txBody>
      </p:sp>
      <p:sp>
        <p:nvSpPr>
          <p:cNvPr id="3" name="Date Placeholder 2"/>
          <p:cNvSpPr>
            <a:spLocks noGrp="1"/>
          </p:cNvSpPr>
          <p:nvPr>
            <p:ph type="dt" sz="quarter" idx="1"/>
          </p:nvPr>
        </p:nvSpPr>
        <p:spPr>
          <a:xfrm>
            <a:off x="3971296" y="4"/>
            <a:ext cx="3037454" cy="465940"/>
          </a:xfrm>
          <a:prstGeom prst="rect">
            <a:avLst/>
          </a:prstGeom>
        </p:spPr>
        <p:txBody>
          <a:bodyPr vert="horz" lIns="91332" tIns="45668" rIns="91332" bIns="45668" rtlCol="0"/>
          <a:lstStyle>
            <a:lvl1pPr algn="r">
              <a:defRPr sz="1200"/>
            </a:lvl1pPr>
          </a:lstStyle>
          <a:p>
            <a:fld id="{9C8B1C08-F1AA-4564-9AA0-B0428DFEBCC3}" type="datetimeFigureOut">
              <a:rPr lang="en-CA" smtClean="0"/>
              <a:t>2026-07-16</a:t>
            </a:fld>
            <a:endParaRPr lang="en-CA"/>
          </a:p>
        </p:txBody>
      </p:sp>
      <p:sp>
        <p:nvSpPr>
          <p:cNvPr id="4" name="Footer Placeholder 3"/>
          <p:cNvSpPr>
            <a:spLocks noGrp="1"/>
          </p:cNvSpPr>
          <p:nvPr>
            <p:ph type="ftr" sz="quarter" idx="2"/>
          </p:nvPr>
        </p:nvSpPr>
        <p:spPr>
          <a:xfrm>
            <a:off x="8" y="8830462"/>
            <a:ext cx="3037455" cy="465940"/>
          </a:xfrm>
          <a:prstGeom prst="rect">
            <a:avLst/>
          </a:prstGeom>
        </p:spPr>
        <p:txBody>
          <a:bodyPr vert="horz" lIns="91332" tIns="45668" rIns="91332" bIns="45668" rtlCol="0" anchor="b"/>
          <a:lstStyle>
            <a:lvl1pPr algn="l">
              <a:defRPr sz="1200"/>
            </a:lvl1pPr>
          </a:lstStyle>
          <a:p>
            <a:endParaRPr lang="en-CA"/>
          </a:p>
        </p:txBody>
      </p:sp>
      <p:sp>
        <p:nvSpPr>
          <p:cNvPr id="5" name="Slide Number Placeholder 4"/>
          <p:cNvSpPr>
            <a:spLocks noGrp="1"/>
          </p:cNvSpPr>
          <p:nvPr>
            <p:ph type="sldNum" sz="quarter" idx="3"/>
          </p:nvPr>
        </p:nvSpPr>
        <p:spPr>
          <a:xfrm>
            <a:off x="3971296" y="8830462"/>
            <a:ext cx="3037454" cy="465940"/>
          </a:xfrm>
          <a:prstGeom prst="rect">
            <a:avLst/>
          </a:prstGeom>
        </p:spPr>
        <p:txBody>
          <a:bodyPr vert="horz" lIns="91332" tIns="45668" rIns="91332" bIns="45668" rtlCol="0" anchor="b"/>
          <a:lstStyle>
            <a:lvl1pPr algn="r">
              <a:defRPr sz="1200"/>
            </a:lvl1pPr>
          </a:lstStyle>
          <a:p>
            <a:fld id="{845DC737-5FD1-46B5-83FD-B0B914E42D7E}" type="slidenum">
              <a:rPr lang="en-CA" smtClean="0"/>
              <a:t>‹#›</a:t>
            </a:fld>
            <a:endParaRPr lang="en-CA"/>
          </a:p>
        </p:txBody>
      </p:sp>
    </p:spTree>
    <p:extLst>
      <p:ext uri="{BB962C8B-B14F-4D97-AF65-F5344CB8AC3E}">
        <p14:creationId xmlns:p14="http://schemas.microsoft.com/office/powerpoint/2010/main" val="3747162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8"/>
            <a:ext cx="3037840" cy="466435"/>
          </a:xfrm>
          <a:prstGeom prst="rect">
            <a:avLst/>
          </a:prstGeom>
        </p:spPr>
        <p:txBody>
          <a:bodyPr vert="horz" lIns="91332" tIns="45668" rIns="91332" bIns="45668" rtlCol="0"/>
          <a:lstStyle>
            <a:lvl1pPr algn="l">
              <a:defRPr sz="1200"/>
            </a:lvl1pPr>
          </a:lstStyle>
          <a:p>
            <a:endParaRPr lang="en-GB"/>
          </a:p>
        </p:txBody>
      </p:sp>
      <p:sp>
        <p:nvSpPr>
          <p:cNvPr id="3" name="Date Placeholder 2"/>
          <p:cNvSpPr>
            <a:spLocks noGrp="1"/>
          </p:cNvSpPr>
          <p:nvPr>
            <p:ph type="dt" idx="1"/>
          </p:nvPr>
        </p:nvSpPr>
        <p:spPr>
          <a:xfrm>
            <a:off x="3970940" y="8"/>
            <a:ext cx="3037840" cy="466435"/>
          </a:xfrm>
          <a:prstGeom prst="rect">
            <a:avLst/>
          </a:prstGeom>
        </p:spPr>
        <p:txBody>
          <a:bodyPr vert="horz" lIns="91332" tIns="45668" rIns="91332" bIns="45668" rtlCol="0"/>
          <a:lstStyle>
            <a:lvl1pPr algn="r">
              <a:defRPr sz="1200"/>
            </a:lvl1pPr>
          </a:lstStyle>
          <a:p>
            <a:fld id="{FFADE769-198B-4FAE-A652-4630BFFFA7EA}" type="datetimeFigureOut">
              <a:rPr lang="en-GB" smtClean="0"/>
              <a:t>16/07/2026</a:t>
            </a:fld>
            <a:endParaRPr lang="en-GB"/>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332" tIns="45668" rIns="91332" bIns="45668" rtlCol="0" anchor="ctr"/>
          <a:lstStyle/>
          <a:p>
            <a:endParaRPr lang="en-GB"/>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1332" tIns="45668" rIns="91332" bIns="4566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67"/>
            <a:ext cx="3037840" cy="466434"/>
          </a:xfrm>
          <a:prstGeom prst="rect">
            <a:avLst/>
          </a:prstGeom>
        </p:spPr>
        <p:txBody>
          <a:bodyPr vert="horz" lIns="91332" tIns="45668" rIns="91332" bIns="45668" rtlCol="0" anchor="b"/>
          <a:lstStyle>
            <a:lvl1pPr algn="l">
              <a:defRPr sz="1200"/>
            </a:lvl1pPr>
          </a:lstStyle>
          <a:p>
            <a:endParaRPr lang="en-GB"/>
          </a:p>
        </p:txBody>
      </p:sp>
      <p:sp>
        <p:nvSpPr>
          <p:cNvPr id="7" name="Slide Number Placeholder 6"/>
          <p:cNvSpPr>
            <a:spLocks noGrp="1"/>
          </p:cNvSpPr>
          <p:nvPr>
            <p:ph type="sldNum" sz="quarter" idx="5"/>
          </p:nvPr>
        </p:nvSpPr>
        <p:spPr>
          <a:xfrm>
            <a:off x="3970940" y="8829967"/>
            <a:ext cx="3037840" cy="466434"/>
          </a:xfrm>
          <a:prstGeom prst="rect">
            <a:avLst/>
          </a:prstGeom>
        </p:spPr>
        <p:txBody>
          <a:bodyPr vert="horz" lIns="91332" tIns="45668" rIns="91332" bIns="45668" rtlCol="0" anchor="b"/>
          <a:lstStyle>
            <a:lvl1pPr algn="r">
              <a:defRPr sz="1200"/>
            </a:lvl1pPr>
          </a:lstStyle>
          <a:p>
            <a:fld id="{5BE1016A-D413-403C-A974-2E06FD2162DF}" type="slidenum">
              <a:rPr lang="en-GB" smtClean="0"/>
              <a:t>‹#›</a:t>
            </a:fld>
            <a:endParaRPr lang="en-GB"/>
          </a:p>
        </p:txBody>
      </p:sp>
    </p:spTree>
    <p:extLst>
      <p:ext uri="{BB962C8B-B14F-4D97-AF65-F5344CB8AC3E}">
        <p14:creationId xmlns:p14="http://schemas.microsoft.com/office/powerpoint/2010/main" val="213267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5BE1016A-D413-403C-A974-2E06FD2162DF}" type="slidenum">
              <a:rPr lang="en-GB" smtClean="0"/>
              <a:t>0</a:t>
            </a:fld>
            <a:endParaRPr lang="en-GB"/>
          </a:p>
        </p:txBody>
      </p:sp>
    </p:spTree>
    <p:extLst>
      <p:ext uri="{BB962C8B-B14F-4D97-AF65-F5344CB8AC3E}">
        <p14:creationId xmlns:p14="http://schemas.microsoft.com/office/powerpoint/2010/main" val="2042736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C98BE-1DAE-803B-4AD8-F78FFF99B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4A4878-696D-9F16-46E5-6254CF07D3D8}"/>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76888C39-473E-C1EB-0B54-44938A3BD927}"/>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360BBD84-BA04-D3B3-451D-0374A94907E6}"/>
              </a:ext>
            </a:extLst>
          </p:cNvPr>
          <p:cNvSpPr>
            <a:spLocks noGrp="1"/>
          </p:cNvSpPr>
          <p:nvPr>
            <p:ph type="sldNum" sz="quarter" idx="5"/>
          </p:nvPr>
        </p:nvSpPr>
        <p:spPr/>
        <p:txBody>
          <a:bodyPr/>
          <a:lstStyle/>
          <a:p>
            <a:fld id="{5BE1016A-D413-403C-A974-2E06FD2162DF}" type="slidenum">
              <a:rPr lang="en-GB" smtClean="0"/>
              <a:t>3</a:t>
            </a:fld>
            <a:endParaRPr lang="en-GB"/>
          </a:p>
        </p:txBody>
      </p:sp>
    </p:spTree>
    <p:extLst>
      <p:ext uri="{BB962C8B-B14F-4D97-AF65-F5344CB8AC3E}">
        <p14:creationId xmlns:p14="http://schemas.microsoft.com/office/powerpoint/2010/main" val="1963162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BD35D-10DE-7CF6-275A-5A30251E2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FC4E9-2952-5A94-ADBC-C4CE1882B9B7}"/>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C14340C2-AC01-1A81-9EFF-451122D023C7}"/>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F879F205-3B87-C3C7-5A9C-21ED3D11B714}"/>
              </a:ext>
            </a:extLst>
          </p:cNvPr>
          <p:cNvSpPr>
            <a:spLocks noGrp="1"/>
          </p:cNvSpPr>
          <p:nvPr>
            <p:ph type="sldNum" sz="quarter" idx="5"/>
          </p:nvPr>
        </p:nvSpPr>
        <p:spPr/>
        <p:txBody>
          <a:bodyPr/>
          <a:lstStyle/>
          <a:p>
            <a:fld id="{5BE1016A-D413-403C-A974-2E06FD2162DF}" type="slidenum">
              <a:rPr lang="en-GB" smtClean="0"/>
              <a:t>4</a:t>
            </a:fld>
            <a:endParaRPr lang="en-GB"/>
          </a:p>
        </p:txBody>
      </p:sp>
    </p:spTree>
    <p:extLst>
      <p:ext uri="{BB962C8B-B14F-4D97-AF65-F5344CB8AC3E}">
        <p14:creationId xmlns:p14="http://schemas.microsoft.com/office/powerpoint/2010/main" val="2004307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Arr 2021 March: $20.963</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E1016A-D413-403C-A974-2E06FD2162DF}"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5740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5BE1016A-D413-403C-A974-2E06FD2162DF}" type="slidenum">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4472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F99EF-947A-CF5B-8D53-AA4601616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63613F-B8DE-5939-9A98-2D93228CDA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C4E091-A15F-25B8-C241-256E60D24DE7}"/>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7FA6EC52-0625-9B3E-58E9-3364A094AF28}"/>
              </a:ext>
            </a:extLst>
          </p:cNvPr>
          <p:cNvSpPr>
            <a:spLocks noGrp="1"/>
          </p:cNvSpPr>
          <p:nvPr>
            <p:ph type="sldNum" sz="quarter" idx="5"/>
          </p:nvPr>
        </p:nvSpPr>
        <p:spPr/>
        <p:txBody>
          <a:bodyPr/>
          <a:lstStyle/>
          <a:p>
            <a:fld id="{5BE1016A-D413-403C-A974-2E06FD2162DF}" type="slidenum">
              <a:rPr lang="en-GB" smtClean="0"/>
              <a:t>9</a:t>
            </a:fld>
            <a:endParaRPr lang="en-GB"/>
          </a:p>
        </p:txBody>
      </p:sp>
    </p:spTree>
    <p:extLst>
      <p:ext uri="{BB962C8B-B14F-4D97-AF65-F5344CB8AC3E}">
        <p14:creationId xmlns:p14="http://schemas.microsoft.com/office/powerpoint/2010/main" val="3514825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5BE1016A-D413-403C-A974-2E06FD2162DF}" type="slidenum">
              <a:rPr lang="en-GB" smtClean="0"/>
              <a:t>10</a:t>
            </a:fld>
            <a:endParaRPr lang="en-GB"/>
          </a:p>
        </p:txBody>
      </p:sp>
    </p:spTree>
    <p:extLst>
      <p:ext uri="{BB962C8B-B14F-4D97-AF65-F5344CB8AC3E}">
        <p14:creationId xmlns:p14="http://schemas.microsoft.com/office/powerpoint/2010/main" val="1008327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40C71-3641-8DD8-9D87-F3113EB7CA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1C9BE6-E203-A667-8A96-705B2C79F663}"/>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7CE59F54-8682-BDA3-DF5C-ACCEF00E0C9B}"/>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FE6D3091-85A6-DC68-E1D1-56266EFC5D8E}"/>
              </a:ext>
            </a:extLst>
          </p:cNvPr>
          <p:cNvSpPr>
            <a:spLocks noGrp="1"/>
          </p:cNvSpPr>
          <p:nvPr>
            <p:ph type="sldNum" sz="quarter" idx="5"/>
          </p:nvPr>
        </p:nvSpPr>
        <p:spPr/>
        <p:txBody>
          <a:bodyPr/>
          <a:lstStyle/>
          <a:p>
            <a:fld id="{5BE1016A-D413-403C-A974-2E06FD2162DF}" type="slidenum">
              <a:rPr lang="en-GB" smtClean="0"/>
              <a:t>11</a:t>
            </a:fld>
            <a:endParaRPr lang="en-GB"/>
          </a:p>
        </p:txBody>
      </p:sp>
    </p:spTree>
    <p:extLst>
      <p:ext uri="{BB962C8B-B14F-4D97-AF65-F5344CB8AC3E}">
        <p14:creationId xmlns:p14="http://schemas.microsoft.com/office/powerpoint/2010/main" val="718668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78DFE-74AE-4CD9-5617-22B240D42C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5A7EEA-A34E-15E1-BF6F-59AD659BE1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B489CE-BF3F-DE00-D2D0-301302E9A74D}"/>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F37ABB40-8750-EE09-D938-79DA1BED510E}"/>
              </a:ext>
            </a:extLst>
          </p:cNvPr>
          <p:cNvSpPr>
            <a:spLocks noGrp="1"/>
          </p:cNvSpPr>
          <p:nvPr>
            <p:ph type="sldNum" sz="quarter" idx="5"/>
          </p:nvPr>
        </p:nvSpPr>
        <p:spPr/>
        <p:txBody>
          <a:bodyPr/>
          <a:lstStyle/>
          <a:p>
            <a:fld id="{6C9A846F-B28C-4F87-B8A7-3AD5C1A97D5B}" type="slidenum">
              <a:rPr lang="en-CA" smtClean="0"/>
              <a:t>12</a:t>
            </a:fld>
            <a:endParaRPr lang="en-CA"/>
          </a:p>
        </p:txBody>
      </p:sp>
    </p:spTree>
    <p:extLst>
      <p:ext uri="{BB962C8B-B14F-4D97-AF65-F5344CB8AC3E}">
        <p14:creationId xmlns:p14="http://schemas.microsoft.com/office/powerpoint/2010/main" val="2158842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8AB50-E997-1713-5CF7-D193146427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6102E0-6EB2-B0D1-FA39-C7934C389EEE}"/>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8E1317B0-0B8F-4761-BB70-3FEF4DE5BD77}"/>
              </a:ext>
            </a:extLst>
          </p:cNvPr>
          <p:cNvSpPr>
            <a:spLocks noGrp="1"/>
          </p:cNvSpPr>
          <p:nvPr>
            <p:ph type="body" idx="1"/>
          </p:nvPr>
        </p:nvSpPr>
        <p:spPr/>
        <p:txBody>
          <a:bodyPr/>
          <a:lstStyle/>
          <a:p>
            <a:endParaRPr lang="en-CA" b="0" u="none" dirty="0"/>
          </a:p>
        </p:txBody>
      </p:sp>
      <p:sp>
        <p:nvSpPr>
          <p:cNvPr id="4" name="Slide Number Placeholder 3">
            <a:extLst>
              <a:ext uri="{FF2B5EF4-FFF2-40B4-BE49-F238E27FC236}">
                <a16:creationId xmlns:a16="http://schemas.microsoft.com/office/drawing/2014/main" id="{555EB309-F381-35B3-2A2C-5F1D69B8E651}"/>
              </a:ext>
            </a:extLst>
          </p:cNvPr>
          <p:cNvSpPr>
            <a:spLocks noGrp="1"/>
          </p:cNvSpPr>
          <p:nvPr>
            <p:ph type="sldNum" sz="quarter" idx="5"/>
          </p:nvPr>
        </p:nvSpPr>
        <p:spPr/>
        <p:txBody>
          <a:bodyPr/>
          <a:lstStyle/>
          <a:p>
            <a:fld id="{6C9A846F-B28C-4F87-B8A7-3AD5C1A97D5B}" type="slidenum">
              <a:rPr lang="en-CA" smtClean="0"/>
              <a:t>13</a:t>
            </a:fld>
            <a:endParaRPr lang="en-CA"/>
          </a:p>
        </p:txBody>
      </p:sp>
    </p:spTree>
    <p:extLst>
      <p:ext uri="{BB962C8B-B14F-4D97-AF65-F5344CB8AC3E}">
        <p14:creationId xmlns:p14="http://schemas.microsoft.com/office/powerpoint/2010/main" val="30565739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3F53A69D-F6AE-4E2B-BE32-1F80AC2C1B92}"/>
              </a:ext>
            </a:extLst>
          </p:cNvPr>
          <p:cNvSpPr/>
          <p:nvPr>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p:cNvSpPr>
            <a:spLocks noGrp="1"/>
          </p:cNvSpPr>
          <p:nvPr>
            <p:ph type="ctrTitle"/>
          </p:nvPr>
        </p:nvSpPr>
        <p:spPr>
          <a:xfrm>
            <a:off x="685800" y="1122363"/>
            <a:ext cx="7772400" cy="2387600"/>
          </a:xfrm>
          <a:prstGeom prst="rect">
            <a:avLst/>
          </a:prstGeom>
        </p:spPr>
        <p:txBody>
          <a:bodyPr anchor="b"/>
          <a:lstStyle>
            <a:lvl1pPr algn="ctr">
              <a:defRPr sz="6000">
                <a:latin typeface="Corbel" panose="020B0503020204020204" pitchFamily="34" charset="0"/>
              </a:defRPr>
            </a:lvl1pPr>
          </a:lstStyle>
          <a:p>
            <a:r>
              <a:rPr lang="en-US"/>
              <a:t>Click to edit Master title style</a:t>
            </a:r>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atin typeface="Aharoni" panose="02010803020104030203" pitchFamily="2" charset="-79"/>
                <a:cs typeface="Aharoni" panose="02010803020104030203" pitchFamily="2" charset="-79"/>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39660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2_Main">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5C354CE9-ECB8-4308-7F3B-2CD677C2A3D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p:cNvSpPr>
            <a:spLocks noGrp="1"/>
          </p:cNvSpPr>
          <p:nvPr>
            <p:ph type="title"/>
          </p:nvPr>
        </p:nvSpPr>
        <p:spPr/>
        <p:txBody>
          <a:bodyPr/>
          <a:lstStyle/>
          <a:p>
            <a:r>
              <a:rPr lang="en-US" dirty="0"/>
              <a:t>Click to edit Master title style</a:t>
            </a:r>
            <a:endParaRPr lang="en-CA" dirty="0"/>
          </a:p>
        </p:txBody>
      </p:sp>
      <p:sp>
        <p:nvSpPr>
          <p:cNvPr id="6"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dirty="0"/>
          </a:p>
        </p:txBody>
      </p:sp>
      <p:sp>
        <p:nvSpPr>
          <p:cNvPr id="7" name="Do not remove" hidden="1">
            <a:extLst>
              <a:ext uri="{FF2B5EF4-FFF2-40B4-BE49-F238E27FC236}">
                <a16:creationId xmlns:a16="http://schemas.microsoft.com/office/drawing/2014/main" id="{E466B689-69FE-43AE-8ED6-B69399E87DB2}"/>
              </a:ext>
            </a:extLst>
          </p:cNvPr>
          <p:cNvSpPr/>
          <p:nvPr userDrawn="1">
            <p:custDataLst>
              <p:tags r:id="rId2"/>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993184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No Logo With Straplin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A4E07880-3323-655B-4623-79B6F8B30120}"/>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239832" y="116475"/>
            <a:ext cx="8577386" cy="878890"/>
          </a:xfrm>
        </p:spPr>
        <p:txBody>
          <a:bodyPr/>
          <a:lstStyle/>
          <a:p>
            <a:r>
              <a:rPr lang="en-US"/>
              <a:t>Click to edit Master title style</a:t>
            </a:r>
            <a:endParaRPr lang="en-CA"/>
          </a:p>
        </p:txBody>
      </p:sp>
      <p:sp>
        <p:nvSpPr>
          <p:cNvPr id="9"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a:p>
        </p:txBody>
      </p:sp>
      <p:sp>
        <p:nvSpPr>
          <p:cNvPr id="10"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marL="0" indent="0" algn="l" defTabSz="914400" rtl="0" eaLnBrk="1" latinLnBrk="0" hangingPunct="1">
              <a:lnSpc>
                <a:spcPct val="85000"/>
              </a:lnSpc>
              <a:spcBef>
                <a:spcPct val="0"/>
              </a:spcBef>
              <a:buFont typeface="Arial" panose="020B0604020202020204" pitchFamily="34" charset="0"/>
              <a:buNone/>
              <a:defRPr lang="en-CA" sz="700" b="0" kern="1200" baseline="0" dirty="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1" name="Straight Connector 10"/>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
        <p:nvSpPr>
          <p:cNvPr id="13" name="Text Placeholder 7"/>
          <p:cNvSpPr>
            <a:spLocks noGrp="1"/>
          </p:cNvSpPr>
          <p:nvPr>
            <p:ph type="body" sz="quarter" idx="15" hasCustomPrompt="1"/>
          </p:nvPr>
        </p:nvSpPr>
        <p:spPr>
          <a:xfrm>
            <a:off x="367506" y="5897696"/>
            <a:ext cx="8408988" cy="432642"/>
          </a:xfrm>
          <a:prstGeom prst="rect">
            <a:avLst/>
          </a:prstGeom>
        </p:spPr>
        <p:txBody>
          <a:bodyPr vert="horz" lIns="91440" tIns="45720" rIns="91440" bIns="45720" rtlCol="0" anchor="ctr">
            <a:noAutofit/>
          </a:bodyPr>
          <a:lstStyle>
            <a:lvl1pPr algn="ctr">
              <a:defRPr lang="en-US" sz="1300" b="1" smtClean="0">
                <a:solidFill>
                  <a:schemeClr val="tx1"/>
                </a:solidFill>
              </a:defRPr>
            </a:lvl1pPr>
            <a:lvl2pPr>
              <a:defRPr lang="en-US" smtClean="0">
                <a:solidFill>
                  <a:schemeClr val="tx1"/>
                </a:solidFill>
              </a:defRPr>
            </a:lvl2pPr>
            <a:lvl3pPr>
              <a:defRPr lang="en-US" smtClean="0"/>
            </a:lvl3pPr>
            <a:lvl4pPr>
              <a:defRPr lang="en-US" smtClean="0"/>
            </a:lvl4pPr>
            <a:lvl5pPr>
              <a:defRPr lang="en-CA"/>
            </a:lvl5pPr>
          </a:lstStyle>
          <a:p>
            <a:pPr lvl="0" algn="ctr"/>
            <a:r>
              <a:rPr lang="en-CA"/>
              <a:t>[ Insert Tagline ]</a:t>
            </a:r>
          </a:p>
        </p:txBody>
      </p:sp>
      <p:cxnSp>
        <p:nvCxnSpPr>
          <p:cNvPr id="14" name="Straight Connector 13"/>
          <p:cNvCxnSpPr/>
          <p:nvPr/>
        </p:nvCxnSpPr>
        <p:spPr>
          <a:xfrm>
            <a:off x="324000" y="5858005"/>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4900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ain">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B861C087-D4F8-9C76-E0C9-85F3B6957C6D}"/>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lvl1pPr>
              <a:defRPr sz="2200"/>
            </a:lvl1pPr>
          </a:lstStyle>
          <a:p>
            <a:r>
              <a:rPr lang="en-US" dirty="0"/>
              <a:t>Click to edit Master title style</a:t>
            </a:r>
            <a:endParaRPr lang="en-CA" dirty="0"/>
          </a:p>
        </p:txBody>
      </p:sp>
      <p:sp>
        <p:nvSpPr>
          <p:cNvPr id="6"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a:p>
        </p:txBody>
      </p:sp>
      <p:sp>
        <p:nvSpPr>
          <p:cNvPr id="12"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algn="l" defTabSz="914400" rtl="0" eaLnBrk="1" latinLnBrk="0" hangingPunct="1">
              <a:lnSpc>
                <a:spcPct val="85000"/>
              </a:lnSpc>
              <a:spcBef>
                <a:spcPct val="0"/>
              </a:spcBef>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4" name="Straight Connector 13"/>
          <p:cNvCxnSpPr>
            <a:cxnSpLocks/>
          </p:cNvCxnSpPr>
          <p:nvPr/>
        </p:nvCxnSpPr>
        <p:spPr>
          <a:xfrm>
            <a:off x="1565128" y="6453241"/>
            <a:ext cx="0" cy="344205"/>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0211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ith Taglin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FB75D94C-216D-25B8-8DD3-5CA51662336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239832" y="116475"/>
            <a:ext cx="8577386" cy="878890"/>
          </a:xfrm>
        </p:spPr>
        <p:txBody>
          <a:bodyPr>
            <a:normAutofit/>
          </a:bodyPr>
          <a:lstStyle>
            <a:lvl1pPr algn="l" defTabSz="914400" rtl="0" eaLnBrk="1" latinLnBrk="0" hangingPunct="1">
              <a:lnSpc>
                <a:spcPct val="90000"/>
              </a:lnSpc>
              <a:spcBef>
                <a:spcPct val="0"/>
              </a:spcBef>
              <a:buNone/>
              <a:defRPr lang="en-CA" sz="2200" b="1" kern="1200" baseline="0" dirty="0">
                <a:solidFill>
                  <a:schemeClr val="tx1"/>
                </a:solidFill>
                <a:latin typeface="Palatino Linotype" panose="02040502050505030304" pitchFamily="18" charset="0"/>
                <a:ea typeface="+mj-ea"/>
                <a:cs typeface="+mj-cs"/>
              </a:defRPr>
            </a:lvl1pPr>
          </a:lstStyle>
          <a:p>
            <a:r>
              <a:rPr lang="en-US"/>
              <a:t>Click to edit Master title style</a:t>
            </a:r>
            <a:endParaRPr lang="en-CA"/>
          </a:p>
        </p:txBody>
      </p:sp>
      <p:sp>
        <p:nvSpPr>
          <p:cNvPr id="9"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a:p>
        </p:txBody>
      </p:sp>
      <p:sp>
        <p:nvSpPr>
          <p:cNvPr id="10"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algn="l" defTabSz="914400" rtl="0" eaLnBrk="1" latinLnBrk="0" hangingPunct="1">
              <a:lnSpc>
                <a:spcPct val="85000"/>
              </a:lnSpc>
              <a:spcBef>
                <a:spcPct val="0"/>
              </a:spcBef>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1" name="Straight Connector 10"/>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
        <p:nvSpPr>
          <p:cNvPr id="13" name="Text Placeholder 7"/>
          <p:cNvSpPr>
            <a:spLocks noGrp="1"/>
          </p:cNvSpPr>
          <p:nvPr>
            <p:ph type="body" sz="quarter" idx="15" hasCustomPrompt="1"/>
          </p:nvPr>
        </p:nvSpPr>
        <p:spPr>
          <a:xfrm>
            <a:off x="367506" y="5855606"/>
            <a:ext cx="8408988" cy="492150"/>
          </a:xfrm>
          <a:prstGeom prst="rect">
            <a:avLst/>
          </a:prstGeom>
        </p:spPr>
        <p:txBody>
          <a:bodyPr vert="horz" lIns="91440" tIns="45720" rIns="91440" bIns="45720" rtlCol="0" anchor="ctr">
            <a:noAutofit/>
          </a:bodyPr>
          <a:lstStyle>
            <a:lvl1pPr algn="ctr">
              <a:lnSpc>
                <a:spcPct val="110000"/>
              </a:lnSpc>
              <a:spcBef>
                <a:spcPts val="600"/>
              </a:spcBef>
              <a:defRPr lang="en-US" sz="1300" b="1" smtClean="0">
                <a:solidFill>
                  <a:schemeClr val="tx1"/>
                </a:solidFill>
              </a:defRPr>
            </a:lvl1pPr>
            <a:lvl2pPr>
              <a:defRPr lang="en-US" smtClean="0">
                <a:solidFill>
                  <a:schemeClr val="tx1"/>
                </a:solidFill>
              </a:defRPr>
            </a:lvl2pPr>
            <a:lvl3pPr>
              <a:defRPr lang="en-US" smtClean="0"/>
            </a:lvl3pPr>
            <a:lvl4pPr>
              <a:defRPr lang="en-US" smtClean="0"/>
            </a:lvl4pPr>
            <a:lvl5pPr>
              <a:defRPr lang="en-CA"/>
            </a:lvl5pPr>
          </a:lstStyle>
          <a:p>
            <a:pPr lvl="0" algn="ctr"/>
            <a:r>
              <a:rPr lang="en-CA"/>
              <a:t>[ Insert Tagline ]</a:t>
            </a:r>
          </a:p>
        </p:txBody>
      </p:sp>
      <p:cxnSp>
        <p:nvCxnSpPr>
          <p:cNvPr id="14" name="Straight Connector 13"/>
          <p:cNvCxnSpPr/>
          <p:nvPr/>
        </p:nvCxnSpPr>
        <p:spPr>
          <a:xfrm>
            <a:off x="324000" y="5814460"/>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9587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No Logo With Straplin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26B8C178-DAEB-60E1-BECD-C223885D665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239832" y="116475"/>
            <a:ext cx="8577386" cy="878890"/>
          </a:xfrm>
        </p:spPr>
        <p:txBody>
          <a:bodyPr/>
          <a:lstStyle/>
          <a:p>
            <a:r>
              <a:rPr lang="en-US"/>
              <a:t>Click to edit Master title style</a:t>
            </a:r>
            <a:endParaRPr lang="en-CA"/>
          </a:p>
        </p:txBody>
      </p:sp>
      <p:sp>
        <p:nvSpPr>
          <p:cNvPr id="9"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a:p>
        </p:txBody>
      </p:sp>
      <p:sp>
        <p:nvSpPr>
          <p:cNvPr id="10"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marL="0" indent="0" algn="l" defTabSz="914400" rtl="0" eaLnBrk="1" latinLnBrk="0" hangingPunct="1">
              <a:lnSpc>
                <a:spcPct val="85000"/>
              </a:lnSpc>
              <a:spcBef>
                <a:spcPct val="0"/>
              </a:spcBef>
              <a:buFont typeface="Arial" panose="020B0604020202020204" pitchFamily="34" charset="0"/>
              <a:buNone/>
              <a:defRPr lang="en-CA" sz="700" b="0" kern="1200" baseline="0" dirty="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1" name="Straight Connector 10"/>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
        <p:nvSpPr>
          <p:cNvPr id="13" name="Text Placeholder 7"/>
          <p:cNvSpPr>
            <a:spLocks noGrp="1"/>
          </p:cNvSpPr>
          <p:nvPr>
            <p:ph type="body" sz="quarter" idx="15" hasCustomPrompt="1"/>
          </p:nvPr>
        </p:nvSpPr>
        <p:spPr>
          <a:xfrm>
            <a:off x="367506" y="5897696"/>
            <a:ext cx="8408988" cy="432642"/>
          </a:xfrm>
          <a:prstGeom prst="rect">
            <a:avLst/>
          </a:prstGeom>
        </p:spPr>
        <p:txBody>
          <a:bodyPr vert="horz" lIns="91440" tIns="45720" rIns="91440" bIns="45720" rtlCol="0" anchor="ctr">
            <a:noAutofit/>
          </a:bodyPr>
          <a:lstStyle>
            <a:lvl1pPr algn="ctr">
              <a:defRPr lang="en-US" sz="1300" b="1" smtClean="0">
                <a:solidFill>
                  <a:schemeClr val="tx1"/>
                </a:solidFill>
              </a:defRPr>
            </a:lvl1pPr>
            <a:lvl2pPr>
              <a:defRPr lang="en-US" smtClean="0">
                <a:solidFill>
                  <a:schemeClr val="tx1"/>
                </a:solidFill>
              </a:defRPr>
            </a:lvl2pPr>
            <a:lvl3pPr>
              <a:defRPr lang="en-US" smtClean="0"/>
            </a:lvl3pPr>
            <a:lvl4pPr>
              <a:defRPr lang="en-US" smtClean="0"/>
            </a:lvl4pPr>
            <a:lvl5pPr>
              <a:defRPr lang="en-CA"/>
            </a:lvl5pPr>
          </a:lstStyle>
          <a:p>
            <a:pPr lvl="0" algn="ctr"/>
            <a:r>
              <a:rPr lang="en-CA"/>
              <a:t>[ Insert Tagline ]</a:t>
            </a:r>
          </a:p>
        </p:txBody>
      </p:sp>
      <p:cxnSp>
        <p:nvCxnSpPr>
          <p:cNvPr id="14" name="Straight Connector 13"/>
          <p:cNvCxnSpPr/>
          <p:nvPr/>
        </p:nvCxnSpPr>
        <p:spPr>
          <a:xfrm>
            <a:off x="324000" y="5858005"/>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286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69024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961EF2-D691-475A-8925-921775980BFF}" type="slidenum">
              <a:rPr lang="en-US" smtClean="0"/>
              <a:t>‹#›</a:t>
            </a:fld>
            <a:endParaRPr lang="en-US"/>
          </a:p>
        </p:txBody>
      </p:sp>
      <p:sp>
        <p:nvSpPr>
          <p:cNvPr id="7" name="Rounded Rectangle 6"/>
          <p:cNvSpPr/>
          <p:nvPr/>
        </p:nvSpPr>
        <p:spPr>
          <a:xfrm>
            <a:off x="324000" y="1730374"/>
            <a:ext cx="8496000" cy="1063626"/>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 name="Straight Connector 8"/>
          <p:cNvCxnSpPr/>
          <p:nvPr/>
        </p:nvCxnSpPr>
        <p:spPr>
          <a:xfrm>
            <a:off x="341070" y="6237923"/>
            <a:ext cx="8496000" cy="0"/>
          </a:xfrm>
          <a:prstGeom prst="line">
            <a:avLst/>
          </a:prstGeom>
          <a:ln w="44450" cmpd="dbl">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4551492"/>
      </p:ext>
    </p:extLst>
  </p:cSld>
  <p:clrMap bg1="lt1" tx1="dk1" bg2="lt2" tx2="dk2" accent1="accent1" accent2="accent2" accent3="accent3" accent4="accent4" accent5="accent5" accent6="accent6" hlink="hlink" folHlink="folHlink"/>
  <p:sldLayoutIdLst>
    <p:sldLayoutId id="2147483719" r:id="rId1"/>
    <p:sldLayoutId id="2147483739" r:id="rId2"/>
    <p:sldLayoutId id="2147483740" r:id="rId3"/>
  </p:sldLayoutIdLst>
  <p:hf hdr="0" ftr="0" dt="0"/>
  <p:txStyles>
    <p:titleStyle>
      <a:lvl1pPr algn="l" defTabSz="914400" rtl="0" eaLnBrk="1" latinLnBrk="0" hangingPunct="1">
        <a:lnSpc>
          <a:spcPct val="90000"/>
        </a:lnSpc>
        <a:spcBef>
          <a:spcPct val="0"/>
        </a:spcBef>
        <a:buNone/>
        <a:defRPr sz="3600" kern="1200">
          <a:solidFill>
            <a:schemeClr val="bg2">
              <a:lumMod val="25000"/>
            </a:schemeClr>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9832" y="116475"/>
            <a:ext cx="8577386" cy="878890"/>
          </a:xfrm>
          <a:prstGeom prst="rect">
            <a:avLst/>
          </a:prstGeom>
        </p:spPr>
        <p:txBody>
          <a:bodyPr vert="horz" lIns="91440" tIns="45720" rIns="91440" bIns="45720" rtlCol="0" anchor="b">
            <a:normAutofit/>
          </a:bodyPr>
          <a:lstStyle/>
          <a:p>
            <a:r>
              <a:rPr lang="en-US" dirty="0"/>
              <a:t>Click to edit Master title style</a:t>
            </a:r>
            <a:endParaRPr lang="en-CA" dirty="0"/>
          </a:p>
        </p:txBody>
      </p:sp>
      <p:sp>
        <p:nvSpPr>
          <p:cNvPr id="6" name="Slide Number Placeholder 5"/>
          <p:cNvSpPr>
            <a:spLocks noGrp="1"/>
          </p:cNvSpPr>
          <p:nvPr>
            <p:ph type="sldNum" sz="quarter" idx="4"/>
          </p:nvPr>
        </p:nvSpPr>
        <p:spPr>
          <a:xfrm>
            <a:off x="6829184" y="6453241"/>
            <a:ext cx="2057400" cy="365125"/>
          </a:xfrm>
          <a:prstGeom prst="rect">
            <a:avLst/>
          </a:prstGeom>
        </p:spPr>
        <p:txBody>
          <a:bodyPr vert="horz" lIns="91440" tIns="45720" rIns="91440" bIns="45720" rtlCol="0" anchor="ctr" anchorCtr="0"/>
          <a:lstStyle>
            <a:lvl1pPr algn="r">
              <a:defRPr sz="1200">
                <a:solidFill>
                  <a:schemeClr val="tx1"/>
                </a:solidFill>
                <a:latin typeface="Palatino Linotype" panose="02040502050505030304" pitchFamily="18" charset="0"/>
              </a:defRPr>
            </a:lvl1pPr>
          </a:lstStyle>
          <a:p>
            <a:fld id="{B0BBF262-6B1A-47DC-B7A7-A92B0DCA2A1B}" type="slidenum">
              <a:rPr lang="en-CA" smtClean="0"/>
              <a:pPr/>
              <a:t>‹#›</a:t>
            </a:fld>
            <a:endParaRPr lang="en-CA"/>
          </a:p>
        </p:txBody>
      </p:sp>
      <p:cxnSp>
        <p:nvCxnSpPr>
          <p:cNvPr id="7" name="Straight Connector 6"/>
          <p:cNvCxnSpPr/>
          <p:nvPr/>
        </p:nvCxnSpPr>
        <p:spPr>
          <a:xfrm>
            <a:off x="324000" y="6380163"/>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4000" y="979322"/>
            <a:ext cx="8496000" cy="0"/>
          </a:xfrm>
          <a:prstGeom prst="line">
            <a:avLst/>
          </a:prstGeom>
          <a:ln w="19050" cmpd="sng">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5"/>
          <a:srcRect/>
          <a:stretch/>
        </p:blipFill>
        <p:spPr>
          <a:xfrm>
            <a:off x="344180" y="6498666"/>
            <a:ext cx="1155537" cy="270527"/>
          </a:xfrm>
          <a:prstGeom prst="rect">
            <a:avLst/>
          </a:prstGeom>
        </p:spPr>
      </p:pic>
      <p:sp>
        <p:nvSpPr>
          <p:cNvPr id="9" name="TextBox 8">
            <a:extLst>
              <a:ext uri="{FF2B5EF4-FFF2-40B4-BE49-F238E27FC236}">
                <a16:creationId xmlns:a16="http://schemas.microsoft.com/office/drawing/2014/main" id="{6E4CABA8-7974-4CAD-96D6-FF89732A1BF1}"/>
              </a:ext>
            </a:extLst>
          </p:cNvPr>
          <p:cNvSpPr txBox="1"/>
          <p:nvPr/>
        </p:nvSpPr>
        <p:spPr>
          <a:xfrm>
            <a:off x="3399817" y="144618"/>
            <a:ext cx="2344366" cy="276999"/>
          </a:xfrm>
          <a:prstGeom prst="rect">
            <a:avLst/>
          </a:prstGeom>
          <a:noFill/>
        </p:spPr>
        <p:txBody>
          <a:bodyPr wrap="square" rtlCol="0">
            <a:spAutoFit/>
          </a:bodyPr>
          <a:lstStyle/>
          <a:p>
            <a:pPr algn="ctr"/>
            <a:r>
              <a:rPr lang="en-CA" sz="1200" i="1">
                <a:solidFill>
                  <a:schemeClr val="tx1"/>
                </a:solidFill>
                <a:latin typeface="Palatino Linotype" panose="02040502050505030304" pitchFamily="18" charset="0"/>
                <a:cs typeface="Arial" panose="020B0604020202020204" pitchFamily="34" charset="0"/>
              </a:rPr>
              <a:t>Private &amp; Confidential</a:t>
            </a:r>
          </a:p>
        </p:txBody>
      </p:sp>
      <p:cxnSp>
        <p:nvCxnSpPr>
          <p:cNvPr id="3" name="Straight Connector 2">
            <a:extLst>
              <a:ext uri="{FF2B5EF4-FFF2-40B4-BE49-F238E27FC236}">
                <a16:creationId xmlns:a16="http://schemas.microsoft.com/office/drawing/2014/main" id="{158B65CF-88AB-1F68-463F-3AC88A44BBA2}"/>
              </a:ext>
            </a:extLst>
          </p:cNvPr>
          <p:cNvCxnSpPr>
            <a:cxnSpLocks/>
          </p:cNvCxnSpPr>
          <p:nvPr userDrawn="1"/>
        </p:nvCxnSpPr>
        <p:spPr>
          <a:xfrm>
            <a:off x="1565128" y="6453241"/>
            <a:ext cx="0" cy="344205"/>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66917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41" r:id="rId3"/>
  </p:sldLayoutIdLst>
  <p:txStyles>
    <p:titleStyle>
      <a:lvl1pPr algn="l" defTabSz="914400" rtl="0" eaLnBrk="1" latinLnBrk="0" hangingPunct="1">
        <a:lnSpc>
          <a:spcPct val="90000"/>
        </a:lnSpc>
        <a:spcBef>
          <a:spcPct val="0"/>
        </a:spcBef>
        <a:buNone/>
        <a:defRPr sz="2200" b="1" kern="1200" baseline="0">
          <a:solidFill>
            <a:schemeClr val="tx1"/>
          </a:solidFill>
          <a:latin typeface="Palatino Linotype" panose="02040502050505030304" pitchFamily="18"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rgbClr val="1B2759"/>
          </a:solidFill>
          <a:latin typeface="Palatino Linotype" panose="02040502050505030304" pitchFamily="18" charset="0"/>
          <a:ea typeface="+mn-ea"/>
          <a:cs typeface="+mn-cs"/>
        </a:defRPr>
      </a:lvl1pPr>
      <a:lvl2pPr marL="360000" indent="-228600" algn="l" defTabSz="914400" rtl="0" eaLnBrk="1" latinLnBrk="0" hangingPunct="1">
        <a:lnSpc>
          <a:spcPct val="90000"/>
        </a:lnSpc>
        <a:spcBef>
          <a:spcPts val="600"/>
        </a:spcBef>
        <a:buClr>
          <a:srgbClr val="960000"/>
        </a:buClr>
        <a:buFont typeface="Wingdings" panose="05000000000000000000" pitchFamily="2" charset="2"/>
        <a:buChar char="§"/>
        <a:defRPr sz="1200" kern="1200" baseline="0">
          <a:solidFill>
            <a:srgbClr val="1B2759"/>
          </a:solidFill>
          <a:latin typeface="Palatino Linotype" panose="02040502050505030304" pitchFamily="18"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slideLayout" Target="../slideLayouts/slideLayout4.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slideLayout" Target="../slideLayouts/slideLayout4.xml"/><Relationship Id="rId7" Type="http://schemas.openxmlformats.org/officeDocument/2006/relationships/image" Target="../media/image16.png"/><Relationship Id="rId12" Type="http://schemas.openxmlformats.org/officeDocument/2006/relationships/image" Target="../media/image21.svg"/><Relationship Id="rId17" Type="http://schemas.openxmlformats.org/officeDocument/2006/relationships/image" Target="../media/image26.jpeg"/><Relationship Id="rId2" Type="http://schemas.openxmlformats.org/officeDocument/2006/relationships/tags" Target="../tags/tag11.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tags" Target="../tags/tag10.xml"/><Relationship Id="rId6" Type="http://schemas.openxmlformats.org/officeDocument/2006/relationships/image" Target="../media/image15.emf"/><Relationship Id="rId11" Type="http://schemas.openxmlformats.org/officeDocument/2006/relationships/image" Target="../media/image20.jpe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jpeg"/><Relationship Id="rId19" Type="http://schemas.openxmlformats.org/officeDocument/2006/relationships/image" Target="../media/image28.png"/><Relationship Id="rId4" Type="http://schemas.openxmlformats.org/officeDocument/2006/relationships/notesSlide" Target="../notesSlides/notesSlide2.xml"/><Relationship Id="rId9" Type="http://schemas.openxmlformats.org/officeDocument/2006/relationships/image" Target="../media/image18.png"/><Relationship Id="rId14"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jpeg"/><Relationship Id="rId4" Type="http://schemas.openxmlformats.org/officeDocument/2006/relationships/image" Target="../media/image24.png"/><Relationship Id="rId9" Type="http://schemas.openxmlformats.org/officeDocument/2006/relationships/image" Target="../media/image35.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13.xml"/><Relationship Id="rId5" Type="http://schemas.openxmlformats.org/officeDocument/2006/relationships/image" Target="../media/image39.png"/><Relationship Id="rId4" Type="http://schemas.openxmlformats.org/officeDocument/2006/relationships/image" Target="../media/image38.png"/></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5" Type="http://schemas.openxmlformats.org/officeDocument/2006/relationships/image" Target="../media/image43.png"/><Relationship Id="rId4" Type="http://schemas.openxmlformats.org/officeDocument/2006/relationships/image" Target="../media/image4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14.xml"/><Relationship Id="rId5" Type="http://schemas.openxmlformats.org/officeDocument/2006/relationships/image" Target="../media/image45.png"/><Relationship Id="rId4" Type="http://schemas.openxmlformats.org/officeDocument/2006/relationships/image" Target="../media/image4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4.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50519" y="1817756"/>
            <a:ext cx="8471649" cy="893763"/>
          </a:xfrm>
          <a:prstGeom prst="rect">
            <a:avLst/>
          </a:prstGeom>
        </p:spPr>
        <p:txBody>
          <a:bodyPr anchor="t" anchorCtr="0">
            <a:noAutofit/>
          </a:bodyPr>
          <a:lstStyle>
            <a:lvl1pPr algn="ctr" defTabSz="914400" rtl="0" eaLnBrk="1" latinLnBrk="0" hangingPunct="1">
              <a:lnSpc>
                <a:spcPct val="90000"/>
              </a:lnSpc>
              <a:spcBef>
                <a:spcPct val="0"/>
              </a:spcBef>
              <a:buNone/>
              <a:defRPr sz="6000" kern="1200">
                <a:solidFill>
                  <a:schemeClr val="bg2">
                    <a:lumMod val="25000"/>
                  </a:schemeClr>
                </a:solidFill>
                <a:latin typeface="Corbel" panose="020B0503020204020204" pitchFamily="34" charset="0"/>
                <a:ea typeface="+mj-ea"/>
                <a:cs typeface="+mj-cs"/>
              </a:defRPr>
            </a:lvl1pPr>
          </a:lstStyle>
          <a:p>
            <a:pPr algn="l">
              <a:spcAft>
                <a:spcPts val="300"/>
              </a:spcAft>
            </a:pPr>
            <a:r>
              <a:rPr lang="en-US" sz="3000" b="1" dirty="0">
                <a:solidFill>
                  <a:schemeClr val="bg1"/>
                </a:solidFill>
                <a:latin typeface="Palatino Linotype" panose="02040502050505030304" pitchFamily="18" charset="0"/>
              </a:rPr>
              <a:t>Propel Holdings Inc.</a:t>
            </a:r>
          </a:p>
          <a:p>
            <a:pPr algn="l">
              <a:spcAft>
                <a:spcPts val="300"/>
              </a:spcAft>
            </a:pPr>
            <a:r>
              <a:rPr lang="en-US" sz="3000" i="1" dirty="0">
                <a:solidFill>
                  <a:schemeClr val="bg1"/>
                </a:solidFill>
                <a:latin typeface="Palatino Linotype" panose="02040502050505030304" pitchFamily="18" charset="0"/>
              </a:rPr>
              <a:t>Internal Discussion Materials</a:t>
            </a:r>
          </a:p>
          <a:p>
            <a:pPr algn="l">
              <a:spcAft>
                <a:spcPts val="300"/>
              </a:spcAft>
            </a:pPr>
            <a:endParaRPr lang="en-US" sz="3000" b="1" dirty="0">
              <a:solidFill>
                <a:schemeClr val="bg1"/>
              </a:solidFill>
              <a:latin typeface="Palatino Linotype" panose="02040502050505030304" pitchFamily="18" charset="0"/>
            </a:endParaRPr>
          </a:p>
        </p:txBody>
      </p:sp>
      <p:pic>
        <p:nvPicPr>
          <p:cNvPr id="2" name="Picture 1"/>
          <p:cNvPicPr>
            <a:picLocks noChangeAspect="1"/>
          </p:cNvPicPr>
          <p:nvPr/>
        </p:nvPicPr>
        <p:blipFill>
          <a:blip r:embed="rId3"/>
          <a:srcRect/>
          <a:stretch/>
        </p:blipFill>
        <p:spPr>
          <a:xfrm>
            <a:off x="6995886" y="5678372"/>
            <a:ext cx="1822672" cy="426079"/>
          </a:xfrm>
          <a:prstGeom prst="rect">
            <a:avLst/>
          </a:prstGeom>
        </p:spPr>
      </p:pic>
      <p:sp>
        <p:nvSpPr>
          <p:cNvPr id="9" name="Subtitle 2"/>
          <p:cNvSpPr txBox="1">
            <a:spLocks/>
          </p:cNvSpPr>
          <p:nvPr/>
        </p:nvSpPr>
        <p:spPr>
          <a:xfrm>
            <a:off x="238759" y="6347009"/>
            <a:ext cx="3256747" cy="350202"/>
          </a:xfrm>
          <a:prstGeom prst="rect">
            <a:avLst/>
          </a:prstGeom>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2">
                    <a:lumMod val="50000"/>
                  </a:schemeClr>
                </a:solidFill>
                <a:latin typeface="Aharoni" panose="02010803020104030203" pitchFamily="2" charset="-79"/>
                <a:ea typeface="+mn-ea"/>
                <a:cs typeface="Aharoni" panose="02010803020104030203" pitchFamily="2" charset="-79"/>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i="1">
                <a:latin typeface="Palatino Linotype" panose="02040502050505030304" pitchFamily="18" charset="0"/>
              </a:rPr>
              <a:t>Private and Confidential</a:t>
            </a:r>
          </a:p>
        </p:txBody>
      </p:sp>
      <p:sp>
        <p:nvSpPr>
          <p:cNvPr id="8" name="Subtitle 2">
            <a:extLst>
              <a:ext uri="{FF2B5EF4-FFF2-40B4-BE49-F238E27FC236}">
                <a16:creationId xmlns:a16="http://schemas.microsoft.com/office/drawing/2014/main" id="{EAB097C7-814D-0B34-891A-561B5B6C6799}"/>
              </a:ext>
            </a:extLst>
          </p:cNvPr>
          <p:cNvSpPr>
            <a:spLocks noGrp="1"/>
          </p:cNvSpPr>
          <p:nvPr>
            <p:ph type="subTitle" idx="1"/>
          </p:nvPr>
        </p:nvSpPr>
        <p:spPr>
          <a:xfrm>
            <a:off x="6114633" y="6347009"/>
            <a:ext cx="2784213" cy="350202"/>
          </a:xfrm>
        </p:spPr>
        <p:txBody>
          <a:bodyPr anchor="ctr" anchorCtr="0">
            <a:noAutofit/>
          </a:bodyPr>
          <a:lstStyle/>
          <a:p>
            <a:pPr algn="r"/>
            <a:r>
              <a:rPr lang="en-US" sz="1800" dirty="0">
                <a:latin typeface="Palatino Linotype" panose="02040502050505030304" pitchFamily="18" charset="0"/>
              </a:rPr>
              <a:t>July 2026</a:t>
            </a:r>
          </a:p>
        </p:txBody>
      </p:sp>
    </p:spTree>
    <p:extLst>
      <p:ext uri="{BB962C8B-B14F-4D97-AF65-F5344CB8AC3E}">
        <p14:creationId xmlns:p14="http://schemas.microsoft.com/office/powerpoint/2010/main" val="3216683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7C929-C4A1-3BBA-9309-29E0EE0A7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70C80-5816-2188-4D7F-69028741DA6E}"/>
              </a:ext>
            </a:extLst>
          </p:cNvPr>
          <p:cNvSpPr>
            <a:spLocks noGrp="1"/>
          </p:cNvSpPr>
          <p:nvPr>
            <p:ph type="title"/>
          </p:nvPr>
        </p:nvSpPr>
        <p:spPr/>
        <p:txBody>
          <a:bodyPr/>
          <a:lstStyle/>
          <a:p>
            <a:r>
              <a:rPr lang="en-CA" dirty="0"/>
              <a:t>Executive Summary</a:t>
            </a:r>
          </a:p>
        </p:txBody>
      </p:sp>
      <p:sp>
        <p:nvSpPr>
          <p:cNvPr id="3" name="Slide Number Placeholder 3">
            <a:extLst>
              <a:ext uri="{FF2B5EF4-FFF2-40B4-BE49-F238E27FC236}">
                <a16:creationId xmlns:a16="http://schemas.microsoft.com/office/drawing/2014/main" id="{B27B7067-B62D-DCD3-9BAA-CF5F853F19F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CA" sz="12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endParaRPr>
          </a:p>
        </p:txBody>
      </p:sp>
      <p:sp>
        <p:nvSpPr>
          <p:cNvPr id="8" name="Text Placeholder 7">
            <a:extLst>
              <a:ext uri="{FF2B5EF4-FFF2-40B4-BE49-F238E27FC236}">
                <a16:creationId xmlns:a16="http://schemas.microsoft.com/office/drawing/2014/main" id="{F6B088B6-3902-16EC-6305-15CB7EC42E03}"/>
              </a:ext>
            </a:extLst>
          </p:cNvPr>
          <p:cNvSpPr>
            <a:spLocks noGrp="1"/>
          </p:cNvSpPr>
          <p:nvPr>
            <p:ph type="body" sz="quarter" idx="13"/>
          </p:nvPr>
        </p:nvSpPr>
        <p:spPr/>
        <p:txBody>
          <a:bodyPr/>
          <a:lstStyle/>
          <a:p>
            <a:endParaRPr lang="en-CA"/>
          </a:p>
        </p:txBody>
      </p:sp>
      <p:sp>
        <p:nvSpPr>
          <p:cNvPr id="6" name="Content Placeholder 7">
            <a:extLst>
              <a:ext uri="{FF2B5EF4-FFF2-40B4-BE49-F238E27FC236}">
                <a16:creationId xmlns:a16="http://schemas.microsoft.com/office/drawing/2014/main" id="{2A922066-1268-CC97-BBC7-7981216504D9}"/>
              </a:ext>
            </a:extLst>
          </p:cNvPr>
          <p:cNvSpPr txBox="1">
            <a:spLocks/>
          </p:cNvSpPr>
          <p:nvPr/>
        </p:nvSpPr>
        <p:spPr bwMode="auto">
          <a:xfrm>
            <a:off x="323925" y="1035618"/>
            <a:ext cx="8496150" cy="5282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noAutofit/>
          </a:bodyPr>
          <a:lstStyle>
            <a:lvl1pPr marL="342900" indent="-342900">
              <a:lnSpc>
                <a:spcPct val="90000"/>
              </a:lnSpc>
              <a:spcBef>
                <a:spcPts val="1000"/>
              </a:spcBef>
              <a:buFont typeface="Arial" panose="020B0604020202020204" pitchFamily="34" charset="0"/>
              <a:defRPr sz="1400">
                <a:solidFill>
                  <a:srgbClr val="1B2759"/>
                </a:solidFill>
                <a:latin typeface="Palatino Linotype" panose="02040502050505030304" pitchFamily="18" charset="0"/>
              </a:defRPr>
            </a:lvl1pPr>
            <a:lvl2pPr marL="285750" indent="-285750">
              <a:lnSpc>
                <a:spcPct val="90000"/>
              </a:lnSpc>
              <a:spcBef>
                <a:spcPts val="600"/>
              </a:spcBef>
              <a:buClr>
                <a:srgbClr val="960000"/>
              </a:buClr>
              <a:buFont typeface="Wingdings" panose="05000000000000000000" pitchFamily="2" charset="2"/>
              <a:buChar char="§"/>
              <a:defRPr sz="1200">
                <a:solidFill>
                  <a:srgbClr val="1B2759"/>
                </a:solidFill>
                <a:latin typeface="Palatino Linotype" panose="02040502050505030304" pitchFamily="18" charset="0"/>
              </a:defRPr>
            </a:lvl2pPr>
            <a:lvl3pPr marL="1143000" indent="-228600">
              <a:lnSpc>
                <a:spcPct val="90000"/>
              </a:lnSpc>
              <a:spcBef>
                <a:spcPts val="500"/>
              </a:spcBef>
              <a:buFont typeface="Arial" panose="020B0604020202020204" pitchFamily="34" charset="0"/>
              <a:defRPr sz="1200">
                <a:solidFill>
                  <a:schemeClr val="tx1"/>
                </a:solidFill>
                <a:latin typeface="Palatino Linotype" panose="02040502050505030304" pitchFamily="18" charset="0"/>
              </a:defRPr>
            </a:lvl3pPr>
            <a:lvl4pPr marL="1600200" indent="-228600">
              <a:lnSpc>
                <a:spcPct val="90000"/>
              </a:lnSpc>
              <a:spcBef>
                <a:spcPts val="500"/>
              </a:spcBef>
              <a:buFont typeface="Arial" panose="020B0604020202020204" pitchFamily="34" charset="0"/>
              <a:buChar char="•"/>
              <a:defRPr sz="1200">
                <a:solidFill>
                  <a:schemeClr val="tx1"/>
                </a:solidFill>
                <a:latin typeface="Palatino Linotype" panose="02040502050505030304" pitchFamily="18" charset="0"/>
              </a:defRPr>
            </a:lvl4pPr>
            <a:lvl5pPr marL="2057400" indent="-228600">
              <a:lnSpc>
                <a:spcPct val="90000"/>
              </a:lnSpc>
              <a:spcBef>
                <a:spcPts val="500"/>
              </a:spcBef>
              <a:buFont typeface="Arial" panose="020B0604020202020204" pitchFamily="34" charset="0"/>
              <a:buChar char="•"/>
              <a:defRPr sz="1200">
                <a:solidFill>
                  <a:schemeClr val="tx1"/>
                </a:solidFill>
                <a:latin typeface="Palatino Linotype" panose="020405020505050303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9pPr>
          </a:lstStyle>
          <a:p>
            <a:pPr marL="180000" marR="0" lvl="1" indent="-180000" algn="l" defTabSz="914400" rtl="0" eaLnBrk="1" fontAlgn="auto" latinLnBrk="0" hangingPunct="1">
              <a:lnSpc>
                <a:spcPct val="100000"/>
              </a:lnSpc>
              <a:spcBef>
                <a:spcPts val="200"/>
              </a:spcBef>
              <a:spcAft>
                <a:spcPts val="300"/>
              </a:spcAft>
              <a:buClr>
                <a:srgbClr val="1B2759"/>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Propel enters H2 2026 with record momentum — FY2025 revenue of US$589.8MM (+31% YoY) and record Q1 2026 revenue of US$166.1MM (+20% YoY)</a:t>
            </a:r>
          </a:p>
          <a:p>
            <a:pPr marL="360000" marR="0" lvl="1" indent="-180000" algn="l" defTabSz="914400" rtl="0" eaLnBrk="1" fontAlgn="auto" latinLnBrk="0" hangingPunct="1">
              <a:lnSpc>
                <a:spcPct val="100000"/>
              </a:lnSpc>
              <a:spcBef>
                <a:spcPts val="200"/>
              </a:spcBef>
              <a:spcAft>
                <a:spcPts val="300"/>
              </a:spcAft>
              <a:buClr>
                <a:srgbClr val="1B2759"/>
              </a:buClr>
              <a:buSzPct val="100000"/>
              <a:buFont typeface="Palatino Linotype" panose="02040502050505030304" pitchFamily="18" charset="0"/>
              <a:buChar char="−"/>
              <a:tabLst/>
              <a:defRPr/>
            </a:pPr>
            <a:r>
              <a:rPr kumimoji="0" lang="en-US" sz="11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Q1 2026 Adjusted EBITDA of US$42.0MM and Ending Combined Loan and Advance Balances of US$592.7MM (+23% YoY) both set records</a:t>
            </a:r>
          </a:p>
          <a:p>
            <a:pPr marL="180000" marR="0" lvl="1" indent="-180000" algn="l" defTabSz="914400" rtl="0" eaLnBrk="1" fontAlgn="auto" latinLnBrk="0" hangingPunct="1">
              <a:lnSpc>
                <a:spcPct val="100000"/>
              </a:lnSpc>
              <a:spcBef>
                <a:spcPts val="200"/>
              </a:spcBef>
              <a:spcAft>
                <a:spcPts val="300"/>
              </a:spcAft>
              <a:buClr>
                <a:srgbClr val="1B2759"/>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Management's 2026 targets — revenue of US$725–775MM, Adjusted EBITDA of US$152.5–177.5MM and net income of US$70–90MM — imply another year of profitable growth</a:t>
            </a:r>
          </a:p>
          <a:p>
            <a:pPr marL="180000" marR="0" lvl="1" indent="-180000" algn="l" defTabSz="914400" rtl="0" eaLnBrk="1" fontAlgn="auto" latinLnBrk="0" hangingPunct="1">
              <a:lnSpc>
                <a:spcPct val="100000"/>
              </a:lnSpc>
              <a:spcBef>
                <a:spcPts val="200"/>
              </a:spcBef>
              <a:spcAft>
                <a:spcPts val="300"/>
              </a:spcAft>
              <a:buClr>
                <a:srgbClr val="1B2759"/>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The platform is diversifying beyond on-balance-sheet lending — Propel Bank launched in December 2025 and the Column LaaS partnership adds US$210MM of committed forward-flow capital</a:t>
            </a:r>
          </a:p>
          <a:p>
            <a:pPr marL="360000" marR="0" lvl="1" indent="-180000" algn="l" defTabSz="914400" rtl="0" eaLnBrk="1" fontAlgn="auto" latinLnBrk="0" hangingPunct="1">
              <a:lnSpc>
                <a:spcPct val="100000"/>
              </a:lnSpc>
              <a:spcBef>
                <a:spcPts val="200"/>
              </a:spcBef>
              <a:spcAft>
                <a:spcPts val="300"/>
              </a:spcAft>
              <a:buClr>
                <a:srgbClr val="1B2759"/>
              </a:buClr>
              <a:buSzPct val="100000"/>
              <a:buFont typeface="Palatino Linotype" panose="02040502050505030304" pitchFamily="18" charset="0"/>
              <a:buChar char="−"/>
              <a:tabLst/>
              <a:defRPr/>
            </a:pPr>
            <a:r>
              <a:rPr kumimoji="0" lang="en-US" sz="11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QuidMarket extends the model to the UK's ~20MM underserved consumers; the Freshline rollout targets the near-prime segment</a:t>
            </a:r>
          </a:p>
          <a:p>
            <a:pPr marL="180000" marR="0" lvl="1" indent="-180000" algn="l" defTabSz="914400" rtl="0" eaLnBrk="1" fontAlgn="auto" latinLnBrk="0" hangingPunct="1">
              <a:lnSpc>
                <a:spcPct val="100000"/>
              </a:lnSpc>
              <a:spcBef>
                <a:spcPts val="200"/>
              </a:spcBef>
              <a:spcAft>
                <a:spcPts val="300"/>
              </a:spcAft>
              <a:buClr>
                <a:srgbClr val="1B2759"/>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INFOR believes public markets do not fully reflect Propel's growth, returns and capital-light evolution — comparable companies and precedent transactions frame the value opportunity</a:t>
            </a:r>
          </a:p>
          <a:p>
            <a:pPr marL="180000" marR="0" lvl="1" indent="-180000" algn="l" defTabSz="914400" rtl="0" eaLnBrk="1" fontAlgn="auto" latinLnBrk="0" hangingPunct="1">
              <a:lnSpc>
                <a:spcPct val="100000"/>
              </a:lnSpc>
              <a:spcBef>
                <a:spcPts val="200"/>
              </a:spcBef>
              <a:spcAft>
                <a:spcPts val="300"/>
              </a:spcAft>
              <a:buClr>
                <a:srgbClr val="1B2759"/>
              </a:buClr>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These materials review Propel's positioning, financial trajectory, valuation context and potential strategic paths, including acquisition-led entry into new markets such as Latin America</a:t>
            </a:r>
          </a:p>
        </p:txBody>
      </p:sp>
    </p:spTree>
    <p:custDataLst>
      <p:tags r:id="rId1"/>
    </p:custDataLst>
    <p:extLst>
      <p:ext uri="{BB962C8B-B14F-4D97-AF65-F5344CB8AC3E}">
        <p14:creationId xmlns:p14="http://schemas.microsoft.com/office/powerpoint/2010/main" val="3246804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C12F2-E53F-2B65-88BD-316CB9EF5602}"/>
            </a:ext>
          </a:extLst>
        </p:cNvPr>
        <p:cNvGrpSpPr/>
        <p:nvPr/>
      </p:nvGrpSpPr>
      <p:grpSpPr>
        <a:xfrm>
          <a:off x="0" y="0"/>
          <a:ext cx="0" cy="0"/>
          <a:chOff x="0" y="0"/>
          <a:chExt cx="0" cy="0"/>
        </a:xfrm>
      </p:grpSpPr>
      <p:sp>
        <p:nvSpPr>
          <p:cNvPr id="6" name="Rectangle 42">
            <a:extLst>
              <a:ext uri="{FF2B5EF4-FFF2-40B4-BE49-F238E27FC236}">
                <a16:creationId xmlns:a16="http://schemas.microsoft.com/office/drawing/2014/main" id="{11ED205F-40AD-FD53-FDA7-EF32BD71E232}"/>
              </a:ext>
            </a:extLst>
          </p:cNvPr>
          <p:cNvSpPr>
            <a:spLocks noChangeArrowheads="1"/>
          </p:cNvSpPr>
          <p:nvPr/>
        </p:nvSpPr>
        <p:spPr bwMode="auto">
          <a:xfrm>
            <a:off x="318302" y="4029703"/>
            <a:ext cx="8496150" cy="17380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CA" sz="1400" noProof="0">
              <a:solidFill>
                <a:prstClr val="white"/>
              </a:solidFill>
              <a:latin typeface="Palatino Linotype" panose="02040502050505030304" pitchFamily="18" charset="0"/>
            </a:endParaRPr>
          </a:p>
        </p:txBody>
      </p:sp>
      <p:sp>
        <p:nvSpPr>
          <p:cNvPr id="2" name="Title 1">
            <a:extLst>
              <a:ext uri="{FF2B5EF4-FFF2-40B4-BE49-F238E27FC236}">
                <a16:creationId xmlns:a16="http://schemas.microsoft.com/office/drawing/2014/main" id="{312D6FA8-FDB2-6BD3-B1AC-B3C3E9BE4046}"/>
              </a:ext>
            </a:extLst>
          </p:cNvPr>
          <p:cNvSpPr>
            <a:spLocks noGrp="1"/>
          </p:cNvSpPr>
          <p:nvPr>
            <p:ph type="title"/>
          </p:nvPr>
        </p:nvSpPr>
        <p:spPr/>
        <p:txBody>
          <a:bodyPr>
            <a:normAutofit/>
          </a:bodyPr>
          <a:lstStyle/>
          <a:p>
            <a:r>
              <a:rPr lang="en-CA" sz="2200" noProof="0"/>
              <a:t>INFOR Financial Inc. Overview </a:t>
            </a:r>
          </a:p>
        </p:txBody>
      </p:sp>
      <p:sp>
        <p:nvSpPr>
          <p:cNvPr id="22" name="Slide Number Placeholder 3">
            <a:extLst>
              <a:ext uri="{FF2B5EF4-FFF2-40B4-BE49-F238E27FC236}">
                <a16:creationId xmlns:a16="http://schemas.microsoft.com/office/drawing/2014/main" id="{F6708284-CE57-A4E5-0DE1-74D97E9B0329}"/>
              </a:ext>
            </a:extLst>
          </p:cNvPr>
          <p:cNvSpPr>
            <a:spLocks noGrp="1"/>
          </p:cNvSpPr>
          <p:nvPr>
            <p:ph type="sldNum" sz="quarter" idx="12"/>
          </p:nvPr>
        </p:nvSpPr>
        <p:spPr/>
        <p:txBody>
          <a:bodyPr/>
          <a:lstStyle/>
          <a:p>
            <a:fld id="{B0BBF262-6B1A-47DC-B7A7-A92B0DCA2A1B}" type="slidenum">
              <a:rPr lang="en-CA" noProof="0" smtClean="0"/>
              <a:pPr/>
              <a:t>2</a:t>
            </a:fld>
            <a:endParaRPr lang="en-CA" noProof="0"/>
          </a:p>
        </p:txBody>
      </p:sp>
      <p:sp>
        <p:nvSpPr>
          <p:cNvPr id="4" name="Text Placeholder 3">
            <a:extLst>
              <a:ext uri="{FF2B5EF4-FFF2-40B4-BE49-F238E27FC236}">
                <a16:creationId xmlns:a16="http://schemas.microsoft.com/office/drawing/2014/main" id="{E3454AED-474C-D3CC-D7A0-E25F34281380}"/>
              </a:ext>
            </a:extLst>
          </p:cNvPr>
          <p:cNvSpPr>
            <a:spLocks noGrp="1"/>
          </p:cNvSpPr>
          <p:nvPr>
            <p:ph type="body" sz="quarter" idx="13"/>
          </p:nvPr>
        </p:nvSpPr>
        <p:spPr>
          <a:prstGeom prst="rect">
            <a:avLst/>
          </a:prstGeom>
        </p:spPr>
        <p:txBody>
          <a:bodyPr/>
          <a:lstStyle/>
          <a:p>
            <a:r>
              <a:rPr lang="en-CA" noProof="0">
                <a:solidFill>
                  <a:schemeClr val="tx2"/>
                </a:solidFill>
              </a:rPr>
              <a:t>INFOR is Canada’s leading provider of innovative, independent, forward thinking financial &amp; strategic advice</a:t>
            </a:r>
          </a:p>
        </p:txBody>
      </p:sp>
      <p:sp>
        <p:nvSpPr>
          <p:cNvPr id="5" name="Content Placeholder 7">
            <a:extLst>
              <a:ext uri="{FF2B5EF4-FFF2-40B4-BE49-F238E27FC236}">
                <a16:creationId xmlns:a16="http://schemas.microsoft.com/office/drawing/2014/main" id="{6C7D9B38-8B6F-BB85-5ABB-5A351497EF45}"/>
              </a:ext>
            </a:extLst>
          </p:cNvPr>
          <p:cNvSpPr txBox="1">
            <a:spLocks/>
          </p:cNvSpPr>
          <p:nvPr/>
        </p:nvSpPr>
        <p:spPr bwMode="auto">
          <a:xfrm>
            <a:off x="323925" y="1079433"/>
            <a:ext cx="8496150" cy="1590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marL="342900" indent="-342900">
              <a:lnSpc>
                <a:spcPct val="90000"/>
              </a:lnSpc>
              <a:spcBef>
                <a:spcPts val="1000"/>
              </a:spcBef>
              <a:buFont typeface="Arial" panose="020B0604020202020204" pitchFamily="34" charset="0"/>
              <a:defRPr sz="1400">
                <a:solidFill>
                  <a:srgbClr val="1B2759"/>
                </a:solidFill>
                <a:latin typeface="Palatino Linotype" panose="02040502050505030304" pitchFamily="18" charset="0"/>
              </a:defRPr>
            </a:lvl1pPr>
            <a:lvl2pPr marL="285750" indent="-285750">
              <a:lnSpc>
                <a:spcPct val="90000"/>
              </a:lnSpc>
              <a:spcBef>
                <a:spcPts val="600"/>
              </a:spcBef>
              <a:buClr>
                <a:srgbClr val="960000"/>
              </a:buClr>
              <a:buFont typeface="Wingdings" panose="05000000000000000000" pitchFamily="2" charset="2"/>
              <a:buChar char="§"/>
              <a:defRPr sz="1200">
                <a:solidFill>
                  <a:srgbClr val="1B2759"/>
                </a:solidFill>
                <a:latin typeface="Palatino Linotype" panose="02040502050505030304" pitchFamily="18" charset="0"/>
              </a:defRPr>
            </a:lvl2pPr>
            <a:lvl3pPr marL="1143000" indent="-228600">
              <a:lnSpc>
                <a:spcPct val="90000"/>
              </a:lnSpc>
              <a:spcBef>
                <a:spcPts val="500"/>
              </a:spcBef>
              <a:buFont typeface="Arial" panose="020B0604020202020204" pitchFamily="34" charset="0"/>
              <a:defRPr sz="1200">
                <a:solidFill>
                  <a:schemeClr val="tx1"/>
                </a:solidFill>
                <a:latin typeface="Palatino Linotype" panose="02040502050505030304" pitchFamily="18" charset="0"/>
              </a:defRPr>
            </a:lvl3pPr>
            <a:lvl4pPr marL="1600200" indent="-228600">
              <a:lnSpc>
                <a:spcPct val="90000"/>
              </a:lnSpc>
              <a:spcBef>
                <a:spcPts val="500"/>
              </a:spcBef>
              <a:buFont typeface="Arial" panose="020B0604020202020204" pitchFamily="34" charset="0"/>
              <a:buChar char="•"/>
              <a:defRPr sz="1200">
                <a:solidFill>
                  <a:schemeClr val="tx1"/>
                </a:solidFill>
                <a:latin typeface="Palatino Linotype" panose="02040502050505030304" pitchFamily="18" charset="0"/>
              </a:defRPr>
            </a:lvl4pPr>
            <a:lvl5pPr marL="2057400" indent="-228600">
              <a:lnSpc>
                <a:spcPct val="90000"/>
              </a:lnSpc>
              <a:spcBef>
                <a:spcPts val="500"/>
              </a:spcBef>
              <a:buFont typeface="Arial" panose="020B0604020202020204" pitchFamily="34" charset="0"/>
              <a:buChar char="•"/>
              <a:defRPr sz="1200">
                <a:solidFill>
                  <a:schemeClr val="tx1"/>
                </a:solidFill>
                <a:latin typeface="Palatino Linotype" panose="020405020505050303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9pPr>
          </a:lstStyle>
          <a:p>
            <a:pPr marL="180000" lvl="1" indent="-180000">
              <a:lnSpc>
                <a:spcPct val="100000"/>
              </a:lnSpc>
              <a:spcBef>
                <a:spcPts val="300"/>
              </a:spcBef>
              <a:spcAft>
                <a:spcPts val="300"/>
              </a:spcAft>
              <a:buClr>
                <a:srgbClr val="1B2759"/>
              </a:buClr>
              <a:defRPr/>
            </a:pPr>
            <a:r>
              <a:rPr lang="en-CA" sz="1300" noProof="0">
                <a:solidFill>
                  <a:schemeClr val="tx2">
                    <a:lumMod val="85000"/>
                    <a:lumOff val="15000"/>
                  </a:schemeClr>
                </a:solidFill>
                <a:cs typeface="Segoe UI" panose="020B0502040204020203" pitchFamily="34" charset="0"/>
              </a:rPr>
              <a:t>INFOR Financial Inc. (“INFOR”) is one of Canada’s leading independent investment banks</a:t>
            </a:r>
          </a:p>
          <a:p>
            <a:pPr marL="360000" lvl="1" indent="-180000">
              <a:lnSpc>
                <a:spcPct val="100000"/>
              </a:lnSpc>
              <a:spcBef>
                <a:spcPts val="300"/>
              </a:spcBef>
              <a:spcAft>
                <a:spcPts val="300"/>
              </a:spcAft>
              <a:buClr>
                <a:srgbClr val="1B2759"/>
              </a:buClr>
              <a:buSzPct val="100000"/>
              <a:buFont typeface="Palatino Linotype" panose="02040502050505030304" pitchFamily="18" charset="0"/>
              <a:buChar char="−"/>
              <a:defRPr/>
            </a:pPr>
            <a:r>
              <a:rPr lang="en-CA" sz="1250" noProof="0">
                <a:solidFill>
                  <a:schemeClr val="tx2">
                    <a:lumMod val="85000"/>
                    <a:lumOff val="15000"/>
                  </a:schemeClr>
                </a:solidFill>
                <a:cs typeface="Segoe UI" panose="020B0502040204020203" pitchFamily="34" charset="0"/>
              </a:rPr>
              <a:t>Our team has been directly involved in originating and executing over 2,000 transactions totaling more than $400 billion</a:t>
            </a:r>
          </a:p>
          <a:p>
            <a:pPr marL="360000" lvl="1" indent="-180000">
              <a:lnSpc>
                <a:spcPct val="100000"/>
              </a:lnSpc>
              <a:spcBef>
                <a:spcPts val="300"/>
              </a:spcBef>
              <a:spcAft>
                <a:spcPts val="300"/>
              </a:spcAft>
              <a:buClr>
                <a:srgbClr val="1B2759"/>
              </a:buClr>
              <a:buSzPct val="100000"/>
              <a:buFont typeface="Palatino Linotype" panose="02040502050505030304" pitchFamily="18" charset="0"/>
              <a:buChar char="−"/>
              <a:defRPr/>
            </a:pPr>
            <a:r>
              <a:rPr lang="en-CA" sz="1250" noProof="0">
                <a:solidFill>
                  <a:schemeClr val="tx2">
                    <a:lumMod val="85000"/>
                    <a:lumOff val="15000"/>
                  </a:schemeClr>
                </a:solidFill>
                <a:cs typeface="Segoe UI" panose="020B0502040204020203" pitchFamily="34" charset="0"/>
              </a:rPr>
              <a:t>Extensive experience providing advisory services on complex, transformational transactions and related capital markets activities</a:t>
            </a:r>
          </a:p>
          <a:p>
            <a:pPr marL="360000" lvl="1" indent="-180000">
              <a:lnSpc>
                <a:spcPct val="100000"/>
              </a:lnSpc>
              <a:spcBef>
                <a:spcPts val="300"/>
              </a:spcBef>
              <a:spcAft>
                <a:spcPts val="300"/>
              </a:spcAft>
              <a:buClr>
                <a:srgbClr val="1B2759"/>
              </a:buClr>
              <a:buSzPct val="100000"/>
              <a:buFont typeface="Palatino Linotype" panose="02040502050505030304" pitchFamily="18" charset="0"/>
              <a:buChar char="−"/>
              <a:defRPr/>
            </a:pPr>
            <a:r>
              <a:rPr lang="en-CA" sz="1250" noProof="0">
                <a:solidFill>
                  <a:schemeClr val="tx2">
                    <a:lumMod val="85000"/>
                    <a:lumOff val="15000"/>
                  </a:schemeClr>
                </a:solidFill>
                <a:cs typeface="Segoe UI" panose="020B0502040204020203" pitchFamily="34" charset="0"/>
              </a:rPr>
              <a:t>Since inception, INFOR has consistently ranked as one of Canada’s top independent M&amp;A advisors by Bloomberg</a:t>
            </a:r>
          </a:p>
        </p:txBody>
      </p:sp>
      <p:sp>
        <p:nvSpPr>
          <p:cNvPr id="8" name="Rectangle 42">
            <a:extLst>
              <a:ext uri="{FF2B5EF4-FFF2-40B4-BE49-F238E27FC236}">
                <a16:creationId xmlns:a16="http://schemas.microsoft.com/office/drawing/2014/main" id="{AFF00150-6F9A-3083-0E66-526E65874F9E}"/>
              </a:ext>
            </a:extLst>
          </p:cNvPr>
          <p:cNvSpPr>
            <a:spLocks noChangeArrowheads="1"/>
          </p:cNvSpPr>
          <p:nvPr/>
        </p:nvSpPr>
        <p:spPr bwMode="auto">
          <a:xfrm>
            <a:off x="323925" y="2673699"/>
            <a:ext cx="8493293" cy="30777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CA" sz="1400" b="1" noProof="0">
                <a:solidFill>
                  <a:prstClr val="white"/>
                </a:solidFill>
                <a:latin typeface="Palatino Linotype" panose="02040502050505030304" pitchFamily="18" charset="0"/>
              </a:rPr>
              <a:t>Core Expertise</a:t>
            </a:r>
          </a:p>
        </p:txBody>
      </p:sp>
      <p:sp>
        <p:nvSpPr>
          <p:cNvPr id="9" name="Rectangle 42">
            <a:extLst>
              <a:ext uri="{FF2B5EF4-FFF2-40B4-BE49-F238E27FC236}">
                <a16:creationId xmlns:a16="http://schemas.microsoft.com/office/drawing/2014/main" id="{1FA0CA01-9ECF-1F78-AA59-4F3D35C72674}"/>
              </a:ext>
            </a:extLst>
          </p:cNvPr>
          <p:cNvSpPr>
            <a:spLocks noChangeArrowheads="1"/>
          </p:cNvSpPr>
          <p:nvPr/>
        </p:nvSpPr>
        <p:spPr bwMode="auto">
          <a:xfrm>
            <a:off x="321069" y="3672795"/>
            <a:ext cx="8496150" cy="30777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CA" sz="1400" b="1" noProof="0">
                <a:solidFill>
                  <a:prstClr val="white"/>
                </a:solidFill>
                <a:latin typeface="Palatino Linotype" panose="02040502050505030304" pitchFamily="18" charset="0"/>
              </a:rPr>
              <a:t>Industry Experience</a:t>
            </a:r>
          </a:p>
        </p:txBody>
      </p:sp>
      <p:sp>
        <p:nvSpPr>
          <p:cNvPr id="63" name="Rectangle: Rounded Corners 62">
            <a:extLst>
              <a:ext uri="{FF2B5EF4-FFF2-40B4-BE49-F238E27FC236}">
                <a16:creationId xmlns:a16="http://schemas.microsoft.com/office/drawing/2014/main" id="{D8FFE547-C7D4-A660-D5D9-03206211D778}"/>
              </a:ext>
            </a:extLst>
          </p:cNvPr>
          <p:cNvSpPr/>
          <p:nvPr/>
        </p:nvSpPr>
        <p:spPr>
          <a:xfrm>
            <a:off x="3513695" y="5132513"/>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sp>
        <p:nvSpPr>
          <p:cNvPr id="64" name="TextBox 63">
            <a:extLst>
              <a:ext uri="{FF2B5EF4-FFF2-40B4-BE49-F238E27FC236}">
                <a16:creationId xmlns:a16="http://schemas.microsoft.com/office/drawing/2014/main" id="{BD6D8256-2B8C-86CC-0C23-4288AAC912F6}"/>
              </a:ext>
            </a:extLst>
          </p:cNvPr>
          <p:cNvSpPr txBox="1"/>
          <p:nvPr/>
        </p:nvSpPr>
        <p:spPr>
          <a:xfrm>
            <a:off x="3886367" y="5270756"/>
            <a:ext cx="2304601" cy="276999"/>
          </a:xfrm>
          <a:prstGeom prst="rect">
            <a:avLst/>
          </a:prstGeom>
          <a:noFill/>
        </p:spPr>
        <p:txBody>
          <a:bodyPr wrap="square" rtlCol="0">
            <a:spAutoFit/>
          </a:bodyPr>
          <a:lstStyle/>
          <a:p>
            <a:r>
              <a:rPr lang="en-CA" sz="1200" b="1" noProof="0" dirty="0">
                <a:solidFill>
                  <a:schemeClr val="bg1"/>
                </a:solidFill>
                <a:latin typeface="Palatino Linotype" panose="02040502050505030304" pitchFamily="18" charset="0"/>
              </a:rPr>
              <a:t>Agriculture</a:t>
            </a:r>
          </a:p>
        </p:txBody>
      </p:sp>
      <p:grpSp>
        <p:nvGrpSpPr>
          <p:cNvPr id="152" name="Group 151">
            <a:extLst>
              <a:ext uri="{FF2B5EF4-FFF2-40B4-BE49-F238E27FC236}">
                <a16:creationId xmlns:a16="http://schemas.microsoft.com/office/drawing/2014/main" id="{B1477428-388B-209B-E627-F8C2012F9201}"/>
              </a:ext>
            </a:extLst>
          </p:cNvPr>
          <p:cNvGrpSpPr/>
          <p:nvPr/>
        </p:nvGrpSpPr>
        <p:grpSpPr>
          <a:xfrm>
            <a:off x="571531" y="3165351"/>
            <a:ext cx="1847797" cy="327388"/>
            <a:chOff x="485585" y="3226995"/>
            <a:chExt cx="1847797" cy="327388"/>
          </a:xfrm>
        </p:grpSpPr>
        <p:sp>
          <p:nvSpPr>
            <p:cNvPr id="76" name="TextBox 75">
              <a:extLst>
                <a:ext uri="{FF2B5EF4-FFF2-40B4-BE49-F238E27FC236}">
                  <a16:creationId xmlns:a16="http://schemas.microsoft.com/office/drawing/2014/main" id="{D527BE98-D7F1-43A7-258A-4CD1367CCB5C}"/>
                </a:ext>
              </a:extLst>
            </p:cNvPr>
            <p:cNvSpPr txBox="1"/>
            <p:nvPr/>
          </p:nvSpPr>
          <p:spPr>
            <a:xfrm>
              <a:off x="951039" y="3259884"/>
              <a:ext cx="1382343" cy="276999"/>
            </a:xfrm>
            <a:prstGeom prst="rect">
              <a:avLst/>
            </a:prstGeom>
            <a:noFill/>
          </p:spPr>
          <p:txBody>
            <a:bodyPr wrap="square" rtlCol="0">
              <a:spAutoFit/>
            </a:bodyPr>
            <a:lstStyle/>
            <a:p>
              <a:r>
                <a:rPr lang="en-CA" sz="1200" b="1" noProof="0">
                  <a:solidFill>
                    <a:schemeClr val="tx2">
                      <a:lumMod val="85000"/>
                      <a:lumOff val="15000"/>
                    </a:schemeClr>
                  </a:solidFill>
                  <a:latin typeface="Palatino Linotype" panose="02040502050505030304" pitchFamily="18" charset="0"/>
                </a:rPr>
                <a:t>Sell-Side M&amp;A</a:t>
              </a:r>
            </a:p>
          </p:txBody>
        </p:sp>
        <p:grpSp>
          <p:nvGrpSpPr>
            <p:cNvPr id="66" name="Group 65">
              <a:extLst>
                <a:ext uri="{FF2B5EF4-FFF2-40B4-BE49-F238E27FC236}">
                  <a16:creationId xmlns:a16="http://schemas.microsoft.com/office/drawing/2014/main" id="{3C2C0A2C-C225-4CAB-1B57-BB3F5073CE0A}"/>
                </a:ext>
              </a:extLst>
            </p:cNvPr>
            <p:cNvGrpSpPr/>
            <p:nvPr/>
          </p:nvGrpSpPr>
          <p:grpSpPr>
            <a:xfrm>
              <a:off x="485585" y="3226995"/>
              <a:ext cx="422023" cy="327388"/>
              <a:chOff x="4950739" y="3138305"/>
              <a:chExt cx="422023" cy="327388"/>
            </a:xfrm>
          </p:grpSpPr>
          <p:sp>
            <p:nvSpPr>
              <p:cNvPr id="67" name="Rectangle: Rounded Corners 66">
                <a:extLst>
                  <a:ext uri="{FF2B5EF4-FFF2-40B4-BE49-F238E27FC236}">
                    <a16:creationId xmlns:a16="http://schemas.microsoft.com/office/drawing/2014/main" id="{4CACCBFD-6A02-5D27-94BD-B26404A8464E}"/>
                  </a:ext>
                </a:extLst>
              </p:cNvPr>
              <p:cNvSpPr/>
              <p:nvPr/>
            </p:nvSpPr>
            <p:spPr>
              <a:xfrm>
                <a:off x="4950739" y="3138305"/>
                <a:ext cx="327387" cy="3273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sp>
            <p:nvSpPr>
              <p:cNvPr id="68" name="Rectangle 67">
                <a:extLst>
                  <a:ext uri="{FF2B5EF4-FFF2-40B4-BE49-F238E27FC236}">
                    <a16:creationId xmlns:a16="http://schemas.microsoft.com/office/drawing/2014/main" id="{D71A7F48-DF01-E32B-B1B3-37E1AC500C6A}"/>
                  </a:ext>
                </a:extLst>
              </p:cNvPr>
              <p:cNvSpPr/>
              <p:nvPr/>
            </p:nvSpPr>
            <p:spPr>
              <a:xfrm>
                <a:off x="5206352" y="3253738"/>
                <a:ext cx="143549" cy="965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sp>
            <p:nvSpPr>
              <p:cNvPr id="69" name="Rectangle: Rounded Corners 68">
                <a:extLst>
                  <a:ext uri="{FF2B5EF4-FFF2-40B4-BE49-F238E27FC236}">
                    <a16:creationId xmlns:a16="http://schemas.microsoft.com/office/drawing/2014/main" id="{4E0A3C0E-CB49-2EEE-E6D9-E5C3C862DDFB}"/>
                  </a:ext>
                </a:extLst>
              </p:cNvPr>
              <p:cNvSpPr/>
              <p:nvPr/>
            </p:nvSpPr>
            <p:spPr>
              <a:xfrm>
                <a:off x="5017622" y="3205187"/>
                <a:ext cx="193622" cy="193623"/>
              </a:xfrm>
              <a:prstGeom prst="roundRect">
                <a:avLst/>
              </a:prstGeom>
              <a:no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grpSp>
            <p:nvGrpSpPr>
              <p:cNvPr id="70" name="Group 69">
                <a:extLst>
                  <a:ext uri="{FF2B5EF4-FFF2-40B4-BE49-F238E27FC236}">
                    <a16:creationId xmlns:a16="http://schemas.microsoft.com/office/drawing/2014/main" id="{44E207EF-5C33-94DB-322B-2D33BF02613C}"/>
                  </a:ext>
                </a:extLst>
              </p:cNvPr>
              <p:cNvGrpSpPr/>
              <p:nvPr/>
            </p:nvGrpSpPr>
            <p:grpSpPr>
              <a:xfrm>
                <a:off x="5255265" y="3282014"/>
                <a:ext cx="117497" cy="39971"/>
                <a:chOff x="5140274" y="3291156"/>
                <a:chExt cx="117497" cy="39971"/>
              </a:xfrm>
            </p:grpSpPr>
            <p:cxnSp>
              <p:nvCxnSpPr>
                <p:cNvPr id="71" name="Straight Connector 70">
                  <a:extLst>
                    <a:ext uri="{FF2B5EF4-FFF2-40B4-BE49-F238E27FC236}">
                      <a16:creationId xmlns:a16="http://schemas.microsoft.com/office/drawing/2014/main" id="{F766441D-5C59-9EB2-623F-56E5BD0FF36D}"/>
                    </a:ext>
                  </a:extLst>
                </p:cNvPr>
                <p:cNvCxnSpPr>
                  <a:cxnSpLocks/>
                </p:cNvCxnSpPr>
                <p:nvPr/>
              </p:nvCxnSpPr>
              <p:spPr>
                <a:xfrm>
                  <a:off x="5140274" y="3311521"/>
                  <a:ext cx="110391"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0469A3F-9B19-BA5D-8298-D606487D925C}"/>
                    </a:ext>
                  </a:extLst>
                </p:cNvPr>
                <p:cNvCxnSpPr>
                  <a:cxnSpLocks/>
                </p:cNvCxnSpPr>
                <p:nvPr/>
              </p:nvCxnSpPr>
              <p:spPr>
                <a:xfrm rot="10800000" flipV="1">
                  <a:off x="5224063" y="3307589"/>
                  <a:ext cx="33708" cy="2353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7940B50D-9AB0-4203-9494-B5B3533E8DE7}"/>
                    </a:ext>
                  </a:extLst>
                </p:cNvPr>
                <p:cNvCxnSpPr>
                  <a:cxnSpLocks/>
                </p:cNvCxnSpPr>
                <p:nvPr/>
              </p:nvCxnSpPr>
              <p:spPr>
                <a:xfrm rot="10800000" flipH="1" flipV="1">
                  <a:off x="5224063" y="3291156"/>
                  <a:ext cx="33708" cy="2353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grpSp>
      </p:grpSp>
      <p:grpSp>
        <p:nvGrpSpPr>
          <p:cNvPr id="129" name="Group 128">
            <a:extLst>
              <a:ext uri="{FF2B5EF4-FFF2-40B4-BE49-F238E27FC236}">
                <a16:creationId xmlns:a16="http://schemas.microsoft.com/office/drawing/2014/main" id="{0B201614-6AD9-30FE-E6F7-5FC4D3219304}"/>
              </a:ext>
            </a:extLst>
          </p:cNvPr>
          <p:cNvGrpSpPr/>
          <p:nvPr/>
        </p:nvGrpSpPr>
        <p:grpSpPr>
          <a:xfrm>
            <a:off x="2751047" y="3165351"/>
            <a:ext cx="1841037" cy="327388"/>
            <a:chOff x="2602700" y="3274620"/>
            <a:chExt cx="1841037" cy="327388"/>
          </a:xfrm>
        </p:grpSpPr>
        <p:sp>
          <p:nvSpPr>
            <p:cNvPr id="85" name="TextBox 84">
              <a:extLst>
                <a:ext uri="{FF2B5EF4-FFF2-40B4-BE49-F238E27FC236}">
                  <a16:creationId xmlns:a16="http://schemas.microsoft.com/office/drawing/2014/main" id="{61B61836-626F-1C98-114B-714403274838}"/>
                </a:ext>
              </a:extLst>
            </p:cNvPr>
            <p:cNvSpPr txBox="1"/>
            <p:nvPr/>
          </p:nvSpPr>
          <p:spPr>
            <a:xfrm>
              <a:off x="3121762" y="3307509"/>
              <a:ext cx="1321975" cy="276999"/>
            </a:xfrm>
            <a:prstGeom prst="rect">
              <a:avLst/>
            </a:prstGeom>
            <a:noFill/>
          </p:spPr>
          <p:txBody>
            <a:bodyPr wrap="square" rtlCol="0">
              <a:spAutoFit/>
            </a:bodyPr>
            <a:lstStyle/>
            <a:p>
              <a:r>
                <a:rPr lang="en-CA" sz="1200" b="1" noProof="0">
                  <a:solidFill>
                    <a:schemeClr val="tx2">
                      <a:lumMod val="85000"/>
                      <a:lumOff val="15000"/>
                    </a:schemeClr>
                  </a:solidFill>
                  <a:latin typeface="Palatino Linotype" panose="02040502050505030304" pitchFamily="18" charset="0"/>
                </a:rPr>
                <a:t>Buy-Side M&amp;A</a:t>
              </a:r>
            </a:p>
          </p:txBody>
        </p:sp>
        <p:grpSp>
          <p:nvGrpSpPr>
            <p:cNvPr id="102" name="Group 101">
              <a:extLst>
                <a:ext uri="{FF2B5EF4-FFF2-40B4-BE49-F238E27FC236}">
                  <a16:creationId xmlns:a16="http://schemas.microsoft.com/office/drawing/2014/main" id="{2BD82507-0C27-6236-9580-137D0E0131B7}"/>
                </a:ext>
              </a:extLst>
            </p:cNvPr>
            <p:cNvGrpSpPr/>
            <p:nvPr/>
          </p:nvGrpSpPr>
          <p:grpSpPr>
            <a:xfrm>
              <a:off x="2602700" y="3274620"/>
              <a:ext cx="411010" cy="327388"/>
              <a:chOff x="4978172" y="3794506"/>
              <a:chExt cx="411010" cy="327388"/>
            </a:xfrm>
          </p:grpSpPr>
          <p:grpSp>
            <p:nvGrpSpPr>
              <p:cNvPr id="112" name="Group 111">
                <a:extLst>
                  <a:ext uri="{FF2B5EF4-FFF2-40B4-BE49-F238E27FC236}">
                    <a16:creationId xmlns:a16="http://schemas.microsoft.com/office/drawing/2014/main" id="{AED52957-CDCF-FD44-3E5D-FC4BC5DA64BB}"/>
                  </a:ext>
                </a:extLst>
              </p:cNvPr>
              <p:cNvGrpSpPr/>
              <p:nvPr/>
            </p:nvGrpSpPr>
            <p:grpSpPr>
              <a:xfrm>
                <a:off x="4978172" y="3794506"/>
                <a:ext cx="399162" cy="327388"/>
                <a:chOff x="4978172" y="3794506"/>
                <a:chExt cx="399162" cy="327388"/>
              </a:xfrm>
            </p:grpSpPr>
            <p:sp>
              <p:nvSpPr>
                <p:cNvPr id="115" name="Rectangle: Rounded Corners 114">
                  <a:extLst>
                    <a:ext uri="{FF2B5EF4-FFF2-40B4-BE49-F238E27FC236}">
                      <a16:creationId xmlns:a16="http://schemas.microsoft.com/office/drawing/2014/main" id="{A3F9E958-E15C-6331-3178-67BA851A46D7}"/>
                    </a:ext>
                  </a:extLst>
                </p:cNvPr>
                <p:cNvSpPr/>
                <p:nvPr/>
              </p:nvSpPr>
              <p:spPr>
                <a:xfrm>
                  <a:off x="4978172" y="3794506"/>
                  <a:ext cx="327387" cy="327388"/>
                </a:xfrm>
                <a:prstGeom prst="round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sp>
              <p:nvSpPr>
                <p:cNvPr id="116" name="Rectangle 115">
                  <a:extLst>
                    <a:ext uri="{FF2B5EF4-FFF2-40B4-BE49-F238E27FC236}">
                      <a16:creationId xmlns:a16="http://schemas.microsoft.com/office/drawing/2014/main" id="{EAD8F82B-CA64-0221-9A61-99ED34B6AA71}"/>
                    </a:ext>
                  </a:extLst>
                </p:cNvPr>
                <p:cNvSpPr/>
                <p:nvPr/>
              </p:nvSpPr>
              <p:spPr>
                <a:xfrm>
                  <a:off x="5233785" y="3833022"/>
                  <a:ext cx="143549" cy="2503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grpSp>
              <p:nvGrpSpPr>
                <p:cNvPr id="117" name="Group 116">
                  <a:extLst>
                    <a:ext uri="{FF2B5EF4-FFF2-40B4-BE49-F238E27FC236}">
                      <a16:creationId xmlns:a16="http://schemas.microsoft.com/office/drawing/2014/main" id="{ED903973-B2F1-1E27-724D-60CCA5D5460E}"/>
                    </a:ext>
                  </a:extLst>
                </p:cNvPr>
                <p:cNvGrpSpPr/>
                <p:nvPr/>
              </p:nvGrpSpPr>
              <p:grpSpPr>
                <a:xfrm rot="10800000">
                  <a:off x="5029621" y="3938214"/>
                  <a:ext cx="117497" cy="39971"/>
                  <a:chOff x="5140274" y="3291156"/>
                  <a:chExt cx="117497" cy="39971"/>
                </a:xfrm>
              </p:grpSpPr>
              <p:cxnSp>
                <p:nvCxnSpPr>
                  <p:cNvPr id="118" name="Straight Connector 117">
                    <a:extLst>
                      <a:ext uri="{FF2B5EF4-FFF2-40B4-BE49-F238E27FC236}">
                        <a16:creationId xmlns:a16="http://schemas.microsoft.com/office/drawing/2014/main" id="{DA9E783E-8AA0-E46A-14E1-0CFF958DAA9E}"/>
                      </a:ext>
                    </a:extLst>
                  </p:cNvPr>
                  <p:cNvCxnSpPr>
                    <a:cxnSpLocks/>
                  </p:cNvCxnSpPr>
                  <p:nvPr/>
                </p:nvCxnSpPr>
                <p:spPr>
                  <a:xfrm>
                    <a:off x="5140274" y="3311521"/>
                    <a:ext cx="110391"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7C3DD7BC-C5C8-8251-F313-70CF25067CF7}"/>
                      </a:ext>
                    </a:extLst>
                  </p:cNvPr>
                  <p:cNvCxnSpPr>
                    <a:cxnSpLocks/>
                  </p:cNvCxnSpPr>
                  <p:nvPr/>
                </p:nvCxnSpPr>
                <p:spPr>
                  <a:xfrm rot="10800000" flipV="1">
                    <a:off x="5224063" y="3307589"/>
                    <a:ext cx="33708" cy="2353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60582438-7C91-6AC8-1079-212FF3DEA417}"/>
                      </a:ext>
                    </a:extLst>
                  </p:cNvPr>
                  <p:cNvCxnSpPr>
                    <a:cxnSpLocks/>
                  </p:cNvCxnSpPr>
                  <p:nvPr/>
                </p:nvCxnSpPr>
                <p:spPr>
                  <a:xfrm rot="10800000" flipH="1" flipV="1">
                    <a:off x="5224063" y="3291156"/>
                    <a:ext cx="33708" cy="23538"/>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grpSp>
          <p:sp>
            <p:nvSpPr>
              <p:cNvPr id="113" name="Rectangle: Rounded Corners 112">
                <a:extLst>
                  <a:ext uri="{FF2B5EF4-FFF2-40B4-BE49-F238E27FC236}">
                    <a16:creationId xmlns:a16="http://schemas.microsoft.com/office/drawing/2014/main" id="{B37DE57C-4D25-738D-FCD4-6B29F78E9F3D}"/>
                  </a:ext>
                </a:extLst>
              </p:cNvPr>
              <p:cNvSpPr/>
              <p:nvPr/>
            </p:nvSpPr>
            <p:spPr>
              <a:xfrm>
                <a:off x="5195560" y="3860852"/>
                <a:ext cx="193622" cy="193623"/>
              </a:xfrm>
              <a:prstGeom prst="roundRect">
                <a:avLst/>
              </a:prstGeom>
              <a:no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grpSp>
      </p:grpSp>
      <p:grpSp>
        <p:nvGrpSpPr>
          <p:cNvPr id="130" name="Group 129">
            <a:extLst>
              <a:ext uri="{FF2B5EF4-FFF2-40B4-BE49-F238E27FC236}">
                <a16:creationId xmlns:a16="http://schemas.microsoft.com/office/drawing/2014/main" id="{0F6F5D6C-782C-BBF2-247E-4133CA5EF31D}"/>
              </a:ext>
            </a:extLst>
          </p:cNvPr>
          <p:cNvGrpSpPr/>
          <p:nvPr/>
        </p:nvGrpSpPr>
        <p:grpSpPr>
          <a:xfrm>
            <a:off x="4923803" y="3126203"/>
            <a:ext cx="1815594" cy="405684"/>
            <a:chOff x="4861712" y="3235472"/>
            <a:chExt cx="1815594" cy="405684"/>
          </a:xfrm>
        </p:grpSpPr>
        <p:sp>
          <p:nvSpPr>
            <p:cNvPr id="88" name="TextBox 87">
              <a:extLst>
                <a:ext uri="{FF2B5EF4-FFF2-40B4-BE49-F238E27FC236}">
                  <a16:creationId xmlns:a16="http://schemas.microsoft.com/office/drawing/2014/main" id="{547FC7CE-E6D3-83FC-09A4-9393943005B5}"/>
                </a:ext>
              </a:extLst>
            </p:cNvPr>
            <p:cNvSpPr txBox="1"/>
            <p:nvPr/>
          </p:nvSpPr>
          <p:spPr>
            <a:xfrm>
              <a:off x="5292485" y="3307509"/>
              <a:ext cx="1384821" cy="276999"/>
            </a:xfrm>
            <a:prstGeom prst="rect">
              <a:avLst/>
            </a:prstGeom>
            <a:noFill/>
          </p:spPr>
          <p:txBody>
            <a:bodyPr wrap="square" rtlCol="0">
              <a:spAutoFit/>
            </a:bodyPr>
            <a:lstStyle/>
            <a:p>
              <a:r>
                <a:rPr lang="en-CA" sz="1200" b="1" noProof="0">
                  <a:solidFill>
                    <a:schemeClr val="tx2">
                      <a:lumMod val="85000"/>
                      <a:lumOff val="15000"/>
                    </a:schemeClr>
                  </a:solidFill>
                  <a:latin typeface="Palatino Linotype" panose="02040502050505030304" pitchFamily="18" charset="0"/>
                </a:rPr>
                <a:t>Capital Raising</a:t>
              </a:r>
            </a:p>
          </p:txBody>
        </p:sp>
        <p:grpSp>
          <p:nvGrpSpPr>
            <p:cNvPr id="121" name="Group 120">
              <a:extLst>
                <a:ext uri="{FF2B5EF4-FFF2-40B4-BE49-F238E27FC236}">
                  <a16:creationId xmlns:a16="http://schemas.microsoft.com/office/drawing/2014/main" id="{529721D1-1464-CBBF-0238-9B59C9A18400}"/>
                </a:ext>
              </a:extLst>
            </p:cNvPr>
            <p:cNvGrpSpPr/>
            <p:nvPr/>
          </p:nvGrpSpPr>
          <p:grpSpPr>
            <a:xfrm>
              <a:off x="4861712" y="3235472"/>
              <a:ext cx="324392" cy="405684"/>
              <a:chOff x="4883342" y="4492715"/>
              <a:chExt cx="272532" cy="340828"/>
            </a:xfrm>
          </p:grpSpPr>
          <p:grpSp>
            <p:nvGrpSpPr>
              <p:cNvPr id="122" name="Group 121">
                <a:extLst>
                  <a:ext uri="{FF2B5EF4-FFF2-40B4-BE49-F238E27FC236}">
                    <a16:creationId xmlns:a16="http://schemas.microsoft.com/office/drawing/2014/main" id="{D6A0438B-C9B5-C3D0-65E3-15B16AE54EBB}"/>
                  </a:ext>
                </a:extLst>
              </p:cNvPr>
              <p:cNvGrpSpPr/>
              <p:nvPr/>
            </p:nvGrpSpPr>
            <p:grpSpPr>
              <a:xfrm>
                <a:off x="4883342" y="4561929"/>
                <a:ext cx="272532" cy="271614"/>
                <a:chOff x="4950739" y="4584868"/>
                <a:chExt cx="272532" cy="271614"/>
              </a:xfrm>
            </p:grpSpPr>
            <p:cxnSp>
              <p:nvCxnSpPr>
                <p:cNvPr id="126" name="Connector: Elbow 125">
                  <a:extLst>
                    <a:ext uri="{FF2B5EF4-FFF2-40B4-BE49-F238E27FC236}">
                      <a16:creationId xmlns:a16="http://schemas.microsoft.com/office/drawing/2014/main" id="{66B57339-C5B0-80EF-B5EE-34A916A7C16B}"/>
                    </a:ext>
                  </a:extLst>
                </p:cNvPr>
                <p:cNvCxnSpPr>
                  <a:cxnSpLocks/>
                </p:cNvCxnSpPr>
                <p:nvPr/>
              </p:nvCxnSpPr>
              <p:spPr>
                <a:xfrm rot="5400000" flipH="1" flipV="1">
                  <a:off x="4905019" y="4719322"/>
                  <a:ext cx="182880" cy="91440"/>
                </a:xfrm>
                <a:prstGeom prst="bentConnector3">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7" name="Connector: Elbow 126">
                  <a:extLst>
                    <a:ext uri="{FF2B5EF4-FFF2-40B4-BE49-F238E27FC236}">
                      <a16:creationId xmlns:a16="http://schemas.microsoft.com/office/drawing/2014/main" id="{3F284570-6C20-8F6B-137B-9B83191A9844}"/>
                    </a:ext>
                  </a:extLst>
                </p:cNvPr>
                <p:cNvCxnSpPr>
                  <a:cxnSpLocks/>
                </p:cNvCxnSpPr>
                <p:nvPr/>
              </p:nvCxnSpPr>
              <p:spPr>
                <a:xfrm rot="5400000" flipH="1" flipV="1">
                  <a:off x="4996370" y="4630588"/>
                  <a:ext cx="182880" cy="91440"/>
                </a:xfrm>
                <a:prstGeom prst="bentConnector3">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0B114D32-5E4B-7EFB-9583-BDD8BB345848}"/>
                    </a:ext>
                  </a:extLst>
                </p:cNvPr>
                <p:cNvCxnSpPr>
                  <a:cxnSpLocks/>
                </p:cNvCxnSpPr>
                <p:nvPr/>
              </p:nvCxnSpPr>
              <p:spPr>
                <a:xfrm>
                  <a:off x="5127128" y="4584868"/>
                  <a:ext cx="96143"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123" name="Graphic 122" descr="Dollar with solid fill">
                <a:extLst>
                  <a:ext uri="{FF2B5EF4-FFF2-40B4-BE49-F238E27FC236}">
                    <a16:creationId xmlns:a16="http://schemas.microsoft.com/office/drawing/2014/main" id="{CA792A22-62FC-0DED-BC0D-37BAC27AD69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894117" y="4667755"/>
                <a:ext cx="67305" cy="67305"/>
              </a:xfrm>
              <a:prstGeom prst="rect">
                <a:avLst/>
              </a:prstGeom>
            </p:spPr>
          </p:pic>
          <p:pic>
            <p:nvPicPr>
              <p:cNvPr id="124" name="Graphic 123" descr="Euro with solid fill">
                <a:extLst>
                  <a:ext uri="{FF2B5EF4-FFF2-40B4-BE49-F238E27FC236}">
                    <a16:creationId xmlns:a16="http://schemas.microsoft.com/office/drawing/2014/main" id="{3BC62887-4C39-B16F-ACED-D412E66064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73994" y="4492715"/>
                <a:ext cx="64008" cy="64008"/>
              </a:xfrm>
              <a:prstGeom prst="rect">
                <a:avLst/>
              </a:prstGeom>
            </p:spPr>
          </p:pic>
          <p:pic>
            <p:nvPicPr>
              <p:cNvPr id="125" name="Graphic 124" descr="Pound with solid fill">
                <a:extLst>
                  <a:ext uri="{FF2B5EF4-FFF2-40B4-BE49-F238E27FC236}">
                    <a16:creationId xmlns:a16="http://schemas.microsoft.com/office/drawing/2014/main" id="{3C7640D0-349F-0591-B012-CBD3C737BB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82880" y="4578371"/>
                <a:ext cx="64008" cy="64008"/>
              </a:xfrm>
              <a:prstGeom prst="rect">
                <a:avLst/>
              </a:prstGeom>
            </p:spPr>
          </p:pic>
        </p:grpSp>
      </p:grpSp>
      <p:grpSp>
        <p:nvGrpSpPr>
          <p:cNvPr id="150" name="Group 149">
            <a:extLst>
              <a:ext uri="{FF2B5EF4-FFF2-40B4-BE49-F238E27FC236}">
                <a16:creationId xmlns:a16="http://schemas.microsoft.com/office/drawing/2014/main" id="{EE64AE6C-E693-0F24-B018-DA86E0861480}"/>
              </a:ext>
            </a:extLst>
          </p:cNvPr>
          <p:cNvGrpSpPr/>
          <p:nvPr/>
        </p:nvGrpSpPr>
        <p:grpSpPr>
          <a:xfrm>
            <a:off x="7071116" y="3163399"/>
            <a:ext cx="1699576" cy="331293"/>
            <a:chOff x="6978650" y="3272668"/>
            <a:chExt cx="1699576" cy="331293"/>
          </a:xfrm>
        </p:grpSpPr>
        <p:sp>
          <p:nvSpPr>
            <p:cNvPr id="101" name="TextBox 100">
              <a:extLst>
                <a:ext uri="{FF2B5EF4-FFF2-40B4-BE49-F238E27FC236}">
                  <a16:creationId xmlns:a16="http://schemas.microsoft.com/office/drawing/2014/main" id="{4F1AE38D-67E1-8CDB-C4FF-1D08636F536B}"/>
                </a:ext>
              </a:extLst>
            </p:cNvPr>
            <p:cNvSpPr txBox="1"/>
            <p:nvPr/>
          </p:nvSpPr>
          <p:spPr>
            <a:xfrm>
              <a:off x="7463207" y="3307509"/>
              <a:ext cx="1215019" cy="276999"/>
            </a:xfrm>
            <a:prstGeom prst="rect">
              <a:avLst/>
            </a:prstGeom>
            <a:noFill/>
          </p:spPr>
          <p:txBody>
            <a:bodyPr wrap="square" rtlCol="0">
              <a:spAutoFit/>
            </a:bodyPr>
            <a:lstStyle/>
            <a:p>
              <a:r>
                <a:rPr lang="en-CA" sz="1200" b="1" noProof="0">
                  <a:solidFill>
                    <a:schemeClr val="tx2">
                      <a:lumMod val="85000"/>
                      <a:lumOff val="15000"/>
                    </a:schemeClr>
                  </a:solidFill>
                  <a:latin typeface="Palatino Linotype" panose="02040502050505030304" pitchFamily="18" charset="0"/>
                </a:rPr>
                <a:t>Restructuring</a:t>
              </a:r>
            </a:p>
          </p:txBody>
        </p:sp>
        <p:grpSp>
          <p:nvGrpSpPr>
            <p:cNvPr id="131" name="Group 130">
              <a:extLst>
                <a:ext uri="{FF2B5EF4-FFF2-40B4-BE49-F238E27FC236}">
                  <a16:creationId xmlns:a16="http://schemas.microsoft.com/office/drawing/2014/main" id="{9B037FAB-FE0D-CB22-2342-9F9087B9822F}"/>
                </a:ext>
              </a:extLst>
            </p:cNvPr>
            <p:cNvGrpSpPr/>
            <p:nvPr/>
          </p:nvGrpSpPr>
          <p:grpSpPr>
            <a:xfrm>
              <a:off x="6978650" y="3272668"/>
              <a:ext cx="383138" cy="331293"/>
              <a:chOff x="4906511" y="5204107"/>
              <a:chExt cx="383138" cy="331293"/>
            </a:xfrm>
          </p:grpSpPr>
          <p:grpSp>
            <p:nvGrpSpPr>
              <p:cNvPr id="132" name="Group 131">
                <a:extLst>
                  <a:ext uri="{FF2B5EF4-FFF2-40B4-BE49-F238E27FC236}">
                    <a16:creationId xmlns:a16="http://schemas.microsoft.com/office/drawing/2014/main" id="{1155DC4C-48C4-0F3E-FCB1-16766F5F082F}"/>
                  </a:ext>
                </a:extLst>
              </p:cNvPr>
              <p:cNvGrpSpPr/>
              <p:nvPr/>
            </p:nvGrpSpPr>
            <p:grpSpPr>
              <a:xfrm>
                <a:off x="4927409" y="5204107"/>
                <a:ext cx="341316" cy="171088"/>
                <a:chOff x="4948360" y="5204107"/>
                <a:chExt cx="341316" cy="171088"/>
              </a:xfrm>
            </p:grpSpPr>
            <p:sp>
              <p:nvSpPr>
                <p:cNvPr id="137" name="Rectangle: Rounded Corners 136">
                  <a:extLst>
                    <a:ext uri="{FF2B5EF4-FFF2-40B4-BE49-F238E27FC236}">
                      <a16:creationId xmlns:a16="http://schemas.microsoft.com/office/drawing/2014/main" id="{C6C094D7-0F95-FC55-6AE5-60F41BDCA2E8}"/>
                    </a:ext>
                  </a:extLst>
                </p:cNvPr>
                <p:cNvSpPr/>
                <p:nvPr/>
              </p:nvSpPr>
              <p:spPr>
                <a:xfrm>
                  <a:off x="5053724" y="5204107"/>
                  <a:ext cx="118946" cy="118946"/>
                </a:xfrm>
                <a:prstGeom prst="roundRect">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grpSp>
              <p:nvGrpSpPr>
                <p:cNvPr id="138" name="Group 137">
                  <a:extLst>
                    <a:ext uri="{FF2B5EF4-FFF2-40B4-BE49-F238E27FC236}">
                      <a16:creationId xmlns:a16="http://schemas.microsoft.com/office/drawing/2014/main" id="{3CB6F9B2-4DEF-2170-1863-5E42427E4C0F}"/>
                    </a:ext>
                  </a:extLst>
                </p:cNvPr>
                <p:cNvGrpSpPr/>
                <p:nvPr/>
              </p:nvGrpSpPr>
              <p:grpSpPr>
                <a:xfrm rot="5400000">
                  <a:off x="5210942" y="5296461"/>
                  <a:ext cx="117497" cy="39971"/>
                  <a:chOff x="5140274" y="3291156"/>
                  <a:chExt cx="117497" cy="39971"/>
                </a:xfrm>
              </p:grpSpPr>
              <p:cxnSp>
                <p:nvCxnSpPr>
                  <p:cNvPr id="146" name="Straight Connector 145">
                    <a:extLst>
                      <a:ext uri="{FF2B5EF4-FFF2-40B4-BE49-F238E27FC236}">
                        <a16:creationId xmlns:a16="http://schemas.microsoft.com/office/drawing/2014/main" id="{493A966A-8715-E8A4-F61A-F00A72164395}"/>
                      </a:ext>
                    </a:extLst>
                  </p:cNvPr>
                  <p:cNvCxnSpPr>
                    <a:cxnSpLocks/>
                  </p:cNvCxnSpPr>
                  <p:nvPr/>
                </p:nvCxnSpPr>
                <p:spPr>
                  <a:xfrm>
                    <a:off x="5140274" y="3311521"/>
                    <a:ext cx="110391"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67EA00F5-8C7B-B724-783E-A661AD1F3B3E}"/>
                      </a:ext>
                    </a:extLst>
                  </p:cNvPr>
                  <p:cNvCxnSpPr>
                    <a:cxnSpLocks/>
                  </p:cNvCxnSpPr>
                  <p:nvPr/>
                </p:nvCxnSpPr>
                <p:spPr>
                  <a:xfrm rot="10800000" flipV="1">
                    <a:off x="5224063" y="3307589"/>
                    <a:ext cx="33708" cy="2353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62C43D53-1FBD-8E4F-67AB-CEE9232D6049}"/>
                      </a:ext>
                    </a:extLst>
                  </p:cNvPr>
                  <p:cNvCxnSpPr>
                    <a:cxnSpLocks/>
                  </p:cNvCxnSpPr>
                  <p:nvPr/>
                </p:nvCxnSpPr>
                <p:spPr>
                  <a:xfrm rot="10800000" flipH="1" flipV="1">
                    <a:off x="5224063" y="3291156"/>
                    <a:ext cx="33708" cy="2353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39" name="Group 138">
                  <a:extLst>
                    <a:ext uri="{FF2B5EF4-FFF2-40B4-BE49-F238E27FC236}">
                      <a16:creationId xmlns:a16="http://schemas.microsoft.com/office/drawing/2014/main" id="{B2020848-1733-F49A-7D5D-FABF0C9C09C4}"/>
                    </a:ext>
                  </a:extLst>
                </p:cNvPr>
                <p:cNvGrpSpPr/>
                <p:nvPr/>
              </p:nvGrpSpPr>
              <p:grpSpPr>
                <a:xfrm rot="5400000">
                  <a:off x="4909597" y="5296461"/>
                  <a:ext cx="117497" cy="39971"/>
                  <a:chOff x="5140274" y="3291156"/>
                  <a:chExt cx="117497" cy="39971"/>
                </a:xfrm>
              </p:grpSpPr>
              <p:cxnSp>
                <p:nvCxnSpPr>
                  <p:cNvPr id="142" name="Straight Connector 141">
                    <a:extLst>
                      <a:ext uri="{FF2B5EF4-FFF2-40B4-BE49-F238E27FC236}">
                        <a16:creationId xmlns:a16="http://schemas.microsoft.com/office/drawing/2014/main" id="{7752A12A-750F-FBAB-CD39-7D7464E1F6FF}"/>
                      </a:ext>
                    </a:extLst>
                  </p:cNvPr>
                  <p:cNvCxnSpPr>
                    <a:cxnSpLocks/>
                  </p:cNvCxnSpPr>
                  <p:nvPr/>
                </p:nvCxnSpPr>
                <p:spPr>
                  <a:xfrm>
                    <a:off x="5140274" y="3311521"/>
                    <a:ext cx="110391"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25ED4E40-F295-2E3F-B5C2-F5B59FE4279E}"/>
                      </a:ext>
                    </a:extLst>
                  </p:cNvPr>
                  <p:cNvCxnSpPr>
                    <a:cxnSpLocks/>
                  </p:cNvCxnSpPr>
                  <p:nvPr/>
                </p:nvCxnSpPr>
                <p:spPr>
                  <a:xfrm rot="10800000" flipV="1">
                    <a:off x="5224063" y="3307589"/>
                    <a:ext cx="33708" cy="2353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35055094-429A-7E89-9409-7BCC5B6E9B72}"/>
                      </a:ext>
                    </a:extLst>
                  </p:cNvPr>
                  <p:cNvCxnSpPr>
                    <a:cxnSpLocks/>
                  </p:cNvCxnSpPr>
                  <p:nvPr/>
                </p:nvCxnSpPr>
                <p:spPr>
                  <a:xfrm rot="10800000" flipH="1" flipV="1">
                    <a:off x="5224063" y="3291156"/>
                    <a:ext cx="33708" cy="2353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cxnSp>
              <p:nvCxnSpPr>
                <p:cNvPr id="140" name="Straight Connector 139">
                  <a:extLst>
                    <a:ext uri="{FF2B5EF4-FFF2-40B4-BE49-F238E27FC236}">
                      <a16:creationId xmlns:a16="http://schemas.microsoft.com/office/drawing/2014/main" id="{435CF3F4-554E-F253-9EEE-D041232D82A5}"/>
                    </a:ext>
                  </a:extLst>
                </p:cNvPr>
                <p:cNvCxnSpPr>
                  <a:cxnSpLocks/>
                </p:cNvCxnSpPr>
                <p:nvPr/>
              </p:nvCxnSpPr>
              <p:spPr>
                <a:xfrm flipH="1">
                  <a:off x="4961054" y="5263580"/>
                  <a:ext cx="9874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7C5EEF6-B76B-3042-5809-47B82CEE675B}"/>
                    </a:ext>
                  </a:extLst>
                </p:cNvPr>
                <p:cNvCxnSpPr>
                  <a:cxnSpLocks/>
                </p:cNvCxnSpPr>
                <p:nvPr/>
              </p:nvCxnSpPr>
              <p:spPr>
                <a:xfrm flipH="1">
                  <a:off x="5176507" y="5263580"/>
                  <a:ext cx="9874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33" name="Group 132">
                <a:extLst>
                  <a:ext uri="{FF2B5EF4-FFF2-40B4-BE49-F238E27FC236}">
                    <a16:creationId xmlns:a16="http://schemas.microsoft.com/office/drawing/2014/main" id="{C395B8E7-0C64-6E85-9442-D3924A7D96C6}"/>
                  </a:ext>
                </a:extLst>
              </p:cNvPr>
              <p:cNvGrpSpPr/>
              <p:nvPr/>
            </p:nvGrpSpPr>
            <p:grpSpPr>
              <a:xfrm>
                <a:off x="4906511" y="5385523"/>
                <a:ext cx="383138" cy="149877"/>
                <a:chOff x="4886817" y="5404591"/>
                <a:chExt cx="341783" cy="133700"/>
              </a:xfrm>
            </p:grpSpPr>
            <p:sp>
              <p:nvSpPr>
                <p:cNvPr id="134" name="Oval 133">
                  <a:extLst>
                    <a:ext uri="{FF2B5EF4-FFF2-40B4-BE49-F238E27FC236}">
                      <a16:creationId xmlns:a16="http://schemas.microsoft.com/office/drawing/2014/main" id="{88ADC141-8AD8-3C0B-F310-0AB694F10257}"/>
                    </a:ext>
                  </a:extLst>
                </p:cNvPr>
                <p:cNvSpPr/>
                <p:nvPr/>
              </p:nvSpPr>
              <p:spPr>
                <a:xfrm>
                  <a:off x="4886817" y="5404591"/>
                  <a:ext cx="133700" cy="133700"/>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sp>
              <p:nvSpPr>
                <p:cNvPr id="135" name="Oval 134">
                  <a:extLst>
                    <a:ext uri="{FF2B5EF4-FFF2-40B4-BE49-F238E27FC236}">
                      <a16:creationId xmlns:a16="http://schemas.microsoft.com/office/drawing/2014/main" id="{4507DCEE-61C1-9CD9-020B-06CDC8D0FEC3}"/>
                    </a:ext>
                  </a:extLst>
                </p:cNvPr>
                <p:cNvSpPr/>
                <p:nvPr/>
              </p:nvSpPr>
              <p:spPr>
                <a:xfrm>
                  <a:off x="4990859" y="5404591"/>
                  <a:ext cx="133700" cy="133700"/>
                </a:xfrm>
                <a:prstGeom prst="ellipse">
                  <a:avLst/>
                </a:prstGeom>
                <a:noFill/>
                <a:ln>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sp>
              <p:nvSpPr>
                <p:cNvPr id="136" name="Oval 135">
                  <a:extLst>
                    <a:ext uri="{FF2B5EF4-FFF2-40B4-BE49-F238E27FC236}">
                      <a16:creationId xmlns:a16="http://schemas.microsoft.com/office/drawing/2014/main" id="{818AD309-127F-739E-EA40-7E411D000BCB}"/>
                    </a:ext>
                  </a:extLst>
                </p:cNvPr>
                <p:cNvSpPr/>
                <p:nvPr/>
              </p:nvSpPr>
              <p:spPr>
                <a:xfrm>
                  <a:off x="5094900" y="5404591"/>
                  <a:ext cx="133700" cy="133700"/>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latin typeface="Palatino Linotype" panose="02040502050505030304" pitchFamily="18" charset="0"/>
                  </a:endParaRPr>
                </a:p>
              </p:txBody>
            </p:sp>
          </p:grpSp>
        </p:grpSp>
      </p:grpSp>
      <p:grpSp>
        <p:nvGrpSpPr>
          <p:cNvPr id="10" name="Group 9">
            <a:extLst>
              <a:ext uri="{FF2B5EF4-FFF2-40B4-BE49-F238E27FC236}">
                <a16:creationId xmlns:a16="http://schemas.microsoft.com/office/drawing/2014/main" id="{4612284C-0F8B-66B5-FFA8-7CD6051E990A}"/>
              </a:ext>
            </a:extLst>
          </p:cNvPr>
          <p:cNvGrpSpPr/>
          <p:nvPr/>
        </p:nvGrpSpPr>
        <p:grpSpPr>
          <a:xfrm>
            <a:off x="576346" y="4604592"/>
            <a:ext cx="2677557" cy="538096"/>
            <a:chOff x="591049" y="4682154"/>
            <a:chExt cx="2677557" cy="538096"/>
          </a:xfrm>
        </p:grpSpPr>
        <p:grpSp>
          <p:nvGrpSpPr>
            <p:cNvPr id="244" name="Group 243">
              <a:extLst>
                <a:ext uri="{FF2B5EF4-FFF2-40B4-BE49-F238E27FC236}">
                  <a16:creationId xmlns:a16="http://schemas.microsoft.com/office/drawing/2014/main" id="{0CC52172-D040-7CCB-B094-BF446E81F213}"/>
                </a:ext>
              </a:extLst>
            </p:cNvPr>
            <p:cNvGrpSpPr/>
            <p:nvPr/>
          </p:nvGrpSpPr>
          <p:grpSpPr>
            <a:xfrm>
              <a:off x="591049" y="4682154"/>
              <a:ext cx="2677557" cy="538096"/>
              <a:chOff x="323925" y="4682154"/>
              <a:chExt cx="2677557" cy="538096"/>
            </a:xfrm>
            <a:solidFill>
              <a:schemeClr val="bg1"/>
            </a:solidFill>
          </p:grpSpPr>
          <p:sp>
            <p:nvSpPr>
              <p:cNvPr id="154" name="Rectangle: Rounded Corners 153">
                <a:extLst>
                  <a:ext uri="{FF2B5EF4-FFF2-40B4-BE49-F238E27FC236}">
                    <a16:creationId xmlns:a16="http://schemas.microsoft.com/office/drawing/2014/main" id="{765AD042-35C7-AA2C-16AD-150B6E502BC9}"/>
                  </a:ext>
                </a:extLst>
              </p:cNvPr>
              <p:cNvSpPr/>
              <p:nvPr/>
            </p:nvSpPr>
            <p:spPr>
              <a:xfrm>
                <a:off x="323925" y="4682154"/>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solidFill>
                    <a:schemeClr val="bg1"/>
                  </a:solidFill>
                  <a:latin typeface="Palatino Linotype" panose="02040502050505030304" pitchFamily="18" charset="0"/>
                </a:endParaRPr>
              </a:p>
            </p:txBody>
          </p:sp>
          <p:pic>
            <p:nvPicPr>
              <p:cNvPr id="219" name="Graphic 218" descr="Oil Rig with solid fill">
                <a:extLst>
                  <a:ext uri="{FF2B5EF4-FFF2-40B4-BE49-F238E27FC236}">
                    <a16:creationId xmlns:a16="http://schemas.microsoft.com/office/drawing/2014/main" id="{B54AF129-2A14-EBE8-4922-9C813F44F57C}"/>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7506" y="4771202"/>
                <a:ext cx="360000" cy="360000"/>
              </a:xfrm>
              <a:prstGeom prst="rect">
                <a:avLst/>
              </a:prstGeom>
            </p:spPr>
          </p:pic>
        </p:grpSp>
        <p:sp>
          <p:nvSpPr>
            <p:cNvPr id="155" name="TextBox 154">
              <a:extLst>
                <a:ext uri="{FF2B5EF4-FFF2-40B4-BE49-F238E27FC236}">
                  <a16:creationId xmlns:a16="http://schemas.microsoft.com/office/drawing/2014/main" id="{4838622A-BF58-F43C-8D8E-D5F5EC57EB69}"/>
                </a:ext>
              </a:extLst>
            </p:cNvPr>
            <p:cNvSpPr txBox="1"/>
            <p:nvPr/>
          </p:nvSpPr>
          <p:spPr>
            <a:xfrm>
              <a:off x="963721" y="4820397"/>
              <a:ext cx="2304601" cy="276999"/>
            </a:xfrm>
            <a:prstGeom prst="rect">
              <a:avLst/>
            </a:prstGeom>
            <a:noFill/>
          </p:spPr>
          <p:txBody>
            <a:bodyPr wrap="square" rtlCol="0">
              <a:spAutoFit/>
            </a:bodyPr>
            <a:lstStyle/>
            <a:p>
              <a:r>
                <a:rPr lang="en-CA" sz="1200" b="1" noProof="0">
                  <a:solidFill>
                    <a:schemeClr val="bg1"/>
                  </a:solidFill>
                  <a:latin typeface="Palatino Linotype" panose="02040502050505030304" pitchFamily="18" charset="0"/>
                </a:rPr>
                <a:t>Energy &amp; Renewables</a:t>
              </a:r>
            </a:p>
          </p:txBody>
        </p:sp>
      </p:grpSp>
      <p:grpSp>
        <p:nvGrpSpPr>
          <p:cNvPr id="246" name="Group 245">
            <a:extLst>
              <a:ext uri="{FF2B5EF4-FFF2-40B4-BE49-F238E27FC236}">
                <a16:creationId xmlns:a16="http://schemas.microsoft.com/office/drawing/2014/main" id="{EAD11F0E-D172-9B13-79FB-15434451A653}"/>
              </a:ext>
            </a:extLst>
          </p:cNvPr>
          <p:cNvGrpSpPr/>
          <p:nvPr/>
        </p:nvGrpSpPr>
        <p:grpSpPr>
          <a:xfrm>
            <a:off x="6377177" y="5132513"/>
            <a:ext cx="2677557" cy="538096"/>
            <a:chOff x="3233221" y="4100904"/>
            <a:chExt cx="2677557" cy="538096"/>
          </a:xfrm>
          <a:solidFill>
            <a:schemeClr val="bg1"/>
          </a:solidFill>
        </p:grpSpPr>
        <p:sp>
          <p:nvSpPr>
            <p:cNvPr id="170" name="Rectangle: Rounded Corners 169">
              <a:extLst>
                <a:ext uri="{FF2B5EF4-FFF2-40B4-BE49-F238E27FC236}">
                  <a16:creationId xmlns:a16="http://schemas.microsoft.com/office/drawing/2014/main" id="{01576FAD-1317-F90A-C777-EBC5176D8F99}"/>
                </a:ext>
              </a:extLst>
            </p:cNvPr>
            <p:cNvSpPr/>
            <p:nvPr/>
          </p:nvSpPr>
          <p:spPr>
            <a:xfrm>
              <a:off x="3233221" y="4100904"/>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solidFill>
                  <a:schemeClr val="bg1"/>
                </a:solidFill>
                <a:latin typeface="Palatino Linotype" panose="02040502050505030304" pitchFamily="18" charset="0"/>
              </a:endParaRPr>
            </a:p>
          </p:txBody>
        </p:sp>
        <p:sp>
          <p:nvSpPr>
            <p:cNvPr id="171" name="TextBox 170">
              <a:extLst>
                <a:ext uri="{FF2B5EF4-FFF2-40B4-BE49-F238E27FC236}">
                  <a16:creationId xmlns:a16="http://schemas.microsoft.com/office/drawing/2014/main" id="{A331092F-9279-5057-DE24-8E710A70C5E7}"/>
                </a:ext>
              </a:extLst>
            </p:cNvPr>
            <p:cNvSpPr txBox="1"/>
            <p:nvPr/>
          </p:nvSpPr>
          <p:spPr>
            <a:xfrm>
              <a:off x="3605893" y="4239147"/>
              <a:ext cx="2304601" cy="276999"/>
            </a:xfrm>
            <a:prstGeom prst="rect">
              <a:avLst/>
            </a:prstGeom>
            <a:noFill/>
          </p:spPr>
          <p:txBody>
            <a:bodyPr wrap="square" rtlCol="0">
              <a:spAutoFit/>
            </a:bodyPr>
            <a:lstStyle/>
            <a:p>
              <a:r>
                <a:rPr lang="en-CA" sz="1200" b="1" noProof="0">
                  <a:solidFill>
                    <a:schemeClr val="bg1"/>
                  </a:solidFill>
                  <a:latin typeface="Palatino Linotype" panose="02040502050505030304" pitchFamily="18" charset="0"/>
                </a:rPr>
                <a:t>Financial Services</a:t>
              </a:r>
            </a:p>
          </p:txBody>
        </p:sp>
        <p:pic>
          <p:nvPicPr>
            <p:cNvPr id="172" name="Graphic 171" descr="Bank with solid fill">
              <a:extLst>
                <a:ext uri="{FF2B5EF4-FFF2-40B4-BE49-F238E27FC236}">
                  <a16:creationId xmlns:a16="http://schemas.microsoft.com/office/drawing/2014/main" id="{10C0B561-E70D-94F1-C874-657C124C819D}"/>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0398" y="4189952"/>
              <a:ext cx="360000" cy="360000"/>
            </a:xfrm>
            <a:prstGeom prst="rect">
              <a:avLst/>
            </a:prstGeom>
          </p:spPr>
        </p:pic>
      </p:grpSp>
      <p:grpSp>
        <p:nvGrpSpPr>
          <p:cNvPr id="249" name="Group 248">
            <a:extLst>
              <a:ext uri="{FF2B5EF4-FFF2-40B4-BE49-F238E27FC236}">
                <a16:creationId xmlns:a16="http://schemas.microsoft.com/office/drawing/2014/main" id="{53868C5B-0081-6D60-DFA6-CE43C6EC5058}"/>
              </a:ext>
            </a:extLst>
          </p:cNvPr>
          <p:cNvGrpSpPr/>
          <p:nvPr/>
        </p:nvGrpSpPr>
        <p:grpSpPr>
          <a:xfrm>
            <a:off x="6380394" y="4604592"/>
            <a:ext cx="2677557" cy="538096"/>
            <a:chOff x="6142520" y="4100904"/>
            <a:chExt cx="2677557" cy="538096"/>
          </a:xfrm>
          <a:solidFill>
            <a:schemeClr val="bg1"/>
          </a:solidFill>
        </p:grpSpPr>
        <p:sp>
          <p:nvSpPr>
            <p:cNvPr id="195" name="Rectangle: Rounded Corners 194">
              <a:extLst>
                <a:ext uri="{FF2B5EF4-FFF2-40B4-BE49-F238E27FC236}">
                  <a16:creationId xmlns:a16="http://schemas.microsoft.com/office/drawing/2014/main" id="{8C23E6E3-BFCC-C2C3-1AE0-BB19E748EBC6}"/>
                </a:ext>
              </a:extLst>
            </p:cNvPr>
            <p:cNvSpPr/>
            <p:nvPr/>
          </p:nvSpPr>
          <p:spPr>
            <a:xfrm>
              <a:off x="6142520" y="4100904"/>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solidFill>
                  <a:schemeClr val="bg1"/>
                </a:solidFill>
                <a:latin typeface="Palatino Linotype" panose="02040502050505030304" pitchFamily="18" charset="0"/>
              </a:endParaRPr>
            </a:p>
          </p:txBody>
        </p:sp>
        <p:sp>
          <p:nvSpPr>
            <p:cNvPr id="196" name="TextBox 195">
              <a:extLst>
                <a:ext uri="{FF2B5EF4-FFF2-40B4-BE49-F238E27FC236}">
                  <a16:creationId xmlns:a16="http://schemas.microsoft.com/office/drawing/2014/main" id="{97CA63DA-7DCF-5F38-7DFA-093189437606}"/>
                </a:ext>
              </a:extLst>
            </p:cNvPr>
            <p:cNvSpPr txBox="1"/>
            <p:nvPr/>
          </p:nvSpPr>
          <p:spPr>
            <a:xfrm>
              <a:off x="6515192" y="4239147"/>
              <a:ext cx="2304601" cy="276999"/>
            </a:xfrm>
            <a:prstGeom prst="rect">
              <a:avLst/>
            </a:prstGeom>
            <a:noFill/>
          </p:spPr>
          <p:txBody>
            <a:bodyPr wrap="square" rtlCol="0">
              <a:spAutoFit/>
            </a:bodyPr>
            <a:lstStyle/>
            <a:p>
              <a:r>
                <a:rPr lang="en-CA" sz="1200" b="1" noProof="0">
                  <a:solidFill>
                    <a:schemeClr val="bg1"/>
                  </a:solidFill>
                  <a:latin typeface="Palatino Linotype" panose="02040502050505030304" pitchFamily="18" charset="0"/>
                </a:rPr>
                <a:t>Metals &amp; Mining</a:t>
              </a:r>
            </a:p>
          </p:txBody>
        </p:sp>
        <p:pic>
          <p:nvPicPr>
            <p:cNvPr id="215" name="Graphic 214" descr="Mining tools with solid fill">
              <a:extLst>
                <a:ext uri="{FF2B5EF4-FFF2-40B4-BE49-F238E27FC236}">
                  <a16:creationId xmlns:a16="http://schemas.microsoft.com/office/drawing/2014/main" id="{8713894F-B153-D9BB-D6E1-B14D1CDC12F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173755" y="4189952"/>
              <a:ext cx="360000" cy="360000"/>
            </a:xfrm>
            <a:prstGeom prst="rect">
              <a:avLst/>
            </a:prstGeom>
          </p:spPr>
        </p:pic>
      </p:grpSp>
      <p:grpSp>
        <p:nvGrpSpPr>
          <p:cNvPr id="248" name="Group 247">
            <a:extLst>
              <a:ext uri="{FF2B5EF4-FFF2-40B4-BE49-F238E27FC236}">
                <a16:creationId xmlns:a16="http://schemas.microsoft.com/office/drawing/2014/main" id="{2F0EC7F0-D976-B3AA-EDA2-8294109F2C27}"/>
              </a:ext>
            </a:extLst>
          </p:cNvPr>
          <p:cNvGrpSpPr/>
          <p:nvPr/>
        </p:nvGrpSpPr>
        <p:grpSpPr>
          <a:xfrm>
            <a:off x="6323219" y="4076672"/>
            <a:ext cx="2723395" cy="538096"/>
            <a:chOff x="3233223" y="5263405"/>
            <a:chExt cx="2723395" cy="538096"/>
          </a:xfrm>
          <a:solidFill>
            <a:schemeClr val="bg1"/>
          </a:solidFill>
        </p:grpSpPr>
        <p:sp>
          <p:nvSpPr>
            <p:cNvPr id="187" name="Rectangle: Rounded Corners 186">
              <a:extLst>
                <a:ext uri="{FF2B5EF4-FFF2-40B4-BE49-F238E27FC236}">
                  <a16:creationId xmlns:a16="http://schemas.microsoft.com/office/drawing/2014/main" id="{B7F0E55E-9F54-2419-F660-07E0DECA6A72}"/>
                </a:ext>
              </a:extLst>
            </p:cNvPr>
            <p:cNvSpPr/>
            <p:nvPr/>
          </p:nvSpPr>
          <p:spPr>
            <a:xfrm>
              <a:off x="3233223" y="5263405"/>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solidFill>
                  <a:schemeClr val="bg1"/>
                </a:solidFill>
                <a:latin typeface="Palatino Linotype" panose="02040502050505030304" pitchFamily="18" charset="0"/>
              </a:endParaRPr>
            </a:p>
          </p:txBody>
        </p:sp>
        <p:sp>
          <p:nvSpPr>
            <p:cNvPr id="189" name="TextBox 188">
              <a:extLst>
                <a:ext uri="{FF2B5EF4-FFF2-40B4-BE49-F238E27FC236}">
                  <a16:creationId xmlns:a16="http://schemas.microsoft.com/office/drawing/2014/main" id="{9517DD7F-FBEA-9323-88AC-C58E86D4715C}"/>
                </a:ext>
              </a:extLst>
            </p:cNvPr>
            <p:cNvSpPr txBox="1"/>
            <p:nvPr/>
          </p:nvSpPr>
          <p:spPr>
            <a:xfrm>
              <a:off x="3652017" y="5331509"/>
              <a:ext cx="2304601" cy="461665"/>
            </a:xfrm>
            <a:prstGeom prst="rect">
              <a:avLst/>
            </a:prstGeom>
            <a:noFill/>
          </p:spPr>
          <p:txBody>
            <a:bodyPr wrap="square" rtlCol="0">
              <a:spAutoFit/>
            </a:bodyPr>
            <a:lstStyle/>
            <a:p>
              <a:r>
                <a:rPr lang="en-CA" sz="1200" b="1" noProof="0" dirty="0">
                  <a:solidFill>
                    <a:schemeClr val="bg1"/>
                  </a:solidFill>
                  <a:latin typeface="Palatino Linotype" panose="02040502050505030304" pitchFamily="18" charset="0"/>
                </a:rPr>
                <a:t>Technology</a:t>
              </a:r>
              <a:r>
                <a:rPr lang="en-CA" sz="1200" b="1" dirty="0">
                  <a:solidFill>
                    <a:schemeClr val="bg1"/>
                  </a:solidFill>
                  <a:latin typeface="Palatino Linotype" panose="02040502050505030304" pitchFamily="18" charset="0"/>
                </a:rPr>
                <a:t>, </a:t>
              </a:r>
              <a:r>
                <a:rPr lang="en-CA" sz="1200" b="1" noProof="0" dirty="0">
                  <a:solidFill>
                    <a:schemeClr val="bg1"/>
                  </a:solidFill>
                  <a:latin typeface="Palatino Linotype" panose="02040502050505030304" pitchFamily="18" charset="0"/>
                </a:rPr>
                <a:t>Media &amp; Communication</a:t>
              </a:r>
            </a:p>
          </p:txBody>
        </p:sp>
        <p:pic>
          <p:nvPicPr>
            <p:cNvPr id="216" name="Graphic 215" descr="Online Network with solid fill">
              <a:extLst>
                <a:ext uri="{FF2B5EF4-FFF2-40B4-BE49-F238E27FC236}">
                  <a16:creationId xmlns:a16="http://schemas.microsoft.com/office/drawing/2014/main" id="{1A6D2F00-7E32-7B77-0522-4F601D4D5B7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21633" y="5352453"/>
              <a:ext cx="360000" cy="360000"/>
            </a:xfrm>
            <a:prstGeom prst="rect">
              <a:avLst/>
            </a:prstGeom>
          </p:spPr>
        </p:pic>
      </p:grpSp>
      <p:grpSp>
        <p:nvGrpSpPr>
          <p:cNvPr id="247" name="Group 246">
            <a:extLst>
              <a:ext uri="{FF2B5EF4-FFF2-40B4-BE49-F238E27FC236}">
                <a16:creationId xmlns:a16="http://schemas.microsoft.com/office/drawing/2014/main" id="{319BA026-F510-691E-D965-2A2C6D7E36FE}"/>
              </a:ext>
            </a:extLst>
          </p:cNvPr>
          <p:cNvGrpSpPr/>
          <p:nvPr/>
        </p:nvGrpSpPr>
        <p:grpSpPr>
          <a:xfrm>
            <a:off x="576346" y="5132513"/>
            <a:ext cx="2677557" cy="538096"/>
            <a:chOff x="3233221" y="4682154"/>
            <a:chExt cx="2677557" cy="538096"/>
          </a:xfrm>
          <a:solidFill>
            <a:schemeClr val="bg1"/>
          </a:solidFill>
        </p:grpSpPr>
        <p:sp>
          <p:nvSpPr>
            <p:cNvPr id="175" name="Rectangle: Rounded Corners 174">
              <a:extLst>
                <a:ext uri="{FF2B5EF4-FFF2-40B4-BE49-F238E27FC236}">
                  <a16:creationId xmlns:a16="http://schemas.microsoft.com/office/drawing/2014/main" id="{F5CE8E9B-C200-9965-B7A9-CBBFCB89109B}"/>
                </a:ext>
              </a:extLst>
            </p:cNvPr>
            <p:cNvSpPr/>
            <p:nvPr/>
          </p:nvSpPr>
          <p:spPr>
            <a:xfrm>
              <a:off x="3233221" y="4682154"/>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solidFill>
                  <a:schemeClr val="bg1"/>
                </a:solidFill>
                <a:latin typeface="Palatino Linotype" panose="02040502050505030304" pitchFamily="18" charset="0"/>
              </a:endParaRPr>
            </a:p>
          </p:txBody>
        </p:sp>
        <p:sp>
          <p:nvSpPr>
            <p:cNvPr id="176" name="TextBox 175">
              <a:extLst>
                <a:ext uri="{FF2B5EF4-FFF2-40B4-BE49-F238E27FC236}">
                  <a16:creationId xmlns:a16="http://schemas.microsoft.com/office/drawing/2014/main" id="{FA223649-D5FB-E7EC-1AA8-6D9F9CF31E6E}"/>
                </a:ext>
              </a:extLst>
            </p:cNvPr>
            <p:cNvSpPr txBox="1"/>
            <p:nvPr/>
          </p:nvSpPr>
          <p:spPr>
            <a:xfrm>
              <a:off x="3605893" y="4820397"/>
              <a:ext cx="2304601" cy="276999"/>
            </a:xfrm>
            <a:prstGeom prst="rect">
              <a:avLst/>
            </a:prstGeom>
            <a:noFill/>
          </p:spPr>
          <p:txBody>
            <a:bodyPr wrap="square" rtlCol="0">
              <a:spAutoFit/>
            </a:bodyPr>
            <a:lstStyle/>
            <a:p>
              <a:r>
                <a:rPr lang="en-CA" sz="1200" b="1" noProof="0">
                  <a:solidFill>
                    <a:schemeClr val="bg1"/>
                  </a:solidFill>
                  <a:latin typeface="Palatino Linotype" panose="02040502050505030304" pitchFamily="18" charset="0"/>
                </a:rPr>
                <a:t>Healthcare</a:t>
              </a:r>
            </a:p>
          </p:txBody>
        </p:sp>
        <p:pic>
          <p:nvPicPr>
            <p:cNvPr id="220" name="Graphic 219" descr="Medical with solid fill">
              <a:extLst>
                <a:ext uri="{FF2B5EF4-FFF2-40B4-BE49-F238E27FC236}">
                  <a16:creationId xmlns:a16="http://schemas.microsoft.com/office/drawing/2014/main" id="{5A720001-A566-1676-57BA-E7010C8CA5C8}"/>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90398" y="4771202"/>
              <a:ext cx="360000" cy="360000"/>
            </a:xfrm>
            <a:prstGeom prst="rect">
              <a:avLst/>
            </a:prstGeom>
          </p:spPr>
        </p:pic>
      </p:grpSp>
      <p:grpSp>
        <p:nvGrpSpPr>
          <p:cNvPr id="251" name="Group 250">
            <a:extLst>
              <a:ext uri="{FF2B5EF4-FFF2-40B4-BE49-F238E27FC236}">
                <a16:creationId xmlns:a16="http://schemas.microsoft.com/office/drawing/2014/main" id="{DC737FAE-00DE-74DA-2942-B6A81139A5D0}"/>
              </a:ext>
            </a:extLst>
          </p:cNvPr>
          <p:cNvGrpSpPr/>
          <p:nvPr/>
        </p:nvGrpSpPr>
        <p:grpSpPr>
          <a:xfrm>
            <a:off x="3513695" y="4604592"/>
            <a:ext cx="2677557" cy="538096"/>
            <a:chOff x="6142520" y="4682154"/>
            <a:chExt cx="2677557" cy="538096"/>
          </a:xfrm>
          <a:solidFill>
            <a:schemeClr val="bg1"/>
          </a:solidFill>
        </p:grpSpPr>
        <p:sp>
          <p:nvSpPr>
            <p:cNvPr id="208" name="Rectangle: Rounded Corners 207">
              <a:extLst>
                <a:ext uri="{FF2B5EF4-FFF2-40B4-BE49-F238E27FC236}">
                  <a16:creationId xmlns:a16="http://schemas.microsoft.com/office/drawing/2014/main" id="{E6E5A182-9AA8-1D81-ACA4-0F6888CBCAD3}"/>
                </a:ext>
              </a:extLst>
            </p:cNvPr>
            <p:cNvSpPr/>
            <p:nvPr/>
          </p:nvSpPr>
          <p:spPr>
            <a:xfrm>
              <a:off x="6142520" y="4682154"/>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solidFill>
                  <a:schemeClr val="bg1"/>
                </a:solidFill>
                <a:latin typeface="Palatino Linotype" panose="02040502050505030304" pitchFamily="18" charset="0"/>
              </a:endParaRPr>
            </a:p>
          </p:txBody>
        </p:sp>
        <p:sp>
          <p:nvSpPr>
            <p:cNvPr id="209" name="TextBox 208">
              <a:extLst>
                <a:ext uri="{FF2B5EF4-FFF2-40B4-BE49-F238E27FC236}">
                  <a16:creationId xmlns:a16="http://schemas.microsoft.com/office/drawing/2014/main" id="{0EA9BFE7-9D96-0571-8712-2F7A000CBD2A}"/>
                </a:ext>
              </a:extLst>
            </p:cNvPr>
            <p:cNvSpPr txBox="1"/>
            <p:nvPr/>
          </p:nvSpPr>
          <p:spPr>
            <a:xfrm>
              <a:off x="6515192" y="4820397"/>
              <a:ext cx="2304601" cy="276999"/>
            </a:xfrm>
            <a:prstGeom prst="rect">
              <a:avLst/>
            </a:prstGeom>
            <a:noFill/>
          </p:spPr>
          <p:txBody>
            <a:bodyPr wrap="square" rtlCol="0">
              <a:spAutoFit/>
            </a:bodyPr>
            <a:lstStyle/>
            <a:p>
              <a:r>
                <a:rPr lang="en-CA" sz="1200" b="1" noProof="0">
                  <a:solidFill>
                    <a:schemeClr val="bg1"/>
                  </a:solidFill>
                  <a:latin typeface="Palatino Linotype" panose="02040502050505030304" pitchFamily="18" charset="0"/>
                </a:rPr>
                <a:t>Industrial &amp; Manufacturing</a:t>
              </a:r>
            </a:p>
          </p:txBody>
        </p:sp>
        <p:sp>
          <p:nvSpPr>
            <p:cNvPr id="221" name="Freeform 49">
              <a:extLst>
                <a:ext uri="{FF2B5EF4-FFF2-40B4-BE49-F238E27FC236}">
                  <a16:creationId xmlns:a16="http://schemas.microsoft.com/office/drawing/2014/main" id="{23FE106C-3F7E-25C2-195A-6C02EDD9DC58}"/>
                </a:ext>
              </a:extLst>
            </p:cNvPr>
            <p:cNvSpPr>
              <a:spLocks noEditPoints="1"/>
            </p:cNvSpPr>
            <p:nvPr/>
          </p:nvSpPr>
          <p:spPr bwMode="auto">
            <a:xfrm>
              <a:off x="6195428" y="4810894"/>
              <a:ext cx="337542" cy="280617"/>
            </a:xfrm>
            <a:custGeom>
              <a:avLst/>
              <a:gdLst>
                <a:gd name="T0" fmla="*/ 1125 w 2593"/>
                <a:gd name="T1" fmla="*/ 404 h 2489"/>
                <a:gd name="T2" fmla="*/ 1248 w 2593"/>
                <a:gd name="T3" fmla="*/ 284 h 2489"/>
                <a:gd name="T4" fmla="*/ 1256 w 2593"/>
                <a:gd name="T5" fmla="*/ 247 h 2489"/>
                <a:gd name="T6" fmla="*/ 1280 w 2593"/>
                <a:gd name="T7" fmla="*/ 214 h 2489"/>
                <a:gd name="T8" fmla="*/ 1317 w 2593"/>
                <a:gd name="T9" fmla="*/ 187 h 2489"/>
                <a:gd name="T10" fmla="*/ 1360 w 2593"/>
                <a:gd name="T11" fmla="*/ 174 h 2489"/>
                <a:gd name="T12" fmla="*/ 1405 w 2593"/>
                <a:gd name="T13" fmla="*/ 178 h 2489"/>
                <a:gd name="T14" fmla="*/ 1448 w 2593"/>
                <a:gd name="T15" fmla="*/ 204 h 2489"/>
                <a:gd name="T16" fmla="*/ 1467 w 2593"/>
                <a:gd name="T17" fmla="*/ 190 h 2489"/>
                <a:gd name="T18" fmla="*/ 1488 w 2593"/>
                <a:gd name="T19" fmla="*/ 142 h 2489"/>
                <a:gd name="T20" fmla="*/ 1526 w 2593"/>
                <a:gd name="T21" fmla="*/ 107 h 2489"/>
                <a:gd name="T22" fmla="*/ 1575 w 2593"/>
                <a:gd name="T23" fmla="*/ 87 h 2489"/>
                <a:gd name="T24" fmla="*/ 1628 w 2593"/>
                <a:gd name="T25" fmla="*/ 92 h 2489"/>
                <a:gd name="T26" fmla="*/ 1679 w 2593"/>
                <a:gd name="T27" fmla="*/ 124 h 2489"/>
                <a:gd name="T28" fmla="*/ 1713 w 2593"/>
                <a:gd name="T29" fmla="*/ 156 h 2489"/>
                <a:gd name="T30" fmla="*/ 1743 w 2593"/>
                <a:gd name="T31" fmla="*/ 75 h 2489"/>
                <a:gd name="T32" fmla="*/ 1815 w 2593"/>
                <a:gd name="T33" fmla="*/ 20 h 2489"/>
                <a:gd name="T34" fmla="*/ 1910 w 2593"/>
                <a:gd name="T35" fmla="*/ 0 h 2489"/>
                <a:gd name="T36" fmla="*/ 2006 w 2593"/>
                <a:gd name="T37" fmla="*/ 22 h 2489"/>
                <a:gd name="T38" fmla="*/ 2085 w 2593"/>
                <a:gd name="T39" fmla="*/ 95 h 2489"/>
                <a:gd name="T40" fmla="*/ 2123 w 2593"/>
                <a:gd name="T41" fmla="*/ 226 h 2489"/>
                <a:gd name="T42" fmla="*/ 2106 w 2593"/>
                <a:gd name="T43" fmla="*/ 372 h 2489"/>
                <a:gd name="T44" fmla="*/ 2045 w 2593"/>
                <a:gd name="T45" fmla="*/ 464 h 2489"/>
                <a:gd name="T46" fmla="*/ 1957 w 2593"/>
                <a:gd name="T47" fmla="*/ 505 h 2489"/>
                <a:gd name="T48" fmla="*/ 1861 w 2593"/>
                <a:gd name="T49" fmla="*/ 502 h 2489"/>
                <a:gd name="T50" fmla="*/ 1776 w 2593"/>
                <a:gd name="T51" fmla="*/ 461 h 2489"/>
                <a:gd name="T52" fmla="*/ 1722 w 2593"/>
                <a:gd name="T53" fmla="*/ 389 h 2489"/>
                <a:gd name="T54" fmla="*/ 1696 w 2593"/>
                <a:gd name="T55" fmla="*/ 361 h 2489"/>
                <a:gd name="T56" fmla="*/ 1650 w 2593"/>
                <a:gd name="T57" fmla="*/ 405 h 2489"/>
                <a:gd name="T58" fmla="*/ 1601 w 2593"/>
                <a:gd name="T59" fmla="*/ 418 h 2489"/>
                <a:gd name="T60" fmla="*/ 1554 w 2593"/>
                <a:gd name="T61" fmla="*/ 409 h 2489"/>
                <a:gd name="T62" fmla="*/ 1515 w 2593"/>
                <a:gd name="T63" fmla="*/ 383 h 2489"/>
                <a:gd name="T64" fmla="*/ 1487 w 2593"/>
                <a:gd name="T65" fmla="*/ 347 h 2489"/>
                <a:gd name="T66" fmla="*/ 1477 w 2593"/>
                <a:gd name="T67" fmla="*/ 310 h 2489"/>
                <a:gd name="T68" fmla="*/ 1458 w 2593"/>
                <a:gd name="T69" fmla="*/ 348 h 2489"/>
                <a:gd name="T70" fmla="*/ 1426 w 2593"/>
                <a:gd name="T71" fmla="*/ 372 h 2489"/>
                <a:gd name="T72" fmla="*/ 1388 w 2593"/>
                <a:gd name="T73" fmla="*/ 386 h 2489"/>
                <a:gd name="T74" fmla="*/ 1348 w 2593"/>
                <a:gd name="T75" fmla="*/ 385 h 2489"/>
                <a:gd name="T76" fmla="*/ 1309 w 2593"/>
                <a:gd name="T77" fmla="*/ 369 h 2489"/>
                <a:gd name="T78" fmla="*/ 1277 w 2593"/>
                <a:gd name="T79" fmla="*/ 341 h 2489"/>
                <a:gd name="T80" fmla="*/ 1267 w 2593"/>
                <a:gd name="T81" fmla="*/ 345 h 2489"/>
                <a:gd name="T82" fmla="*/ 1254 w 2593"/>
                <a:gd name="T83" fmla="*/ 369 h 2489"/>
                <a:gd name="T84" fmla="*/ 1204 w 2593"/>
                <a:gd name="T85" fmla="*/ 392 h 2489"/>
                <a:gd name="T86" fmla="*/ 1155 w 2593"/>
                <a:gd name="T87" fmla="*/ 392 h 2489"/>
                <a:gd name="T88" fmla="*/ 1161 w 2593"/>
                <a:gd name="T89" fmla="*/ 329 h 2489"/>
                <a:gd name="T90" fmla="*/ 1188 w 2593"/>
                <a:gd name="T91" fmla="*/ 283 h 2489"/>
                <a:gd name="T92" fmla="*/ 1219 w 2593"/>
                <a:gd name="T93" fmla="*/ 274 h 2489"/>
                <a:gd name="T94" fmla="*/ 1248 w 2593"/>
                <a:gd name="T95" fmla="*/ 284 h 2489"/>
                <a:gd name="T96" fmla="*/ 2032 w 2593"/>
                <a:gd name="T97" fmla="*/ 799 h 2489"/>
                <a:gd name="T98" fmla="*/ 2072 w 2593"/>
                <a:gd name="T99" fmla="*/ 762 h 2489"/>
                <a:gd name="T100" fmla="*/ 2142 w 2593"/>
                <a:gd name="T101" fmla="*/ 767 h 2489"/>
                <a:gd name="T102" fmla="*/ 2185 w 2593"/>
                <a:gd name="T103" fmla="*/ 1532 h 2489"/>
                <a:gd name="T104" fmla="*/ 2593 w 2593"/>
                <a:gd name="T105" fmla="*/ 2489 h 2489"/>
                <a:gd name="T106" fmla="*/ 308 w 2593"/>
                <a:gd name="T107" fmla="*/ 2044 h 2489"/>
                <a:gd name="T108" fmla="*/ 633 w 2593"/>
                <a:gd name="T109" fmla="*/ 1947 h 2489"/>
                <a:gd name="T110" fmla="*/ 1984 w 2593"/>
                <a:gd name="T111" fmla="*/ 1733 h 2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93" h="2489">
                  <a:moveTo>
                    <a:pt x="1336" y="794"/>
                  </a:moveTo>
                  <a:lnTo>
                    <a:pt x="824" y="794"/>
                  </a:lnTo>
                  <a:lnTo>
                    <a:pt x="824" y="643"/>
                  </a:lnTo>
                  <a:lnTo>
                    <a:pt x="1125" y="643"/>
                  </a:lnTo>
                  <a:lnTo>
                    <a:pt x="1125" y="404"/>
                  </a:lnTo>
                  <a:lnTo>
                    <a:pt x="1216" y="404"/>
                  </a:lnTo>
                  <a:lnTo>
                    <a:pt x="1216" y="643"/>
                  </a:lnTo>
                  <a:lnTo>
                    <a:pt x="1336" y="643"/>
                  </a:lnTo>
                  <a:lnTo>
                    <a:pt x="1336" y="794"/>
                  </a:lnTo>
                  <a:close/>
                  <a:moveTo>
                    <a:pt x="1248" y="284"/>
                  </a:moveTo>
                  <a:lnTo>
                    <a:pt x="1248" y="277"/>
                  </a:lnTo>
                  <a:lnTo>
                    <a:pt x="1249" y="269"/>
                  </a:lnTo>
                  <a:lnTo>
                    <a:pt x="1251" y="261"/>
                  </a:lnTo>
                  <a:lnTo>
                    <a:pt x="1253" y="254"/>
                  </a:lnTo>
                  <a:lnTo>
                    <a:pt x="1256" y="247"/>
                  </a:lnTo>
                  <a:lnTo>
                    <a:pt x="1260" y="240"/>
                  </a:lnTo>
                  <a:lnTo>
                    <a:pt x="1264" y="233"/>
                  </a:lnTo>
                  <a:lnTo>
                    <a:pt x="1269" y="227"/>
                  </a:lnTo>
                  <a:lnTo>
                    <a:pt x="1274" y="220"/>
                  </a:lnTo>
                  <a:lnTo>
                    <a:pt x="1280" y="214"/>
                  </a:lnTo>
                  <a:lnTo>
                    <a:pt x="1288" y="208"/>
                  </a:lnTo>
                  <a:lnTo>
                    <a:pt x="1294" y="202"/>
                  </a:lnTo>
                  <a:lnTo>
                    <a:pt x="1301" y="196"/>
                  </a:lnTo>
                  <a:lnTo>
                    <a:pt x="1309" y="192"/>
                  </a:lnTo>
                  <a:lnTo>
                    <a:pt x="1317" y="187"/>
                  </a:lnTo>
                  <a:lnTo>
                    <a:pt x="1325" y="184"/>
                  </a:lnTo>
                  <a:lnTo>
                    <a:pt x="1333" y="180"/>
                  </a:lnTo>
                  <a:lnTo>
                    <a:pt x="1342" y="178"/>
                  </a:lnTo>
                  <a:lnTo>
                    <a:pt x="1351" y="175"/>
                  </a:lnTo>
                  <a:lnTo>
                    <a:pt x="1360" y="174"/>
                  </a:lnTo>
                  <a:lnTo>
                    <a:pt x="1369" y="173"/>
                  </a:lnTo>
                  <a:lnTo>
                    <a:pt x="1378" y="173"/>
                  </a:lnTo>
                  <a:lnTo>
                    <a:pt x="1387" y="174"/>
                  </a:lnTo>
                  <a:lnTo>
                    <a:pt x="1397" y="175"/>
                  </a:lnTo>
                  <a:lnTo>
                    <a:pt x="1405" y="178"/>
                  </a:lnTo>
                  <a:lnTo>
                    <a:pt x="1414" y="181"/>
                  </a:lnTo>
                  <a:lnTo>
                    <a:pt x="1423" y="185"/>
                  </a:lnTo>
                  <a:lnTo>
                    <a:pt x="1431" y="191"/>
                  </a:lnTo>
                  <a:lnTo>
                    <a:pt x="1440" y="197"/>
                  </a:lnTo>
                  <a:lnTo>
                    <a:pt x="1448" y="204"/>
                  </a:lnTo>
                  <a:lnTo>
                    <a:pt x="1457" y="213"/>
                  </a:lnTo>
                  <a:lnTo>
                    <a:pt x="1464" y="223"/>
                  </a:lnTo>
                  <a:lnTo>
                    <a:pt x="1464" y="212"/>
                  </a:lnTo>
                  <a:lnTo>
                    <a:pt x="1465" y="201"/>
                  </a:lnTo>
                  <a:lnTo>
                    <a:pt x="1467" y="190"/>
                  </a:lnTo>
                  <a:lnTo>
                    <a:pt x="1469" y="180"/>
                  </a:lnTo>
                  <a:lnTo>
                    <a:pt x="1473" y="171"/>
                  </a:lnTo>
                  <a:lnTo>
                    <a:pt x="1477" y="161"/>
                  </a:lnTo>
                  <a:lnTo>
                    <a:pt x="1482" y="152"/>
                  </a:lnTo>
                  <a:lnTo>
                    <a:pt x="1488" y="142"/>
                  </a:lnTo>
                  <a:lnTo>
                    <a:pt x="1494" y="134"/>
                  </a:lnTo>
                  <a:lnTo>
                    <a:pt x="1501" y="126"/>
                  </a:lnTo>
                  <a:lnTo>
                    <a:pt x="1510" y="119"/>
                  </a:lnTo>
                  <a:lnTo>
                    <a:pt x="1518" y="113"/>
                  </a:lnTo>
                  <a:lnTo>
                    <a:pt x="1526" y="107"/>
                  </a:lnTo>
                  <a:lnTo>
                    <a:pt x="1535" y="102"/>
                  </a:lnTo>
                  <a:lnTo>
                    <a:pt x="1544" y="97"/>
                  </a:lnTo>
                  <a:lnTo>
                    <a:pt x="1554" y="93"/>
                  </a:lnTo>
                  <a:lnTo>
                    <a:pt x="1565" y="90"/>
                  </a:lnTo>
                  <a:lnTo>
                    <a:pt x="1575" y="87"/>
                  </a:lnTo>
                  <a:lnTo>
                    <a:pt x="1585" y="86"/>
                  </a:lnTo>
                  <a:lnTo>
                    <a:pt x="1595" y="86"/>
                  </a:lnTo>
                  <a:lnTo>
                    <a:pt x="1606" y="87"/>
                  </a:lnTo>
                  <a:lnTo>
                    <a:pt x="1616" y="89"/>
                  </a:lnTo>
                  <a:lnTo>
                    <a:pt x="1628" y="92"/>
                  </a:lnTo>
                  <a:lnTo>
                    <a:pt x="1638" y="96"/>
                  </a:lnTo>
                  <a:lnTo>
                    <a:pt x="1648" y="101"/>
                  </a:lnTo>
                  <a:lnTo>
                    <a:pt x="1659" y="107"/>
                  </a:lnTo>
                  <a:lnTo>
                    <a:pt x="1668" y="115"/>
                  </a:lnTo>
                  <a:lnTo>
                    <a:pt x="1679" y="124"/>
                  </a:lnTo>
                  <a:lnTo>
                    <a:pt x="1688" y="134"/>
                  </a:lnTo>
                  <a:lnTo>
                    <a:pt x="1697" y="145"/>
                  </a:lnTo>
                  <a:lnTo>
                    <a:pt x="1706" y="159"/>
                  </a:lnTo>
                  <a:lnTo>
                    <a:pt x="1714" y="174"/>
                  </a:lnTo>
                  <a:lnTo>
                    <a:pt x="1713" y="156"/>
                  </a:lnTo>
                  <a:lnTo>
                    <a:pt x="1715" y="137"/>
                  </a:lnTo>
                  <a:lnTo>
                    <a:pt x="1718" y="120"/>
                  </a:lnTo>
                  <a:lnTo>
                    <a:pt x="1724" y="105"/>
                  </a:lnTo>
                  <a:lnTo>
                    <a:pt x="1733" y="90"/>
                  </a:lnTo>
                  <a:lnTo>
                    <a:pt x="1743" y="75"/>
                  </a:lnTo>
                  <a:lnTo>
                    <a:pt x="1755" y="62"/>
                  </a:lnTo>
                  <a:lnTo>
                    <a:pt x="1768" y="50"/>
                  </a:lnTo>
                  <a:lnTo>
                    <a:pt x="1782" y="39"/>
                  </a:lnTo>
                  <a:lnTo>
                    <a:pt x="1799" y="28"/>
                  </a:lnTo>
                  <a:lnTo>
                    <a:pt x="1815" y="20"/>
                  </a:lnTo>
                  <a:lnTo>
                    <a:pt x="1833" y="13"/>
                  </a:lnTo>
                  <a:lnTo>
                    <a:pt x="1852" y="8"/>
                  </a:lnTo>
                  <a:lnTo>
                    <a:pt x="1871" y="3"/>
                  </a:lnTo>
                  <a:lnTo>
                    <a:pt x="1890" y="1"/>
                  </a:lnTo>
                  <a:lnTo>
                    <a:pt x="1910" y="0"/>
                  </a:lnTo>
                  <a:lnTo>
                    <a:pt x="1930" y="1"/>
                  </a:lnTo>
                  <a:lnTo>
                    <a:pt x="1949" y="3"/>
                  </a:lnTo>
                  <a:lnTo>
                    <a:pt x="1969" y="7"/>
                  </a:lnTo>
                  <a:lnTo>
                    <a:pt x="1988" y="14"/>
                  </a:lnTo>
                  <a:lnTo>
                    <a:pt x="2006" y="22"/>
                  </a:lnTo>
                  <a:lnTo>
                    <a:pt x="2025" y="33"/>
                  </a:lnTo>
                  <a:lnTo>
                    <a:pt x="2041" y="45"/>
                  </a:lnTo>
                  <a:lnTo>
                    <a:pt x="2057" y="59"/>
                  </a:lnTo>
                  <a:lnTo>
                    <a:pt x="2072" y="75"/>
                  </a:lnTo>
                  <a:lnTo>
                    <a:pt x="2085" y="95"/>
                  </a:lnTo>
                  <a:lnTo>
                    <a:pt x="2096" y="116"/>
                  </a:lnTo>
                  <a:lnTo>
                    <a:pt x="2106" y="139"/>
                  </a:lnTo>
                  <a:lnTo>
                    <a:pt x="2113" y="166"/>
                  </a:lnTo>
                  <a:lnTo>
                    <a:pt x="2119" y="194"/>
                  </a:lnTo>
                  <a:lnTo>
                    <a:pt x="2123" y="226"/>
                  </a:lnTo>
                  <a:lnTo>
                    <a:pt x="2125" y="259"/>
                  </a:lnTo>
                  <a:lnTo>
                    <a:pt x="2123" y="292"/>
                  </a:lnTo>
                  <a:lnTo>
                    <a:pt x="2119" y="320"/>
                  </a:lnTo>
                  <a:lnTo>
                    <a:pt x="2114" y="348"/>
                  </a:lnTo>
                  <a:lnTo>
                    <a:pt x="2106" y="372"/>
                  </a:lnTo>
                  <a:lnTo>
                    <a:pt x="2097" y="396"/>
                  </a:lnTo>
                  <a:lnTo>
                    <a:pt x="2086" y="415"/>
                  </a:lnTo>
                  <a:lnTo>
                    <a:pt x="2074" y="433"/>
                  </a:lnTo>
                  <a:lnTo>
                    <a:pt x="2059" y="450"/>
                  </a:lnTo>
                  <a:lnTo>
                    <a:pt x="2045" y="464"/>
                  </a:lnTo>
                  <a:lnTo>
                    <a:pt x="2029" y="476"/>
                  </a:lnTo>
                  <a:lnTo>
                    <a:pt x="2012" y="485"/>
                  </a:lnTo>
                  <a:lnTo>
                    <a:pt x="1994" y="493"/>
                  </a:lnTo>
                  <a:lnTo>
                    <a:pt x="1976" y="500"/>
                  </a:lnTo>
                  <a:lnTo>
                    <a:pt x="1957" y="505"/>
                  </a:lnTo>
                  <a:lnTo>
                    <a:pt x="1937" y="508"/>
                  </a:lnTo>
                  <a:lnTo>
                    <a:pt x="1918" y="508"/>
                  </a:lnTo>
                  <a:lnTo>
                    <a:pt x="1898" y="508"/>
                  </a:lnTo>
                  <a:lnTo>
                    <a:pt x="1879" y="506"/>
                  </a:lnTo>
                  <a:lnTo>
                    <a:pt x="1861" y="502"/>
                  </a:lnTo>
                  <a:lnTo>
                    <a:pt x="1842" y="496"/>
                  </a:lnTo>
                  <a:lnTo>
                    <a:pt x="1824" y="489"/>
                  </a:lnTo>
                  <a:lnTo>
                    <a:pt x="1808" y="481"/>
                  </a:lnTo>
                  <a:lnTo>
                    <a:pt x="1792" y="471"/>
                  </a:lnTo>
                  <a:lnTo>
                    <a:pt x="1776" y="461"/>
                  </a:lnTo>
                  <a:lnTo>
                    <a:pt x="1762" y="449"/>
                  </a:lnTo>
                  <a:lnTo>
                    <a:pt x="1750" y="435"/>
                  </a:lnTo>
                  <a:lnTo>
                    <a:pt x="1739" y="421"/>
                  </a:lnTo>
                  <a:lnTo>
                    <a:pt x="1729" y="405"/>
                  </a:lnTo>
                  <a:lnTo>
                    <a:pt x="1722" y="389"/>
                  </a:lnTo>
                  <a:lnTo>
                    <a:pt x="1716" y="371"/>
                  </a:lnTo>
                  <a:lnTo>
                    <a:pt x="1713" y="352"/>
                  </a:lnTo>
                  <a:lnTo>
                    <a:pt x="1711" y="333"/>
                  </a:lnTo>
                  <a:lnTo>
                    <a:pt x="1704" y="348"/>
                  </a:lnTo>
                  <a:lnTo>
                    <a:pt x="1696" y="361"/>
                  </a:lnTo>
                  <a:lnTo>
                    <a:pt x="1687" y="372"/>
                  </a:lnTo>
                  <a:lnTo>
                    <a:pt x="1679" y="383"/>
                  </a:lnTo>
                  <a:lnTo>
                    <a:pt x="1669" y="392"/>
                  </a:lnTo>
                  <a:lnTo>
                    <a:pt x="1659" y="399"/>
                  </a:lnTo>
                  <a:lnTo>
                    <a:pt x="1650" y="405"/>
                  </a:lnTo>
                  <a:lnTo>
                    <a:pt x="1641" y="410"/>
                  </a:lnTo>
                  <a:lnTo>
                    <a:pt x="1631" y="414"/>
                  </a:lnTo>
                  <a:lnTo>
                    <a:pt x="1622" y="416"/>
                  </a:lnTo>
                  <a:lnTo>
                    <a:pt x="1611" y="418"/>
                  </a:lnTo>
                  <a:lnTo>
                    <a:pt x="1601" y="418"/>
                  </a:lnTo>
                  <a:lnTo>
                    <a:pt x="1592" y="418"/>
                  </a:lnTo>
                  <a:lnTo>
                    <a:pt x="1582" y="417"/>
                  </a:lnTo>
                  <a:lnTo>
                    <a:pt x="1573" y="415"/>
                  </a:lnTo>
                  <a:lnTo>
                    <a:pt x="1564" y="412"/>
                  </a:lnTo>
                  <a:lnTo>
                    <a:pt x="1554" y="409"/>
                  </a:lnTo>
                  <a:lnTo>
                    <a:pt x="1546" y="404"/>
                  </a:lnTo>
                  <a:lnTo>
                    <a:pt x="1538" y="400"/>
                  </a:lnTo>
                  <a:lnTo>
                    <a:pt x="1530" y="395"/>
                  </a:lnTo>
                  <a:lnTo>
                    <a:pt x="1522" y="389"/>
                  </a:lnTo>
                  <a:lnTo>
                    <a:pt x="1515" y="383"/>
                  </a:lnTo>
                  <a:lnTo>
                    <a:pt x="1509" y="375"/>
                  </a:lnTo>
                  <a:lnTo>
                    <a:pt x="1502" y="369"/>
                  </a:lnTo>
                  <a:lnTo>
                    <a:pt x="1496" y="362"/>
                  </a:lnTo>
                  <a:lnTo>
                    <a:pt x="1491" y="354"/>
                  </a:lnTo>
                  <a:lnTo>
                    <a:pt x="1487" y="347"/>
                  </a:lnTo>
                  <a:lnTo>
                    <a:pt x="1484" y="340"/>
                  </a:lnTo>
                  <a:lnTo>
                    <a:pt x="1481" y="332"/>
                  </a:lnTo>
                  <a:lnTo>
                    <a:pt x="1479" y="325"/>
                  </a:lnTo>
                  <a:lnTo>
                    <a:pt x="1478" y="317"/>
                  </a:lnTo>
                  <a:lnTo>
                    <a:pt x="1477" y="310"/>
                  </a:lnTo>
                  <a:lnTo>
                    <a:pt x="1474" y="318"/>
                  </a:lnTo>
                  <a:lnTo>
                    <a:pt x="1471" y="327"/>
                  </a:lnTo>
                  <a:lnTo>
                    <a:pt x="1467" y="334"/>
                  </a:lnTo>
                  <a:lnTo>
                    <a:pt x="1463" y="341"/>
                  </a:lnTo>
                  <a:lnTo>
                    <a:pt x="1458" y="348"/>
                  </a:lnTo>
                  <a:lnTo>
                    <a:pt x="1453" y="354"/>
                  </a:lnTo>
                  <a:lnTo>
                    <a:pt x="1446" y="359"/>
                  </a:lnTo>
                  <a:lnTo>
                    <a:pt x="1440" y="364"/>
                  </a:lnTo>
                  <a:lnTo>
                    <a:pt x="1433" y="369"/>
                  </a:lnTo>
                  <a:lnTo>
                    <a:pt x="1426" y="372"/>
                  </a:lnTo>
                  <a:lnTo>
                    <a:pt x="1419" y="376"/>
                  </a:lnTo>
                  <a:lnTo>
                    <a:pt x="1412" y="379"/>
                  </a:lnTo>
                  <a:lnTo>
                    <a:pt x="1404" y="381"/>
                  </a:lnTo>
                  <a:lnTo>
                    <a:pt x="1397" y="384"/>
                  </a:lnTo>
                  <a:lnTo>
                    <a:pt x="1388" y="386"/>
                  </a:lnTo>
                  <a:lnTo>
                    <a:pt x="1380" y="386"/>
                  </a:lnTo>
                  <a:lnTo>
                    <a:pt x="1372" y="387"/>
                  </a:lnTo>
                  <a:lnTo>
                    <a:pt x="1364" y="387"/>
                  </a:lnTo>
                  <a:lnTo>
                    <a:pt x="1356" y="386"/>
                  </a:lnTo>
                  <a:lnTo>
                    <a:pt x="1348" y="385"/>
                  </a:lnTo>
                  <a:lnTo>
                    <a:pt x="1340" y="383"/>
                  </a:lnTo>
                  <a:lnTo>
                    <a:pt x="1331" y="380"/>
                  </a:lnTo>
                  <a:lnTo>
                    <a:pt x="1324" y="377"/>
                  </a:lnTo>
                  <a:lnTo>
                    <a:pt x="1316" y="373"/>
                  </a:lnTo>
                  <a:lnTo>
                    <a:pt x="1309" y="369"/>
                  </a:lnTo>
                  <a:lnTo>
                    <a:pt x="1302" y="365"/>
                  </a:lnTo>
                  <a:lnTo>
                    <a:pt x="1296" y="360"/>
                  </a:lnTo>
                  <a:lnTo>
                    <a:pt x="1290" y="354"/>
                  </a:lnTo>
                  <a:lnTo>
                    <a:pt x="1284" y="348"/>
                  </a:lnTo>
                  <a:lnTo>
                    <a:pt x="1277" y="341"/>
                  </a:lnTo>
                  <a:lnTo>
                    <a:pt x="1273" y="334"/>
                  </a:lnTo>
                  <a:lnTo>
                    <a:pt x="1268" y="326"/>
                  </a:lnTo>
                  <a:lnTo>
                    <a:pt x="1268" y="333"/>
                  </a:lnTo>
                  <a:lnTo>
                    <a:pt x="1268" y="339"/>
                  </a:lnTo>
                  <a:lnTo>
                    <a:pt x="1267" y="345"/>
                  </a:lnTo>
                  <a:lnTo>
                    <a:pt x="1266" y="351"/>
                  </a:lnTo>
                  <a:lnTo>
                    <a:pt x="1263" y="356"/>
                  </a:lnTo>
                  <a:lnTo>
                    <a:pt x="1261" y="360"/>
                  </a:lnTo>
                  <a:lnTo>
                    <a:pt x="1258" y="365"/>
                  </a:lnTo>
                  <a:lnTo>
                    <a:pt x="1254" y="369"/>
                  </a:lnTo>
                  <a:lnTo>
                    <a:pt x="1246" y="375"/>
                  </a:lnTo>
                  <a:lnTo>
                    <a:pt x="1236" y="381"/>
                  </a:lnTo>
                  <a:lnTo>
                    <a:pt x="1226" y="386"/>
                  </a:lnTo>
                  <a:lnTo>
                    <a:pt x="1215" y="390"/>
                  </a:lnTo>
                  <a:lnTo>
                    <a:pt x="1204" y="392"/>
                  </a:lnTo>
                  <a:lnTo>
                    <a:pt x="1193" y="393"/>
                  </a:lnTo>
                  <a:lnTo>
                    <a:pt x="1184" y="394"/>
                  </a:lnTo>
                  <a:lnTo>
                    <a:pt x="1175" y="395"/>
                  </a:lnTo>
                  <a:lnTo>
                    <a:pt x="1160" y="394"/>
                  </a:lnTo>
                  <a:lnTo>
                    <a:pt x="1155" y="392"/>
                  </a:lnTo>
                  <a:lnTo>
                    <a:pt x="1155" y="378"/>
                  </a:lnTo>
                  <a:lnTo>
                    <a:pt x="1155" y="366"/>
                  </a:lnTo>
                  <a:lnTo>
                    <a:pt x="1156" y="353"/>
                  </a:lnTo>
                  <a:lnTo>
                    <a:pt x="1158" y="341"/>
                  </a:lnTo>
                  <a:lnTo>
                    <a:pt x="1161" y="329"/>
                  </a:lnTo>
                  <a:lnTo>
                    <a:pt x="1164" y="317"/>
                  </a:lnTo>
                  <a:lnTo>
                    <a:pt x="1170" y="307"/>
                  </a:lnTo>
                  <a:lnTo>
                    <a:pt x="1175" y="298"/>
                  </a:lnTo>
                  <a:lnTo>
                    <a:pt x="1181" y="290"/>
                  </a:lnTo>
                  <a:lnTo>
                    <a:pt x="1188" y="283"/>
                  </a:lnTo>
                  <a:lnTo>
                    <a:pt x="1196" y="278"/>
                  </a:lnTo>
                  <a:lnTo>
                    <a:pt x="1205" y="275"/>
                  </a:lnTo>
                  <a:lnTo>
                    <a:pt x="1209" y="274"/>
                  </a:lnTo>
                  <a:lnTo>
                    <a:pt x="1214" y="274"/>
                  </a:lnTo>
                  <a:lnTo>
                    <a:pt x="1219" y="274"/>
                  </a:lnTo>
                  <a:lnTo>
                    <a:pt x="1224" y="275"/>
                  </a:lnTo>
                  <a:lnTo>
                    <a:pt x="1231" y="276"/>
                  </a:lnTo>
                  <a:lnTo>
                    <a:pt x="1236" y="278"/>
                  </a:lnTo>
                  <a:lnTo>
                    <a:pt x="1242" y="281"/>
                  </a:lnTo>
                  <a:lnTo>
                    <a:pt x="1248" y="284"/>
                  </a:lnTo>
                  <a:close/>
                  <a:moveTo>
                    <a:pt x="1984" y="1733"/>
                  </a:moveTo>
                  <a:lnTo>
                    <a:pt x="1984" y="1532"/>
                  </a:lnTo>
                  <a:lnTo>
                    <a:pt x="2035" y="1532"/>
                  </a:lnTo>
                  <a:lnTo>
                    <a:pt x="2035" y="798"/>
                  </a:lnTo>
                  <a:lnTo>
                    <a:pt x="2032" y="799"/>
                  </a:lnTo>
                  <a:lnTo>
                    <a:pt x="2030" y="799"/>
                  </a:lnTo>
                  <a:lnTo>
                    <a:pt x="2030" y="767"/>
                  </a:lnTo>
                  <a:lnTo>
                    <a:pt x="2043" y="764"/>
                  </a:lnTo>
                  <a:lnTo>
                    <a:pt x="2057" y="763"/>
                  </a:lnTo>
                  <a:lnTo>
                    <a:pt x="2072" y="762"/>
                  </a:lnTo>
                  <a:lnTo>
                    <a:pt x="2086" y="762"/>
                  </a:lnTo>
                  <a:lnTo>
                    <a:pt x="2100" y="762"/>
                  </a:lnTo>
                  <a:lnTo>
                    <a:pt x="2114" y="763"/>
                  </a:lnTo>
                  <a:lnTo>
                    <a:pt x="2129" y="764"/>
                  </a:lnTo>
                  <a:lnTo>
                    <a:pt x="2142" y="767"/>
                  </a:lnTo>
                  <a:lnTo>
                    <a:pt x="2142" y="799"/>
                  </a:lnTo>
                  <a:lnTo>
                    <a:pt x="2140" y="799"/>
                  </a:lnTo>
                  <a:lnTo>
                    <a:pt x="2137" y="798"/>
                  </a:lnTo>
                  <a:lnTo>
                    <a:pt x="2137" y="1532"/>
                  </a:lnTo>
                  <a:lnTo>
                    <a:pt x="2185" y="1532"/>
                  </a:lnTo>
                  <a:lnTo>
                    <a:pt x="2185" y="1768"/>
                  </a:lnTo>
                  <a:lnTo>
                    <a:pt x="2387" y="1768"/>
                  </a:lnTo>
                  <a:lnTo>
                    <a:pt x="2387" y="2141"/>
                  </a:lnTo>
                  <a:lnTo>
                    <a:pt x="2593" y="2141"/>
                  </a:lnTo>
                  <a:lnTo>
                    <a:pt x="2593" y="2489"/>
                  </a:lnTo>
                  <a:lnTo>
                    <a:pt x="0" y="2489"/>
                  </a:lnTo>
                  <a:lnTo>
                    <a:pt x="0" y="2327"/>
                  </a:lnTo>
                  <a:lnTo>
                    <a:pt x="211" y="2231"/>
                  </a:lnTo>
                  <a:lnTo>
                    <a:pt x="211" y="2044"/>
                  </a:lnTo>
                  <a:lnTo>
                    <a:pt x="308" y="2044"/>
                  </a:lnTo>
                  <a:lnTo>
                    <a:pt x="308" y="1947"/>
                  </a:lnTo>
                  <a:lnTo>
                    <a:pt x="486" y="1947"/>
                  </a:lnTo>
                  <a:lnTo>
                    <a:pt x="509" y="1462"/>
                  </a:lnTo>
                  <a:lnTo>
                    <a:pt x="619" y="1462"/>
                  </a:lnTo>
                  <a:lnTo>
                    <a:pt x="633" y="1947"/>
                  </a:lnTo>
                  <a:lnTo>
                    <a:pt x="698" y="1947"/>
                  </a:lnTo>
                  <a:lnTo>
                    <a:pt x="698" y="816"/>
                  </a:lnTo>
                  <a:lnTo>
                    <a:pt x="1426" y="816"/>
                  </a:lnTo>
                  <a:lnTo>
                    <a:pt x="1426" y="1733"/>
                  </a:lnTo>
                  <a:lnTo>
                    <a:pt x="1984" y="1733"/>
                  </a:lnTo>
                  <a:close/>
                </a:path>
              </a:pathLst>
            </a:custGeom>
            <a:grpFill/>
            <a:ln>
              <a:noFill/>
            </a:ln>
          </p:spPr>
          <p:txBody>
            <a:bodyPr vert="horz" wrap="square" lIns="91440" tIns="45720" rIns="91440" bIns="45720" numCol="1" anchor="t" anchorCtr="0" compatLnSpc="1">
              <a:prstTxWarp prst="textNoShape">
                <a:avLst/>
              </a:prstTxWarp>
            </a:bodyPr>
            <a:lstStyle/>
            <a:p>
              <a:endParaRPr lang="en-CA" noProof="0">
                <a:solidFill>
                  <a:schemeClr val="bg1"/>
                </a:solidFill>
                <a:latin typeface="Palatino Linotype" panose="02040502050505030304" pitchFamily="18" charset="0"/>
              </a:endParaRPr>
            </a:p>
          </p:txBody>
        </p:sp>
      </p:grpSp>
      <p:grpSp>
        <p:nvGrpSpPr>
          <p:cNvPr id="245" name="Group 244">
            <a:extLst>
              <a:ext uri="{FF2B5EF4-FFF2-40B4-BE49-F238E27FC236}">
                <a16:creationId xmlns:a16="http://schemas.microsoft.com/office/drawing/2014/main" id="{BCC40173-718D-2976-DFFE-A0587C51FDE3}"/>
              </a:ext>
            </a:extLst>
          </p:cNvPr>
          <p:cNvGrpSpPr/>
          <p:nvPr/>
        </p:nvGrpSpPr>
        <p:grpSpPr>
          <a:xfrm>
            <a:off x="576346" y="4076672"/>
            <a:ext cx="2677557" cy="538096"/>
            <a:chOff x="323925" y="5263405"/>
            <a:chExt cx="2677557" cy="538096"/>
          </a:xfrm>
          <a:solidFill>
            <a:schemeClr val="bg1"/>
          </a:solidFill>
        </p:grpSpPr>
        <p:sp>
          <p:nvSpPr>
            <p:cNvPr id="161" name="Rectangle: Rounded Corners 160">
              <a:extLst>
                <a:ext uri="{FF2B5EF4-FFF2-40B4-BE49-F238E27FC236}">
                  <a16:creationId xmlns:a16="http://schemas.microsoft.com/office/drawing/2014/main" id="{D43E8950-BDEB-E04C-11C6-16E492E5947C}"/>
                </a:ext>
              </a:extLst>
            </p:cNvPr>
            <p:cNvSpPr/>
            <p:nvPr/>
          </p:nvSpPr>
          <p:spPr>
            <a:xfrm>
              <a:off x="323925" y="5263405"/>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solidFill>
                  <a:schemeClr val="bg1"/>
                </a:solidFill>
                <a:latin typeface="Palatino Linotype" panose="02040502050505030304" pitchFamily="18" charset="0"/>
              </a:endParaRPr>
            </a:p>
          </p:txBody>
        </p:sp>
        <p:sp>
          <p:nvSpPr>
            <p:cNvPr id="163" name="TextBox 162">
              <a:extLst>
                <a:ext uri="{FF2B5EF4-FFF2-40B4-BE49-F238E27FC236}">
                  <a16:creationId xmlns:a16="http://schemas.microsoft.com/office/drawing/2014/main" id="{32454817-3AA7-D5AD-841C-47C8DC840335}"/>
                </a:ext>
              </a:extLst>
            </p:cNvPr>
            <p:cNvSpPr txBox="1"/>
            <p:nvPr/>
          </p:nvSpPr>
          <p:spPr>
            <a:xfrm>
              <a:off x="696597" y="5401648"/>
              <a:ext cx="2304601" cy="276999"/>
            </a:xfrm>
            <a:prstGeom prst="rect">
              <a:avLst/>
            </a:prstGeom>
            <a:noFill/>
          </p:spPr>
          <p:txBody>
            <a:bodyPr wrap="square" rtlCol="0">
              <a:spAutoFit/>
            </a:bodyPr>
            <a:lstStyle/>
            <a:p>
              <a:r>
                <a:rPr lang="en-CA" sz="1200" b="1" noProof="0">
                  <a:solidFill>
                    <a:schemeClr val="bg1"/>
                  </a:solidFill>
                  <a:latin typeface="Palatino Linotype" panose="02040502050505030304" pitchFamily="18" charset="0"/>
                </a:rPr>
                <a:t>Consumer &amp; Retail</a:t>
              </a:r>
            </a:p>
          </p:txBody>
        </p:sp>
        <p:pic>
          <p:nvPicPr>
            <p:cNvPr id="222" name="Graphic 221" descr="Target Audience with solid fill">
              <a:extLst>
                <a:ext uri="{FF2B5EF4-FFF2-40B4-BE49-F238E27FC236}">
                  <a16:creationId xmlns:a16="http://schemas.microsoft.com/office/drawing/2014/main" id="{F6C7BB26-74D8-FA18-989A-D837FCE02BD3}"/>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67506" y="5352453"/>
              <a:ext cx="360000" cy="360000"/>
            </a:xfrm>
            <a:prstGeom prst="rect">
              <a:avLst/>
            </a:prstGeom>
          </p:spPr>
        </p:pic>
      </p:grpSp>
      <p:grpSp>
        <p:nvGrpSpPr>
          <p:cNvPr id="47" name="Group 46">
            <a:extLst>
              <a:ext uri="{FF2B5EF4-FFF2-40B4-BE49-F238E27FC236}">
                <a16:creationId xmlns:a16="http://schemas.microsoft.com/office/drawing/2014/main" id="{85812157-5368-8E08-F544-DE775C70E4CA}"/>
              </a:ext>
            </a:extLst>
          </p:cNvPr>
          <p:cNvGrpSpPr/>
          <p:nvPr/>
        </p:nvGrpSpPr>
        <p:grpSpPr>
          <a:xfrm>
            <a:off x="3513695" y="4076672"/>
            <a:ext cx="2689416" cy="538096"/>
            <a:chOff x="6130661" y="5263405"/>
            <a:chExt cx="2689416" cy="538096"/>
          </a:xfrm>
          <a:solidFill>
            <a:schemeClr val="bg1"/>
          </a:solidFill>
        </p:grpSpPr>
        <p:sp>
          <p:nvSpPr>
            <p:cNvPr id="48" name="Rectangle: Rounded Corners 47">
              <a:extLst>
                <a:ext uri="{FF2B5EF4-FFF2-40B4-BE49-F238E27FC236}">
                  <a16:creationId xmlns:a16="http://schemas.microsoft.com/office/drawing/2014/main" id="{0CED01CE-8A0B-BEA2-269B-1DCC48B9794E}"/>
                </a:ext>
              </a:extLst>
            </p:cNvPr>
            <p:cNvSpPr/>
            <p:nvPr/>
          </p:nvSpPr>
          <p:spPr>
            <a:xfrm>
              <a:off x="6142520" y="5263405"/>
              <a:ext cx="2677557" cy="538096"/>
            </a:xfrm>
            <a:prstGeom prst="roundRect">
              <a:avLst>
                <a:gd name="adj" fmla="val 0"/>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solidFill>
                  <a:schemeClr val="bg1"/>
                </a:solidFill>
                <a:latin typeface="Palatino Linotype" panose="02040502050505030304" pitchFamily="18" charset="0"/>
              </a:endParaRPr>
            </a:p>
          </p:txBody>
        </p:sp>
        <p:sp>
          <p:nvSpPr>
            <p:cNvPr id="49" name="TextBox 48">
              <a:extLst>
                <a:ext uri="{FF2B5EF4-FFF2-40B4-BE49-F238E27FC236}">
                  <a16:creationId xmlns:a16="http://schemas.microsoft.com/office/drawing/2014/main" id="{829095AD-12B9-4D40-85E2-7C3390083A38}"/>
                </a:ext>
              </a:extLst>
            </p:cNvPr>
            <p:cNvSpPr txBox="1"/>
            <p:nvPr/>
          </p:nvSpPr>
          <p:spPr>
            <a:xfrm>
              <a:off x="6515192" y="5401648"/>
              <a:ext cx="2304601" cy="276999"/>
            </a:xfrm>
            <a:prstGeom prst="rect">
              <a:avLst/>
            </a:prstGeom>
            <a:noFill/>
          </p:spPr>
          <p:txBody>
            <a:bodyPr wrap="square" rtlCol="0">
              <a:spAutoFit/>
            </a:bodyPr>
            <a:lstStyle/>
            <a:p>
              <a:r>
                <a:rPr lang="en-CA" sz="1200" b="1" noProof="0">
                  <a:solidFill>
                    <a:schemeClr val="bg1"/>
                  </a:solidFill>
                  <a:latin typeface="Palatino Linotype" panose="02040502050505030304" pitchFamily="18" charset="0"/>
                </a:rPr>
                <a:t>Business Services</a:t>
              </a:r>
            </a:p>
          </p:txBody>
        </p:sp>
        <p:pic>
          <p:nvPicPr>
            <p:cNvPr id="50" name="Graphic 49" descr="Work from home desk with solid fill">
              <a:extLst>
                <a:ext uri="{FF2B5EF4-FFF2-40B4-BE49-F238E27FC236}">
                  <a16:creationId xmlns:a16="http://schemas.microsoft.com/office/drawing/2014/main" id="{CAFC346F-294E-A26C-E45F-74FA97DE6FC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130661" y="5339031"/>
              <a:ext cx="405196" cy="405196"/>
            </a:xfrm>
            <a:prstGeom prst="rect">
              <a:avLst/>
            </a:prstGeom>
          </p:spPr>
        </p:pic>
      </p:grpSp>
      <p:pic>
        <p:nvPicPr>
          <p:cNvPr id="13" name="Graphic 12" descr="Crops outline">
            <a:extLst>
              <a:ext uri="{FF2B5EF4-FFF2-40B4-BE49-F238E27FC236}">
                <a16:creationId xmlns:a16="http://schemas.microsoft.com/office/drawing/2014/main" id="{728016C9-C08E-F483-0AE7-91854D867A7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531424" y="5197401"/>
            <a:ext cx="408320" cy="408320"/>
          </a:xfrm>
          <a:prstGeom prst="rect">
            <a:avLst/>
          </a:prstGeom>
        </p:spPr>
      </p:pic>
    </p:spTree>
    <p:extLst>
      <p:ext uri="{BB962C8B-B14F-4D97-AF65-F5344CB8AC3E}">
        <p14:creationId xmlns:p14="http://schemas.microsoft.com/office/powerpoint/2010/main" val="1309262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2BBB9-3365-74F0-D6CC-3337274BA226}"/>
            </a:ext>
          </a:extLst>
        </p:cNvPr>
        <p:cNvGrpSpPr/>
        <p:nvPr/>
      </p:nvGrpSpPr>
      <p:grpSpPr>
        <a:xfrm>
          <a:off x="0" y="0"/>
          <a:ext cx="0" cy="0"/>
          <a:chOff x="0" y="0"/>
          <a:chExt cx="0" cy="0"/>
        </a:xfrm>
      </p:grpSpPr>
      <p:pic>
        <p:nvPicPr>
          <p:cNvPr id="33795" name="Picture 2" descr="Home - Wellington-Altus">
            <a:extLst>
              <a:ext uri="{FF2B5EF4-FFF2-40B4-BE49-F238E27FC236}">
                <a16:creationId xmlns:a16="http://schemas.microsoft.com/office/drawing/2014/main" id="{5151CC35-B6D4-03D0-D132-FDC112442BD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31669" y="5241230"/>
            <a:ext cx="913232" cy="280818"/>
          </a:xfrm>
          <a:prstGeom prst="rect">
            <a:avLst/>
          </a:prstGeom>
          <a:noFill/>
          <a:extLst>
            <a:ext uri="{909E8E84-426E-40DD-AFC4-6F175D3DCCD1}">
              <a14:hiddenFill xmlns:a14="http://schemas.microsoft.com/office/drawing/2010/main">
                <a:solidFill>
                  <a:srgbClr val="FFFFFF"/>
                </a:solidFill>
              </a14:hiddenFill>
            </a:ext>
          </a:extLst>
        </p:spPr>
      </p:pic>
      <p:sp>
        <p:nvSpPr>
          <p:cNvPr id="33794" name="Title 6">
            <a:extLst>
              <a:ext uri="{FF2B5EF4-FFF2-40B4-BE49-F238E27FC236}">
                <a16:creationId xmlns:a16="http://schemas.microsoft.com/office/drawing/2014/main" id="{AFD75319-6ABF-4EF6-F573-F655DB84C67C}"/>
              </a:ext>
            </a:extLst>
          </p:cNvPr>
          <p:cNvSpPr>
            <a:spLocks noGrp="1"/>
          </p:cNvSpPr>
          <p:nvPr>
            <p:ph type="title"/>
          </p:nvPr>
        </p:nvSpPr>
        <p:spPr/>
        <p:txBody>
          <a:bodyPr>
            <a:normAutofit/>
          </a:bodyPr>
          <a:lstStyle/>
          <a:p>
            <a:r>
              <a:rPr lang="en-CA" sz="2200" noProof="0"/>
              <a:t>Canada’s Top Independent M&amp;A Advisor</a:t>
            </a:r>
          </a:p>
        </p:txBody>
      </p:sp>
      <p:sp>
        <p:nvSpPr>
          <p:cNvPr id="3" name="Slide Number Placeholder 2">
            <a:extLst>
              <a:ext uri="{FF2B5EF4-FFF2-40B4-BE49-F238E27FC236}">
                <a16:creationId xmlns:a16="http://schemas.microsoft.com/office/drawing/2014/main" id="{22A8272C-9556-57E8-F5E3-72CDF51D727F}"/>
              </a:ext>
            </a:extLst>
          </p:cNvPr>
          <p:cNvSpPr>
            <a:spLocks noGrp="1"/>
          </p:cNvSpPr>
          <p:nvPr>
            <p:ph type="sldNum" sz="quarter" idx="12"/>
          </p:nvPr>
        </p:nvSpPr>
        <p:spPr/>
        <p:txBody>
          <a:bodyPr vert="horz" lIns="91440" tIns="45720" rIns="91440" bIns="45720" rtlCol="0" anchor="ctr" anchorCtr="0"/>
          <a:lstStyle/>
          <a:p>
            <a:fld id="{B0BBF262-6B1A-47DC-B7A7-A92B0DCA2A1B}" type="slidenum">
              <a:rPr lang="en-CA" noProof="0"/>
              <a:pPr/>
              <a:t>3</a:t>
            </a:fld>
            <a:endParaRPr lang="en-CA" noProof="0"/>
          </a:p>
        </p:txBody>
      </p:sp>
      <p:sp>
        <p:nvSpPr>
          <p:cNvPr id="14" name="Content Placeholder 7">
            <a:extLst>
              <a:ext uri="{FF2B5EF4-FFF2-40B4-BE49-F238E27FC236}">
                <a16:creationId xmlns:a16="http://schemas.microsoft.com/office/drawing/2014/main" id="{C2473C5A-3A9B-36AE-AC6D-7B1942814154}"/>
              </a:ext>
            </a:extLst>
          </p:cNvPr>
          <p:cNvSpPr txBox="1">
            <a:spLocks/>
          </p:cNvSpPr>
          <p:nvPr/>
        </p:nvSpPr>
        <p:spPr bwMode="auto">
          <a:xfrm>
            <a:off x="324000" y="1004271"/>
            <a:ext cx="8496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marL="342900" indent="-342900">
              <a:lnSpc>
                <a:spcPct val="90000"/>
              </a:lnSpc>
              <a:spcBef>
                <a:spcPts val="1000"/>
              </a:spcBef>
              <a:buFont typeface="Arial" panose="020B0604020202020204" pitchFamily="34" charset="0"/>
              <a:defRPr sz="1400">
                <a:solidFill>
                  <a:srgbClr val="1B2759"/>
                </a:solidFill>
                <a:latin typeface="Palatino Linotype" panose="02040502050505030304" pitchFamily="18" charset="0"/>
              </a:defRPr>
            </a:lvl1pPr>
            <a:lvl2pPr marL="285750" indent="-285750">
              <a:lnSpc>
                <a:spcPct val="90000"/>
              </a:lnSpc>
              <a:spcBef>
                <a:spcPts val="600"/>
              </a:spcBef>
              <a:buClr>
                <a:srgbClr val="960000"/>
              </a:buClr>
              <a:buFont typeface="Wingdings" panose="05000000000000000000" pitchFamily="2" charset="2"/>
              <a:buChar char="§"/>
              <a:defRPr sz="1200">
                <a:solidFill>
                  <a:srgbClr val="1B2759"/>
                </a:solidFill>
                <a:latin typeface="Palatino Linotype" panose="02040502050505030304" pitchFamily="18" charset="0"/>
              </a:defRPr>
            </a:lvl2pPr>
            <a:lvl3pPr marL="1143000" indent="-228600">
              <a:lnSpc>
                <a:spcPct val="90000"/>
              </a:lnSpc>
              <a:spcBef>
                <a:spcPts val="500"/>
              </a:spcBef>
              <a:buFont typeface="Arial" panose="020B0604020202020204" pitchFamily="34" charset="0"/>
              <a:defRPr sz="1200">
                <a:solidFill>
                  <a:schemeClr val="tx1"/>
                </a:solidFill>
                <a:latin typeface="Palatino Linotype" panose="02040502050505030304" pitchFamily="18" charset="0"/>
              </a:defRPr>
            </a:lvl3pPr>
            <a:lvl4pPr marL="1600200" indent="-228600">
              <a:lnSpc>
                <a:spcPct val="90000"/>
              </a:lnSpc>
              <a:spcBef>
                <a:spcPts val="500"/>
              </a:spcBef>
              <a:buFont typeface="Arial" panose="020B0604020202020204" pitchFamily="34" charset="0"/>
              <a:buChar char="•"/>
              <a:defRPr sz="1200">
                <a:solidFill>
                  <a:schemeClr val="tx1"/>
                </a:solidFill>
                <a:latin typeface="Palatino Linotype" panose="02040502050505030304" pitchFamily="18" charset="0"/>
              </a:defRPr>
            </a:lvl4pPr>
            <a:lvl5pPr marL="2057400" indent="-228600">
              <a:lnSpc>
                <a:spcPct val="90000"/>
              </a:lnSpc>
              <a:spcBef>
                <a:spcPts val="500"/>
              </a:spcBef>
              <a:buFont typeface="Arial" panose="020B0604020202020204" pitchFamily="34" charset="0"/>
              <a:buChar char="•"/>
              <a:defRPr sz="1200">
                <a:solidFill>
                  <a:schemeClr val="tx1"/>
                </a:solidFill>
                <a:latin typeface="Palatino Linotype" panose="020405020505050303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200">
                <a:solidFill>
                  <a:schemeClr val="tx1"/>
                </a:solidFill>
                <a:latin typeface="Palatino Linotype" panose="02040502050505030304" pitchFamily="18" charset="0"/>
              </a:defRPr>
            </a:lvl9pPr>
          </a:lstStyle>
          <a:p>
            <a:pPr marL="180000" marR="0" lvl="1" indent="-180000" algn="l" defTabSz="914400" rtl="0" eaLnBrk="1" fontAlgn="auto" latinLnBrk="0" hangingPunct="1">
              <a:lnSpc>
                <a:spcPct val="100000"/>
              </a:lnSpc>
              <a:spcBef>
                <a:spcPts val="200"/>
              </a:spcBef>
              <a:spcAft>
                <a:spcPts val="200"/>
              </a:spcAft>
              <a:buClr>
                <a:srgbClr val="1B2759"/>
              </a:buClr>
              <a:buSzTx/>
              <a:buFont typeface="Wingdings" panose="05000000000000000000" pitchFamily="2" charset="2"/>
              <a:buChar char="§"/>
              <a:tabLst/>
              <a:defRPr/>
            </a:pPr>
            <a:r>
              <a:rPr kumimoji="0" lang="en-CA" sz="12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rPr>
              <a:t>INFOR Financial has established itself as </a:t>
            </a:r>
            <a:r>
              <a:rPr lang="en-CA" noProof="0">
                <a:solidFill>
                  <a:prstClr val="black"/>
                </a:solidFill>
              </a:rPr>
              <a:t>the #1 </a:t>
            </a:r>
            <a:r>
              <a:rPr kumimoji="0" lang="en-CA" sz="12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rPr>
              <a:t>Canadian independent M&amp;A advisory investment bank since inception in March 2015, </a:t>
            </a:r>
            <a:r>
              <a:rPr lang="en-CA" b="1" u="sng" noProof="0">
                <a:solidFill>
                  <a:prstClr val="black"/>
                </a:solidFill>
              </a:rPr>
              <a:t>total </a:t>
            </a:r>
            <a:r>
              <a:rPr kumimoji="0" lang="en-CA" sz="1200" b="1" i="0" u="sng" strike="noStrike" kern="1200" cap="none" spc="0" normalizeH="0" baseline="0" noProof="0">
                <a:ln>
                  <a:noFill/>
                </a:ln>
                <a:solidFill>
                  <a:prstClr val="black"/>
                </a:solidFill>
                <a:effectLst/>
                <a:uLnTx/>
                <a:uFillTx/>
                <a:latin typeface="Palatino Linotype" panose="02040502050505030304" pitchFamily="18" charset="0"/>
                <a:ea typeface="+mn-ea"/>
                <a:cs typeface="+mn-cs"/>
              </a:rPr>
              <a:t>M&amp;A transaction value of </a:t>
            </a:r>
            <a:r>
              <a:rPr lang="en-CA" b="1" u="sng" noProof="0">
                <a:solidFill>
                  <a:prstClr val="black"/>
                </a:solidFill>
              </a:rPr>
              <a:t>~</a:t>
            </a:r>
            <a:r>
              <a:rPr kumimoji="0" lang="en-CA" sz="1200" b="1" i="0" u="sng" strike="noStrike" kern="1200" cap="none" spc="0" normalizeH="0" baseline="0" noProof="0">
                <a:ln>
                  <a:noFill/>
                </a:ln>
                <a:solidFill>
                  <a:prstClr val="black"/>
                </a:solidFill>
                <a:effectLst/>
                <a:uLnTx/>
                <a:uFillTx/>
                <a:latin typeface="Palatino Linotype" panose="02040502050505030304" pitchFamily="18" charset="0"/>
                <a:ea typeface="+mn-ea"/>
                <a:cs typeface="+mn-cs"/>
              </a:rPr>
              <a:t>$</a:t>
            </a:r>
            <a:r>
              <a:rPr lang="en-CA" b="1" u="sng" noProof="0">
                <a:solidFill>
                  <a:prstClr val="black"/>
                </a:solidFill>
              </a:rPr>
              <a:t>47</a:t>
            </a:r>
            <a:r>
              <a:rPr kumimoji="0" lang="en-CA" sz="1200" b="1" i="0" u="sng" strike="noStrike" kern="1200" cap="none" spc="0" normalizeH="0" baseline="0" noProof="0">
                <a:ln>
                  <a:noFill/>
                </a:ln>
                <a:solidFill>
                  <a:prstClr val="black"/>
                </a:solidFill>
                <a:effectLst/>
                <a:uLnTx/>
                <a:uFillTx/>
                <a:latin typeface="Palatino Linotype" panose="02040502050505030304" pitchFamily="18" charset="0"/>
                <a:ea typeface="+mn-ea"/>
                <a:cs typeface="+mn-cs"/>
              </a:rPr>
              <a:t> billion</a:t>
            </a:r>
          </a:p>
        </p:txBody>
      </p:sp>
      <p:sp>
        <p:nvSpPr>
          <p:cNvPr id="24" name="Rectangle 42">
            <a:extLst>
              <a:ext uri="{FF2B5EF4-FFF2-40B4-BE49-F238E27FC236}">
                <a16:creationId xmlns:a16="http://schemas.microsoft.com/office/drawing/2014/main" id="{46D313DC-7737-6272-DE08-133C4393136C}"/>
              </a:ext>
            </a:extLst>
          </p:cNvPr>
          <p:cNvSpPr>
            <a:spLocks noChangeArrowheads="1"/>
          </p:cNvSpPr>
          <p:nvPr/>
        </p:nvSpPr>
        <p:spPr bwMode="auto">
          <a:xfrm>
            <a:off x="324000" y="1814778"/>
            <a:ext cx="4206240" cy="2543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CA" sz="1200" b="1" noProof="0">
                <a:solidFill>
                  <a:prstClr val="white"/>
                </a:solidFill>
                <a:latin typeface="Palatino Linotype" panose="02040502050505030304" pitchFamily="18" charset="0"/>
              </a:rPr>
              <a:t>2015-2026 – Independent Advisory Investment Banks</a:t>
            </a:r>
          </a:p>
        </p:txBody>
      </p:sp>
      <p:sp>
        <p:nvSpPr>
          <p:cNvPr id="17" name="Rectangle 42">
            <a:extLst>
              <a:ext uri="{FF2B5EF4-FFF2-40B4-BE49-F238E27FC236}">
                <a16:creationId xmlns:a16="http://schemas.microsoft.com/office/drawing/2014/main" id="{540852DF-33CB-8C20-FB80-7E282E77C42A}"/>
              </a:ext>
            </a:extLst>
          </p:cNvPr>
          <p:cNvSpPr>
            <a:spLocks noChangeArrowheads="1"/>
          </p:cNvSpPr>
          <p:nvPr/>
        </p:nvSpPr>
        <p:spPr bwMode="auto">
          <a:xfrm>
            <a:off x="324000" y="1482516"/>
            <a:ext cx="8483690" cy="30777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a:ln>
                  <a:noFill/>
                </a:ln>
                <a:solidFill>
                  <a:prstClr val="white"/>
                </a:solidFill>
                <a:effectLst/>
                <a:uLnTx/>
                <a:uFillTx/>
                <a:latin typeface="Palatino Linotype" panose="02040502050505030304" pitchFamily="18" charset="0"/>
                <a:ea typeface="+mn-ea"/>
                <a:cs typeface="+mn-cs"/>
              </a:rPr>
              <a:t>Canadian M&amp;A Advisory Rankings (C$B)</a:t>
            </a:r>
          </a:p>
        </p:txBody>
      </p:sp>
      <p:sp>
        <p:nvSpPr>
          <p:cNvPr id="4" name="TextBox 3">
            <a:extLst>
              <a:ext uri="{FF2B5EF4-FFF2-40B4-BE49-F238E27FC236}">
                <a16:creationId xmlns:a16="http://schemas.microsoft.com/office/drawing/2014/main" id="{96FE364C-BA09-7044-A26A-B278E836C52D}"/>
              </a:ext>
            </a:extLst>
          </p:cNvPr>
          <p:cNvSpPr txBox="1"/>
          <p:nvPr/>
        </p:nvSpPr>
        <p:spPr>
          <a:xfrm>
            <a:off x="239832" y="4432111"/>
            <a:ext cx="3461392" cy="198131"/>
          </a:xfrm>
          <a:prstGeom prst="rect">
            <a:avLst/>
          </a:prstGeom>
          <a:noFill/>
        </p:spPr>
        <p:txBody>
          <a:bodyPr wrap="square" rtlCol="0">
            <a:spAutoFit/>
          </a:bodyPr>
          <a:lstStyle/>
          <a:p>
            <a:pPr>
              <a:lnSpc>
                <a:spcPct val="85000"/>
              </a:lnSpc>
              <a:spcBef>
                <a:spcPct val="0"/>
              </a:spcBef>
              <a:defRPr/>
            </a:pPr>
            <a:r>
              <a:rPr lang="en-CA" sz="800" noProof="0">
                <a:solidFill>
                  <a:prstClr val="black"/>
                </a:solidFill>
                <a:latin typeface="Palatino Linotype" panose="02040502050505030304" pitchFamily="18" charset="0"/>
              </a:rPr>
              <a:t>Source: Bloomberg M&amp;A League Tables  (Mar. 23, 2015 – Mar. 31, 2026)</a:t>
            </a:r>
            <a:endParaRPr lang="en-CA" sz="800" noProof="0">
              <a:solidFill>
                <a:prstClr val="black"/>
              </a:solidFill>
              <a:highlight>
                <a:srgbClr val="FFFF00"/>
              </a:highlight>
              <a:latin typeface="Palatino Linotype" panose="02040502050505030304" pitchFamily="18" charset="0"/>
            </a:endParaRPr>
          </a:p>
        </p:txBody>
      </p:sp>
      <p:pic>
        <p:nvPicPr>
          <p:cNvPr id="19" name="Picture 18">
            <a:extLst>
              <a:ext uri="{FF2B5EF4-FFF2-40B4-BE49-F238E27FC236}">
                <a16:creationId xmlns:a16="http://schemas.microsoft.com/office/drawing/2014/main" id="{13F941DE-A7DA-348C-1F47-F5AF17D9A5EA}"/>
              </a:ext>
            </a:extLst>
          </p:cNvPr>
          <p:cNvPicPr>
            <a:picLocks noChangeAspect="1"/>
          </p:cNvPicPr>
          <p:nvPr>
            <p:custDataLst>
              <p:tags r:id="rId1"/>
            </p:custDataLst>
          </p:nvPr>
        </p:nvPicPr>
        <p:blipFill>
          <a:blip r:embed="rId6"/>
          <a:stretch>
            <a:fillRect/>
          </a:stretch>
        </p:blipFill>
        <p:spPr>
          <a:xfrm>
            <a:off x="971012" y="2077673"/>
            <a:ext cx="3461392" cy="2369043"/>
          </a:xfrm>
          <a:prstGeom prst="rect">
            <a:avLst/>
          </a:prstGeom>
        </p:spPr>
      </p:pic>
      <p:pic>
        <p:nvPicPr>
          <p:cNvPr id="7" name="Picture 6">
            <a:extLst>
              <a:ext uri="{FF2B5EF4-FFF2-40B4-BE49-F238E27FC236}">
                <a16:creationId xmlns:a16="http://schemas.microsoft.com/office/drawing/2014/main" id="{695BCFD4-AD5B-0530-CED0-2B2632AB0058}"/>
              </a:ext>
            </a:extLst>
          </p:cNvPr>
          <p:cNvPicPr>
            <a:picLocks noChangeAspect="1"/>
          </p:cNvPicPr>
          <p:nvPr/>
        </p:nvPicPr>
        <p:blipFill>
          <a:blip r:embed="rId7"/>
          <a:srcRect/>
          <a:stretch/>
        </p:blipFill>
        <p:spPr>
          <a:xfrm>
            <a:off x="317117" y="2263181"/>
            <a:ext cx="1121193" cy="260677"/>
          </a:xfrm>
          <a:prstGeom prst="rect">
            <a:avLst/>
          </a:prstGeom>
          <a:solidFill>
            <a:scrgbClr r="0" g="0" b="0">
              <a:alpha val="0"/>
            </a:scrgbClr>
          </a:solidFill>
        </p:spPr>
      </p:pic>
      <p:pic>
        <p:nvPicPr>
          <p:cNvPr id="8" name="Picture 6" descr="GLOBE Exchange Archives - GLOBE 2020">
            <a:extLst>
              <a:ext uri="{FF2B5EF4-FFF2-40B4-BE49-F238E27FC236}">
                <a16:creationId xmlns:a16="http://schemas.microsoft.com/office/drawing/2014/main" id="{3EBAA551-433A-FCA6-97C2-A292914567C0}"/>
              </a:ext>
            </a:extLst>
          </p:cNvPr>
          <p:cNvPicPr>
            <a:picLocks noChangeAspect="1" noChangeArrowheads="1"/>
          </p:cNvPicPr>
          <p:nvPr/>
        </p:nvPicPr>
        <p:blipFill>
          <a:blip r:embed="rId8"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32473" y="3223376"/>
            <a:ext cx="905837" cy="13178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0EA0F539-24B5-F038-DABD-6F8C6186BC1E}"/>
              </a:ext>
            </a:extLst>
          </p:cNvPr>
          <p:cNvPicPr>
            <a:picLocks noChangeAspect="1"/>
          </p:cNvPicPr>
          <p:nvPr/>
        </p:nvPicPr>
        <p:blipFill>
          <a:blip r:embed="rId9">
            <a:clrChange>
              <a:clrFrom>
                <a:srgbClr val="FFFFFF"/>
              </a:clrFrom>
              <a:clrTo>
                <a:srgbClr val="FFFFFF">
                  <a:alpha val="0"/>
                </a:srgbClr>
              </a:clrTo>
            </a:clrChange>
            <a:duotone>
              <a:schemeClr val="accent5">
                <a:shade val="45000"/>
                <a:satMod val="135000"/>
              </a:schemeClr>
              <a:prstClr val="white"/>
            </a:duotone>
          </a:blip>
          <a:srcRect l="8368" t="18039" r="9692" b="14894"/>
          <a:stretch>
            <a:fillRect/>
          </a:stretch>
        </p:blipFill>
        <p:spPr>
          <a:xfrm>
            <a:off x="749036" y="2686050"/>
            <a:ext cx="689274" cy="277677"/>
          </a:xfrm>
          <a:prstGeom prst="rect">
            <a:avLst/>
          </a:prstGeom>
        </p:spPr>
      </p:pic>
      <p:pic>
        <p:nvPicPr>
          <p:cNvPr id="11" name="Picture 6" descr="Blair Franklin Capital Partners | LinkedIn">
            <a:extLst>
              <a:ext uri="{FF2B5EF4-FFF2-40B4-BE49-F238E27FC236}">
                <a16:creationId xmlns:a16="http://schemas.microsoft.com/office/drawing/2014/main" id="{FAB5B949-E774-F0A2-2D8A-6EFAEEAE6569}"/>
              </a:ext>
            </a:extLst>
          </p:cNvPr>
          <p:cNvPicPr>
            <a:picLocks noChangeAspect="1" noChangeArrowheads="1"/>
          </p:cNvPicPr>
          <p:nvPr/>
        </p:nvPicPr>
        <p:blipFill>
          <a:blip r:embed="rId10"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88423" y="3541867"/>
            <a:ext cx="349887" cy="34988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descr="Origin Merchant Partners Deepens its Industrials and Consumer Practices  with the addition of CCC Investment Banking">
            <a:extLst>
              <a:ext uri="{FF2B5EF4-FFF2-40B4-BE49-F238E27FC236}">
                <a16:creationId xmlns:a16="http://schemas.microsoft.com/office/drawing/2014/main" id="{853AA31A-CE67-563F-036E-1553F7B086F1}"/>
              </a:ext>
            </a:extLst>
          </p:cNvPr>
          <p:cNvPicPr>
            <a:picLocks noChangeAspect="1" noChangeArrowheads="1"/>
          </p:cNvPicPr>
          <p:nvPr/>
        </p:nvPicPr>
        <p:blipFill rotWithShape="1">
          <a:blip r:embed="rId11" cstate="print">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val="0"/>
              </a:ext>
            </a:extLst>
          </a:blip>
          <a:srcRect l="2815" t="11663" r="2815" b="11663"/>
          <a:stretch>
            <a:fillRect/>
          </a:stretch>
        </p:blipFill>
        <p:spPr bwMode="auto">
          <a:xfrm>
            <a:off x="532472" y="4070871"/>
            <a:ext cx="905838" cy="219644"/>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42">
            <a:extLst>
              <a:ext uri="{FF2B5EF4-FFF2-40B4-BE49-F238E27FC236}">
                <a16:creationId xmlns:a16="http://schemas.microsoft.com/office/drawing/2014/main" id="{AF525A1C-7EE9-CABC-8B37-D588A4FA4D8D}"/>
              </a:ext>
            </a:extLst>
          </p:cNvPr>
          <p:cNvSpPr>
            <a:spLocks noChangeArrowheads="1"/>
          </p:cNvSpPr>
          <p:nvPr/>
        </p:nvSpPr>
        <p:spPr bwMode="auto">
          <a:xfrm>
            <a:off x="4601450" y="1814778"/>
            <a:ext cx="4206240" cy="2543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CA" sz="1200" b="1" noProof="0">
                <a:solidFill>
                  <a:prstClr val="white"/>
                </a:solidFill>
                <a:latin typeface="Palatino Linotype" panose="02040502050505030304" pitchFamily="18" charset="0"/>
              </a:rPr>
              <a:t>2025 – Independent Advisory Investment Banks</a:t>
            </a:r>
          </a:p>
        </p:txBody>
      </p:sp>
      <p:pic>
        <p:nvPicPr>
          <p:cNvPr id="16" name="Graphic 15">
            <a:extLst>
              <a:ext uri="{FF2B5EF4-FFF2-40B4-BE49-F238E27FC236}">
                <a16:creationId xmlns:a16="http://schemas.microsoft.com/office/drawing/2014/main" id="{E177EC77-64FA-64F6-3B97-FB69AEAD84A9}"/>
              </a:ext>
            </a:extLst>
          </p:cNvPr>
          <p:cNvPicPr>
            <a:picLocks noChangeAspect="1"/>
          </p:cNvPicPr>
          <p:nvPr>
            <p:custDataLst>
              <p:tags r:id="rId2"/>
            </p:custDataLst>
          </p:nvPr>
        </p:nvPicPr>
        <p:blipFill>
          <a:blip>
            <a:extLst>
              <a:ext uri="{96DAC541-7B7A-43D3-8B79-37D633B846F1}">
                <asvg:svgBlip xmlns:asvg="http://schemas.microsoft.com/office/drawing/2016/SVG/main" r:embed="rId12"/>
              </a:ext>
            </a:extLst>
          </a:blip>
          <a:stretch>
            <a:fillRect/>
          </a:stretch>
        </p:blipFill>
        <p:spPr>
          <a:xfrm>
            <a:off x="5710471" y="2021911"/>
            <a:ext cx="3124800" cy="2486502"/>
          </a:xfrm>
          <a:prstGeom prst="rect">
            <a:avLst/>
          </a:prstGeom>
        </p:spPr>
      </p:pic>
      <p:pic>
        <p:nvPicPr>
          <p:cNvPr id="21" name="Picture 20">
            <a:extLst>
              <a:ext uri="{FF2B5EF4-FFF2-40B4-BE49-F238E27FC236}">
                <a16:creationId xmlns:a16="http://schemas.microsoft.com/office/drawing/2014/main" id="{719D1348-FA81-8B6C-FA57-A93B124C403B}"/>
              </a:ext>
            </a:extLst>
          </p:cNvPr>
          <p:cNvPicPr>
            <a:picLocks noChangeAspect="1"/>
          </p:cNvPicPr>
          <p:nvPr/>
        </p:nvPicPr>
        <p:blipFill>
          <a:blip r:embed="rId13"/>
          <a:srcRect/>
          <a:stretch/>
        </p:blipFill>
        <p:spPr>
          <a:xfrm>
            <a:off x="4583162" y="2263181"/>
            <a:ext cx="1105190" cy="257260"/>
          </a:xfrm>
          <a:prstGeom prst="rect">
            <a:avLst/>
          </a:prstGeom>
        </p:spPr>
      </p:pic>
      <p:sp>
        <p:nvSpPr>
          <p:cNvPr id="51" name="TextBox 50">
            <a:extLst>
              <a:ext uri="{FF2B5EF4-FFF2-40B4-BE49-F238E27FC236}">
                <a16:creationId xmlns:a16="http://schemas.microsoft.com/office/drawing/2014/main" id="{8D27CFC1-6B96-CE8A-6547-7EA6A05672B8}"/>
              </a:ext>
            </a:extLst>
          </p:cNvPr>
          <p:cNvSpPr txBox="1">
            <a:spLocks/>
          </p:cNvSpPr>
          <p:nvPr/>
        </p:nvSpPr>
        <p:spPr>
          <a:xfrm>
            <a:off x="4647485" y="4966442"/>
            <a:ext cx="1281600" cy="1345238"/>
          </a:xfrm>
          <a:prstGeom prst="rect">
            <a:avLst/>
          </a:prstGeom>
          <a:noFill/>
          <a:ln w="9525">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Box 51">
            <a:extLst>
              <a:ext uri="{FF2B5EF4-FFF2-40B4-BE49-F238E27FC236}">
                <a16:creationId xmlns:a16="http://schemas.microsoft.com/office/drawing/2014/main" id="{C9629732-8851-3D74-7E26-23F55576C5FC}"/>
              </a:ext>
            </a:extLst>
          </p:cNvPr>
          <p:cNvSpPr txBox="1"/>
          <p:nvPr/>
        </p:nvSpPr>
        <p:spPr>
          <a:xfrm>
            <a:off x="4688873" y="5893122"/>
            <a:ext cx="1198824" cy="403957"/>
          </a:xfrm>
          <a:prstGeom prst="rect">
            <a:avLst/>
          </a:prstGeom>
          <a:noFill/>
        </p:spPr>
        <p:txBody>
          <a:bodyPr wrap="square" lIns="0" rIns="0" rtlCol="0" anchor="ctr">
            <a:spAutoFit/>
          </a:bodyPr>
          <a:lstStyle>
            <a:defPPr>
              <a:defRPr lang="en-US"/>
            </a:defPPr>
            <a:lvl1pPr algn="ctr">
              <a:lnSpc>
                <a:spcPct val="90000"/>
              </a:lnSpc>
              <a:defRPr sz="750" b="1">
                <a:latin typeface="Palatino Linotype" panose="02040502050505030304" pitchFamily="18" charset="0"/>
                <a:cs typeface="Arial" panose="020B0604020202020204" pitchFamily="34" charset="0"/>
              </a:defRPr>
            </a:lvl1pPr>
          </a:lstStyle>
          <a:p>
            <a:r>
              <a:rPr lang="en-CA" noProof="0"/>
              <a:t>Strategic Minority Investment from </a:t>
            </a:r>
          </a:p>
          <a:p>
            <a:r>
              <a:rPr lang="en-CA" noProof="0"/>
              <a:t>Kelso Private Equity</a:t>
            </a:r>
          </a:p>
        </p:txBody>
      </p:sp>
      <p:cxnSp>
        <p:nvCxnSpPr>
          <p:cNvPr id="53" name="Straight Connector 52">
            <a:extLst>
              <a:ext uri="{FF2B5EF4-FFF2-40B4-BE49-F238E27FC236}">
                <a16:creationId xmlns:a16="http://schemas.microsoft.com/office/drawing/2014/main" id="{6DEA1C4A-DA61-B3ED-1342-1ADA524AED65}"/>
              </a:ext>
            </a:extLst>
          </p:cNvPr>
          <p:cNvCxnSpPr>
            <a:cxnSpLocks/>
          </p:cNvCxnSpPr>
          <p:nvPr/>
        </p:nvCxnSpPr>
        <p:spPr>
          <a:xfrm>
            <a:off x="4820285" y="5620730"/>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CC64500A-4A3C-403C-F357-A6A13BD6D2D0}"/>
              </a:ext>
            </a:extLst>
          </p:cNvPr>
          <p:cNvSpPr txBox="1"/>
          <p:nvPr/>
        </p:nvSpPr>
        <p:spPr>
          <a:xfrm>
            <a:off x="4841502" y="5604445"/>
            <a:ext cx="893566" cy="279500"/>
          </a:xfrm>
          <a:prstGeom prst="rect">
            <a:avLst/>
          </a:prstGeom>
          <a:noFill/>
        </p:spPr>
        <p:txBody>
          <a:bodyPr wrap="square" rtlCol="0" anchor="ctr">
            <a:spAutoFit/>
          </a:bodyPr>
          <a:lstStyle>
            <a:defPPr>
              <a:defRPr lang="en-US"/>
            </a:defPPr>
            <a:lvl1pPr marR="0" lvl="0" indent="0" algn="ctr" fontAlgn="auto">
              <a:lnSpc>
                <a:spcPct val="80000"/>
              </a:lnSpc>
              <a:spcBef>
                <a:spcPts val="0"/>
              </a:spcBef>
              <a:spcAft>
                <a:spcPts val="0"/>
              </a:spcAft>
              <a:buClrTx/>
              <a:buSzTx/>
              <a:buFontTx/>
              <a:buNone/>
              <a:tabLst/>
              <a:defRPr kumimoji="0" sz="750" b="1"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$1,500,000,000</a:t>
            </a:r>
          </a:p>
          <a:p>
            <a:r>
              <a:rPr lang="en-CA" noProof="0"/>
              <a:t>Valuation</a:t>
            </a:r>
          </a:p>
        </p:txBody>
      </p:sp>
      <p:sp>
        <p:nvSpPr>
          <p:cNvPr id="56" name="TextBox 55">
            <a:extLst>
              <a:ext uri="{FF2B5EF4-FFF2-40B4-BE49-F238E27FC236}">
                <a16:creationId xmlns:a16="http://schemas.microsoft.com/office/drawing/2014/main" id="{413F9482-2F41-7A92-0BFA-4D8F0EF631B4}"/>
              </a:ext>
            </a:extLst>
          </p:cNvPr>
          <p:cNvSpPr txBox="1">
            <a:spLocks noChangeAspect="1"/>
          </p:cNvSpPr>
          <p:nvPr/>
        </p:nvSpPr>
        <p:spPr>
          <a:xfrm>
            <a:off x="4852420" y="5000572"/>
            <a:ext cx="871730" cy="207749"/>
          </a:xfrm>
          <a:prstGeom prst="rect">
            <a:avLst/>
          </a:prstGeom>
          <a:noFill/>
        </p:spPr>
        <p:txBody>
          <a:bodyPr wrap="none" rtlCol="0" anchor="t">
            <a:noAutofit/>
          </a:bodyPr>
          <a:lstStyle>
            <a:defPPr>
              <a:defRPr lang="en-US"/>
            </a:defPPr>
            <a:lvl1pPr marR="0" lvl="0" indent="0" algn="ctr" fontAlgn="auto">
              <a:lnSpc>
                <a:spcPct val="100000"/>
              </a:lnSpc>
              <a:spcBef>
                <a:spcPts val="0"/>
              </a:spcBef>
              <a:spcAft>
                <a:spcPts val="0"/>
              </a:spcAft>
              <a:buClrTx/>
              <a:buSzTx/>
              <a:buFontTx/>
              <a:buNone/>
              <a:tabLst/>
              <a:defRPr kumimoji="0" sz="750" b="0"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Advisor</a:t>
            </a:r>
          </a:p>
        </p:txBody>
      </p:sp>
      <p:cxnSp>
        <p:nvCxnSpPr>
          <p:cNvPr id="33837" name="Straight Connector 33836">
            <a:extLst>
              <a:ext uri="{FF2B5EF4-FFF2-40B4-BE49-F238E27FC236}">
                <a16:creationId xmlns:a16="http://schemas.microsoft.com/office/drawing/2014/main" id="{35C8B154-BA5B-2A26-A53D-863011A260E1}"/>
              </a:ext>
            </a:extLst>
          </p:cNvPr>
          <p:cNvCxnSpPr>
            <a:cxnSpLocks/>
          </p:cNvCxnSpPr>
          <p:nvPr/>
        </p:nvCxnSpPr>
        <p:spPr>
          <a:xfrm>
            <a:off x="4820285" y="5844800"/>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848" name="Group 33847">
            <a:extLst>
              <a:ext uri="{FF2B5EF4-FFF2-40B4-BE49-F238E27FC236}">
                <a16:creationId xmlns:a16="http://schemas.microsoft.com/office/drawing/2014/main" id="{BE62609F-5893-EAC6-6FD8-E49C370EBA6F}"/>
              </a:ext>
            </a:extLst>
          </p:cNvPr>
          <p:cNvGrpSpPr/>
          <p:nvPr/>
        </p:nvGrpSpPr>
        <p:grpSpPr>
          <a:xfrm>
            <a:off x="1760573" y="4966442"/>
            <a:ext cx="1281600" cy="1345238"/>
            <a:chOff x="4634295" y="7094641"/>
            <a:chExt cx="1281600" cy="1345238"/>
          </a:xfrm>
        </p:grpSpPr>
        <p:sp>
          <p:nvSpPr>
            <p:cNvPr id="33849" name="TextBox 37">
              <a:extLst>
                <a:ext uri="{FF2B5EF4-FFF2-40B4-BE49-F238E27FC236}">
                  <a16:creationId xmlns:a16="http://schemas.microsoft.com/office/drawing/2014/main" id="{5088ED70-148E-B048-7589-C5690FAC8DEF}"/>
                </a:ext>
              </a:extLst>
            </p:cNvPr>
            <p:cNvSpPr txBox="1">
              <a:spLocks noChangeArrowheads="1"/>
            </p:cNvSpPr>
            <p:nvPr/>
          </p:nvSpPr>
          <p:spPr bwMode="auto">
            <a:xfrm>
              <a:off x="4634295" y="7094641"/>
              <a:ext cx="1281600" cy="1345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lnSpc>
                  <a:spcPct val="100000"/>
                </a:lnSpc>
                <a:spcBef>
                  <a:spcPct val="0"/>
                </a:spcBef>
                <a:buFontTx/>
                <a:buNone/>
              </a:pPr>
              <a:endParaRPr lang="en-CA" sz="1800" noProof="0">
                <a:solidFill>
                  <a:schemeClr val="tx1"/>
                </a:solidFill>
                <a:latin typeface="Calibri" panose="020F0502020204030204" pitchFamily="34" charset="0"/>
              </a:endParaRPr>
            </a:p>
          </p:txBody>
        </p:sp>
        <p:cxnSp>
          <p:nvCxnSpPr>
            <p:cNvPr id="33850" name="Straight Connector 33849">
              <a:extLst>
                <a:ext uri="{FF2B5EF4-FFF2-40B4-BE49-F238E27FC236}">
                  <a16:creationId xmlns:a16="http://schemas.microsoft.com/office/drawing/2014/main" id="{2F6DF6A3-37BD-CBEE-CCC3-99B3CE15A5EC}"/>
                </a:ext>
              </a:extLst>
            </p:cNvPr>
            <p:cNvCxnSpPr>
              <a:cxnSpLocks/>
            </p:cNvCxnSpPr>
            <p:nvPr/>
          </p:nvCxnSpPr>
          <p:spPr>
            <a:xfrm>
              <a:off x="4807095" y="7748929"/>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3851" name="TextBox 69">
              <a:extLst>
                <a:ext uri="{FF2B5EF4-FFF2-40B4-BE49-F238E27FC236}">
                  <a16:creationId xmlns:a16="http://schemas.microsoft.com/office/drawing/2014/main" id="{D5FF17C5-69F7-AFFC-5261-D29F0BA42F51}"/>
                </a:ext>
              </a:extLst>
            </p:cNvPr>
            <p:cNvSpPr txBox="1"/>
            <p:nvPr/>
          </p:nvSpPr>
          <p:spPr>
            <a:xfrm>
              <a:off x="4790309" y="7767380"/>
              <a:ext cx="969572" cy="187167"/>
            </a:xfrm>
            <a:prstGeom prst="rect">
              <a:avLst/>
            </a:prstGeom>
            <a:noFill/>
          </p:spPr>
          <p:txBody>
            <a:bodyPr wrap="square" rtlCol="0" anchor="ctr">
              <a:spAutoFit/>
            </a:bodyPr>
            <a:lstStyle>
              <a:defPPr>
                <a:defRPr lang="en-US"/>
              </a:defPPr>
              <a:lvl1pPr marR="0" lvl="0" indent="0" algn="ctr" fontAlgn="auto">
                <a:lnSpc>
                  <a:spcPct val="80000"/>
                </a:lnSpc>
                <a:spcBef>
                  <a:spcPts val="0"/>
                </a:spcBef>
                <a:spcAft>
                  <a:spcPts val="0"/>
                </a:spcAft>
                <a:buClrTx/>
                <a:buSzTx/>
                <a:buFontTx/>
                <a:buNone/>
                <a:tabLst/>
                <a:defRPr kumimoji="0" sz="750" b="1"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noProof="0"/>
                <a:t>$8,600,000,000</a:t>
              </a:r>
            </a:p>
          </p:txBody>
        </p:sp>
        <p:sp>
          <p:nvSpPr>
            <p:cNvPr id="33852" name="TextBox 70">
              <a:extLst>
                <a:ext uri="{FF2B5EF4-FFF2-40B4-BE49-F238E27FC236}">
                  <a16:creationId xmlns:a16="http://schemas.microsoft.com/office/drawing/2014/main" id="{9A85D33F-069E-3635-07AD-00045D992FFC}"/>
                </a:ext>
              </a:extLst>
            </p:cNvPr>
            <p:cNvSpPr txBox="1"/>
            <p:nvPr/>
          </p:nvSpPr>
          <p:spPr>
            <a:xfrm>
              <a:off x="4674594" y="8021321"/>
              <a:ext cx="1201003" cy="403957"/>
            </a:xfrm>
            <a:prstGeom prst="rect">
              <a:avLst/>
            </a:prstGeom>
            <a:noFill/>
          </p:spPr>
          <p:txBody>
            <a:bodyPr wrap="square" lIns="0" rIns="0" rtlCol="0" anchor="ctr">
              <a:spAutoFit/>
            </a:bodyPr>
            <a:lstStyle>
              <a:defPPr>
                <a:defRPr lang="en-US"/>
              </a:defPPr>
              <a:lvl1pPr algn="ctr">
                <a:lnSpc>
                  <a:spcPct val="90000"/>
                </a:lnSpc>
                <a:defRPr sz="750" b="1">
                  <a:latin typeface="Palatino Linotype" panose="02040502050505030304" pitchFamily="18"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noProof="0"/>
                <a:t>Acquisition of GE Capital’s Fleet Operations </a:t>
              </a:r>
            </a:p>
            <a:p>
              <a:r>
                <a:rPr lang="en-CA" noProof="0"/>
                <a:t>(U.S., Mex, Aus, NZ) </a:t>
              </a:r>
            </a:p>
          </p:txBody>
        </p:sp>
        <p:pic>
          <p:nvPicPr>
            <p:cNvPr id="33853" name="Picture 33852" descr="Element Financial Corporation">
              <a:extLst>
                <a:ext uri="{FF2B5EF4-FFF2-40B4-BE49-F238E27FC236}">
                  <a16:creationId xmlns:a16="http://schemas.microsoft.com/office/drawing/2014/main" id="{FF7B9032-0E8A-5DCC-EFE8-977E3309A1E5}"/>
                </a:ext>
              </a:extLst>
            </p:cNvPr>
            <p:cNvPicPr>
              <a:picLocks noChangeAspect="1" noChangeArrowheads="1"/>
            </p:cNvPicPr>
            <p:nvPr/>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901837" y="7367886"/>
              <a:ext cx="746517" cy="283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54" name="TextBox 33853">
              <a:extLst>
                <a:ext uri="{FF2B5EF4-FFF2-40B4-BE49-F238E27FC236}">
                  <a16:creationId xmlns:a16="http://schemas.microsoft.com/office/drawing/2014/main" id="{A5553808-50D0-983D-65EC-08C295591BCB}"/>
                </a:ext>
              </a:extLst>
            </p:cNvPr>
            <p:cNvSpPr txBox="1"/>
            <p:nvPr/>
          </p:nvSpPr>
          <p:spPr>
            <a:xfrm>
              <a:off x="4828312" y="7128723"/>
              <a:ext cx="893566" cy="207845"/>
            </a:xfrm>
            <a:prstGeom prst="rect">
              <a:avLst/>
            </a:prstGeom>
            <a:noFill/>
          </p:spPr>
          <p:txBody>
            <a:bodyPr wrap="none" rtlCol="0" anchor="t">
              <a:noAutofit/>
            </a:bodyPr>
            <a:lstStyle>
              <a:defPPr>
                <a:defRPr lang="en-US"/>
              </a:defPPr>
              <a:lvl1pPr marR="0" lvl="0" indent="0" algn="ctr" fontAlgn="auto">
                <a:lnSpc>
                  <a:spcPct val="100000"/>
                </a:lnSpc>
                <a:spcBef>
                  <a:spcPts val="0"/>
                </a:spcBef>
                <a:spcAft>
                  <a:spcPts val="0"/>
                </a:spcAft>
                <a:buClrTx/>
                <a:buSzTx/>
                <a:buFontTx/>
                <a:buNone/>
                <a:tabLst/>
                <a:defRPr kumimoji="0" sz="750" b="0"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Advisor</a:t>
              </a:r>
            </a:p>
          </p:txBody>
        </p:sp>
        <p:cxnSp>
          <p:nvCxnSpPr>
            <p:cNvPr id="33855" name="Straight Connector 33854">
              <a:extLst>
                <a:ext uri="{FF2B5EF4-FFF2-40B4-BE49-F238E27FC236}">
                  <a16:creationId xmlns:a16="http://schemas.microsoft.com/office/drawing/2014/main" id="{731E0904-4DAF-5016-EA33-7726043A63B3}"/>
                </a:ext>
              </a:extLst>
            </p:cNvPr>
            <p:cNvCxnSpPr>
              <a:cxnSpLocks/>
            </p:cNvCxnSpPr>
            <p:nvPr/>
          </p:nvCxnSpPr>
          <p:spPr>
            <a:xfrm>
              <a:off x="4807095" y="7972999"/>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856" name="Group 33855">
            <a:extLst>
              <a:ext uri="{FF2B5EF4-FFF2-40B4-BE49-F238E27FC236}">
                <a16:creationId xmlns:a16="http://schemas.microsoft.com/office/drawing/2014/main" id="{B1EBE53E-4B57-A9DB-8E63-E7EF2BFF7097}"/>
              </a:ext>
            </a:extLst>
          </p:cNvPr>
          <p:cNvGrpSpPr/>
          <p:nvPr/>
        </p:nvGrpSpPr>
        <p:grpSpPr>
          <a:xfrm>
            <a:off x="317117" y="4966442"/>
            <a:ext cx="1281600" cy="1345238"/>
            <a:chOff x="3196544" y="7094641"/>
            <a:chExt cx="1281600" cy="1345238"/>
          </a:xfrm>
        </p:grpSpPr>
        <p:sp>
          <p:nvSpPr>
            <p:cNvPr id="33857" name="TextBox 33856">
              <a:extLst>
                <a:ext uri="{FF2B5EF4-FFF2-40B4-BE49-F238E27FC236}">
                  <a16:creationId xmlns:a16="http://schemas.microsoft.com/office/drawing/2014/main" id="{7B9F7E5C-84BD-DE23-19EB-03DC2019EBFF}"/>
                </a:ext>
              </a:extLst>
            </p:cNvPr>
            <p:cNvSpPr txBox="1">
              <a:spLocks/>
            </p:cNvSpPr>
            <p:nvPr/>
          </p:nvSpPr>
          <p:spPr>
            <a:xfrm>
              <a:off x="3196544" y="7094641"/>
              <a:ext cx="1281600" cy="1345238"/>
            </a:xfrm>
            <a:prstGeom prst="rect">
              <a:avLst/>
            </a:prstGeom>
            <a:noFill/>
            <a:ln w="9525">
              <a:solidFill>
                <a:schemeClr val="tx1"/>
              </a:solidFill>
            </a:ln>
          </p:spPr>
          <p:txBody>
            <a:bodyPr wrap="square" rtlCol="0">
              <a:spAutoFit/>
            </a:bodyPr>
            <a:lstStyle/>
            <a:p>
              <a:endParaRPr lang="en-CA" noProof="0"/>
            </a:p>
          </p:txBody>
        </p:sp>
        <p:sp>
          <p:nvSpPr>
            <p:cNvPr id="33858" name="TextBox 33857">
              <a:extLst>
                <a:ext uri="{FF2B5EF4-FFF2-40B4-BE49-F238E27FC236}">
                  <a16:creationId xmlns:a16="http://schemas.microsoft.com/office/drawing/2014/main" id="{A619CFF4-93F8-8CE8-7E64-EF94A33B4581}"/>
                </a:ext>
              </a:extLst>
            </p:cNvPr>
            <p:cNvSpPr txBox="1"/>
            <p:nvPr/>
          </p:nvSpPr>
          <p:spPr>
            <a:xfrm>
              <a:off x="3231938" y="8125195"/>
              <a:ext cx="1210812" cy="196208"/>
            </a:xfrm>
            <a:prstGeom prst="rect">
              <a:avLst/>
            </a:prstGeom>
            <a:noFill/>
          </p:spPr>
          <p:txBody>
            <a:bodyPr wrap="square" lIns="0" rIns="0" rtlCol="0" anchor="ctr">
              <a:spAutoFit/>
            </a:bodyPr>
            <a:lstStyle>
              <a:defPPr>
                <a:defRPr lang="en-US"/>
              </a:defPPr>
              <a:lvl1pPr algn="ctr">
                <a:lnSpc>
                  <a:spcPct val="90000"/>
                </a:lnSpc>
                <a:defRPr sz="750" b="1">
                  <a:latin typeface="Palatino Linotype" panose="02040502050505030304" pitchFamily="18" charset="0"/>
                  <a:cs typeface="Arial" panose="020B0604020202020204" pitchFamily="34" charset="0"/>
                </a:defRPr>
              </a:lvl1pPr>
            </a:lstStyle>
            <a:p>
              <a:r>
                <a:rPr lang="en-CA" noProof="0"/>
                <a:t>Sale to Mubadala Capital</a:t>
              </a:r>
            </a:p>
          </p:txBody>
        </p:sp>
        <p:cxnSp>
          <p:nvCxnSpPr>
            <p:cNvPr id="33859" name="Straight Connector 33858">
              <a:extLst>
                <a:ext uri="{FF2B5EF4-FFF2-40B4-BE49-F238E27FC236}">
                  <a16:creationId xmlns:a16="http://schemas.microsoft.com/office/drawing/2014/main" id="{7AED6717-67D3-03CC-9C09-F4ECF7ADE880}"/>
                </a:ext>
              </a:extLst>
            </p:cNvPr>
            <p:cNvCxnSpPr>
              <a:cxnSpLocks/>
            </p:cNvCxnSpPr>
            <p:nvPr/>
          </p:nvCxnSpPr>
          <p:spPr>
            <a:xfrm>
              <a:off x="3369344" y="7748929"/>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3860" name="TextBox 33859">
              <a:extLst>
                <a:ext uri="{FF2B5EF4-FFF2-40B4-BE49-F238E27FC236}">
                  <a16:creationId xmlns:a16="http://schemas.microsoft.com/office/drawing/2014/main" id="{34C8587A-F470-52BE-1BAE-8B0B919F4010}"/>
                </a:ext>
              </a:extLst>
            </p:cNvPr>
            <p:cNvSpPr txBox="1"/>
            <p:nvPr/>
          </p:nvSpPr>
          <p:spPr>
            <a:xfrm>
              <a:off x="3390561" y="7767380"/>
              <a:ext cx="893566" cy="187167"/>
            </a:xfrm>
            <a:prstGeom prst="rect">
              <a:avLst/>
            </a:prstGeom>
            <a:noFill/>
          </p:spPr>
          <p:txBody>
            <a:bodyPr wrap="square" rtlCol="0" anchor="ctr">
              <a:spAutoFit/>
            </a:bodyPr>
            <a:lstStyle>
              <a:defPPr>
                <a:defRPr lang="en-US"/>
              </a:defPPr>
              <a:lvl1pPr marR="0" lvl="0" indent="0" algn="ctr" fontAlgn="auto">
                <a:lnSpc>
                  <a:spcPct val="80000"/>
                </a:lnSpc>
                <a:spcBef>
                  <a:spcPts val="0"/>
                </a:spcBef>
                <a:spcAft>
                  <a:spcPts val="0"/>
                </a:spcAft>
                <a:buClrTx/>
                <a:buSzTx/>
                <a:buFontTx/>
                <a:buNone/>
                <a:tabLst/>
                <a:defRPr kumimoji="0" sz="750" b="1"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$12,101,000,000</a:t>
              </a:r>
            </a:p>
          </p:txBody>
        </p:sp>
        <p:sp>
          <p:nvSpPr>
            <p:cNvPr id="33861" name="TextBox 33860">
              <a:extLst>
                <a:ext uri="{FF2B5EF4-FFF2-40B4-BE49-F238E27FC236}">
                  <a16:creationId xmlns:a16="http://schemas.microsoft.com/office/drawing/2014/main" id="{ADBED06D-A1CD-E3CD-C869-0BA22C6C6BCA}"/>
                </a:ext>
              </a:extLst>
            </p:cNvPr>
            <p:cNvSpPr txBox="1">
              <a:spLocks/>
            </p:cNvSpPr>
            <p:nvPr/>
          </p:nvSpPr>
          <p:spPr>
            <a:xfrm>
              <a:off x="3399365" y="7129458"/>
              <a:ext cx="875959" cy="206374"/>
            </a:xfrm>
            <a:prstGeom prst="rect">
              <a:avLst/>
            </a:prstGeom>
            <a:noFill/>
          </p:spPr>
          <p:txBody>
            <a:bodyPr wrap="none" rtlCol="0" anchor="t">
              <a:noAutofit/>
            </a:bodyPr>
            <a:lstStyle>
              <a:defPPr>
                <a:defRPr lang="en-US"/>
              </a:defPPr>
              <a:lvl1pPr marR="0" lvl="0" indent="0" algn="ctr" fontAlgn="auto">
                <a:lnSpc>
                  <a:spcPct val="100000"/>
                </a:lnSpc>
                <a:spcBef>
                  <a:spcPts val="0"/>
                </a:spcBef>
                <a:spcAft>
                  <a:spcPts val="0"/>
                </a:spcAft>
                <a:buClrTx/>
                <a:buSzTx/>
                <a:buFontTx/>
                <a:buNone/>
                <a:tabLst/>
                <a:defRPr kumimoji="0" sz="750" b="0"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Advisor</a:t>
              </a:r>
            </a:p>
          </p:txBody>
        </p:sp>
        <p:pic>
          <p:nvPicPr>
            <p:cNvPr id="33862" name="Picture 12" descr="About us | CI First Asset">
              <a:extLst>
                <a:ext uri="{FF2B5EF4-FFF2-40B4-BE49-F238E27FC236}">
                  <a16:creationId xmlns:a16="http://schemas.microsoft.com/office/drawing/2014/main" id="{7C191432-DE10-BF29-A501-B40322735A52}"/>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3345002" y="7369370"/>
              <a:ext cx="984685" cy="280937"/>
            </a:xfrm>
            <a:prstGeom prst="rect">
              <a:avLst/>
            </a:prstGeom>
            <a:noFill/>
            <a:extLst>
              <a:ext uri="{909E8E84-426E-40DD-AFC4-6F175D3DCCD1}">
                <a14:hiddenFill xmlns:a14="http://schemas.microsoft.com/office/drawing/2010/main">
                  <a:solidFill>
                    <a:srgbClr val="FFFFFF"/>
                  </a:solidFill>
                </a14:hiddenFill>
              </a:ext>
            </a:extLst>
          </p:spPr>
        </p:pic>
        <p:cxnSp>
          <p:nvCxnSpPr>
            <p:cNvPr id="33863" name="Straight Connector 33862">
              <a:extLst>
                <a:ext uri="{FF2B5EF4-FFF2-40B4-BE49-F238E27FC236}">
                  <a16:creationId xmlns:a16="http://schemas.microsoft.com/office/drawing/2014/main" id="{FD0BB695-36EA-2F61-3A1D-756CDD2845BC}"/>
                </a:ext>
              </a:extLst>
            </p:cNvPr>
            <p:cNvCxnSpPr>
              <a:cxnSpLocks/>
            </p:cNvCxnSpPr>
            <p:nvPr/>
          </p:nvCxnSpPr>
          <p:spPr>
            <a:xfrm>
              <a:off x="3369344" y="7972999"/>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865" name="Rectangle 42">
            <a:extLst>
              <a:ext uri="{FF2B5EF4-FFF2-40B4-BE49-F238E27FC236}">
                <a16:creationId xmlns:a16="http://schemas.microsoft.com/office/drawing/2014/main" id="{434BEB83-4D2E-18AA-1D98-0EB851A48259}"/>
              </a:ext>
            </a:extLst>
          </p:cNvPr>
          <p:cNvSpPr>
            <a:spLocks noChangeArrowheads="1"/>
          </p:cNvSpPr>
          <p:nvPr/>
        </p:nvSpPr>
        <p:spPr bwMode="auto">
          <a:xfrm>
            <a:off x="317117" y="4696161"/>
            <a:ext cx="8496000" cy="2312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prstClr val="white"/>
                </a:solidFill>
                <a:effectLst/>
                <a:uLnTx/>
                <a:uFillTx/>
                <a:latin typeface="Palatino Linotype" panose="02040502050505030304" pitchFamily="18" charset="0"/>
                <a:ea typeface="+mn-ea"/>
                <a:cs typeface="+mn-cs"/>
              </a:rPr>
              <a:t>Select Landmark Transactions</a:t>
            </a:r>
          </a:p>
        </p:txBody>
      </p:sp>
      <p:grpSp>
        <p:nvGrpSpPr>
          <p:cNvPr id="41" name="Group 40">
            <a:extLst>
              <a:ext uri="{FF2B5EF4-FFF2-40B4-BE49-F238E27FC236}">
                <a16:creationId xmlns:a16="http://schemas.microsoft.com/office/drawing/2014/main" id="{FF4F8840-3D15-D122-5DD6-9B2E9700C6FE}"/>
              </a:ext>
            </a:extLst>
          </p:cNvPr>
          <p:cNvGrpSpPr/>
          <p:nvPr/>
        </p:nvGrpSpPr>
        <p:grpSpPr>
          <a:xfrm>
            <a:off x="3204029" y="4966442"/>
            <a:ext cx="1280160" cy="1345238"/>
            <a:chOff x="9315074" y="4966442"/>
            <a:chExt cx="1280160" cy="1345238"/>
          </a:xfrm>
        </p:grpSpPr>
        <p:sp>
          <p:nvSpPr>
            <p:cNvPr id="33" name="TextBox 32">
              <a:extLst>
                <a:ext uri="{FF2B5EF4-FFF2-40B4-BE49-F238E27FC236}">
                  <a16:creationId xmlns:a16="http://schemas.microsoft.com/office/drawing/2014/main" id="{CBC8E169-CFF9-87C5-881E-2C9BCBD30B1C}"/>
                </a:ext>
              </a:extLst>
            </p:cNvPr>
            <p:cNvSpPr txBox="1">
              <a:spLocks/>
            </p:cNvSpPr>
            <p:nvPr/>
          </p:nvSpPr>
          <p:spPr>
            <a:xfrm>
              <a:off x="9315074" y="4966442"/>
              <a:ext cx="1280160" cy="1345238"/>
            </a:xfrm>
            <a:prstGeom prst="rect">
              <a:avLst/>
            </a:prstGeom>
            <a:noFill/>
            <a:ln w="9525">
              <a:solidFill>
                <a:schemeClr val="tx1"/>
              </a:solidFill>
            </a:ln>
          </p:spPr>
          <p:txBody>
            <a:bodyPr wrap="square" rtlCol="0">
              <a:spAutoFit/>
            </a:bodyPr>
            <a:lstStyle/>
            <a:p>
              <a:endParaRPr lang="en-CA" noProof="0"/>
            </a:p>
          </p:txBody>
        </p:sp>
        <p:sp>
          <p:nvSpPr>
            <p:cNvPr id="34" name="TextBox 33">
              <a:extLst>
                <a:ext uri="{FF2B5EF4-FFF2-40B4-BE49-F238E27FC236}">
                  <a16:creationId xmlns:a16="http://schemas.microsoft.com/office/drawing/2014/main" id="{6C92D40C-E032-E357-79DE-04E113B4BC51}"/>
                </a:ext>
              </a:extLst>
            </p:cNvPr>
            <p:cNvSpPr txBox="1"/>
            <p:nvPr/>
          </p:nvSpPr>
          <p:spPr>
            <a:xfrm>
              <a:off x="9410847" y="5996996"/>
              <a:ext cx="1088615" cy="196208"/>
            </a:xfrm>
            <a:prstGeom prst="rect">
              <a:avLst/>
            </a:prstGeom>
            <a:noFill/>
          </p:spPr>
          <p:txBody>
            <a:bodyPr wrap="square" lIns="0" rIns="0" rtlCol="0" anchor="ctr">
              <a:spAutoFit/>
            </a:bodyPr>
            <a:lstStyle>
              <a:defPPr>
                <a:defRPr lang="en-US"/>
              </a:defPPr>
              <a:lvl1pPr algn="ctr">
                <a:lnSpc>
                  <a:spcPct val="90000"/>
                </a:lnSpc>
                <a:defRPr sz="750" b="1">
                  <a:latin typeface="Palatino Linotype" panose="02040502050505030304" pitchFamily="18" charset="0"/>
                  <a:cs typeface="Arial" panose="020B0604020202020204" pitchFamily="34" charset="0"/>
                </a:defRPr>
              </a:lvl1pPr>
            </a:lstStyle>
            <a:p>
              <a:r>
                <a:rPr lang="en-CA" noProof="0"/>
                <a:t>Sale to GTCR</a:t>
              </a:r>
            </a:p>
          </p:txBody>
        </p:sp>
        <p:cxnSp>
          <p:nvCxnSpPr>
            <p:cNvPr id="35" name="Straight Connector 34">
              <a:extLst>
                <a:ext uri="{FF2B5EF4-FFF2-40B4-BE49-F238E27FC236}">
                  <a16:creationId xmlns:a16="http://schemas.microsoft.com/office/drawing/2014/main" id="{8CF8AEC5-42C8-EF04-4CF0-F395FD24E785}"/>
                </a:ext>
              </a:extLst>
            </p:cNvPr>
            <p:cNvCxnSpPr>
              <a:cxnSpLocks/>
            </p:cNvCxnSpPr>
            <p:nvPr/>
          </p:nvCxnSpPr>
          <p:spPr>
            <a:xfrm>
              <a:off x="9487154" y="5620730"/>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169287B8-ACDF-8EA8-7E78-BF1B22EE8C82}"/>
                </a:ext>
              </a:extLst>
            </p:cNvPr>
            <p:cNvSpPr txBox="1"/>
            <p:nvPr/>
          </p:nvSpPr>
          <p:spPr>
            <a:xfrm>
              <a:off x="9508873" y="5639181"/>
              <a:ext cx="892562" cy="187167"/>
            </a:xfrm>
            <a:prstGeom prst="rect">
              <a:avLst/>
            </a:prstGeom>
            <a:noFill/>
          </p:spPr>
          <p:txBody>
            <a:bodyPr wrap="square" rtlCol="0" anchor="ctr">
              <a:spAutoFit/>
            </a:bodyPr>
            <a:lstStyle>
              <a:defPPr>
                <a:defRPr lang="en-US"/>
              </a:defPPr>
              <a:lvl1pPr marR="0" lvl="0" indent="0" algn="ctr" fontAlgn="auto">
                <a:lnSpc>
                  <a:spcPct val="80000"/>
                </a:lnSpc>
                <a:spcBef>
                  <a:spcPts val="0"/>
                </a:spcBef>
                <a:spcAft>
                  <a:spcPts val="0"/>
                </a:spcAft>
                <a:buClrTx/>
                <a:buSzTx/>
                <a:buFontTx/>
                <a:buNone/>
                <a:tabLst/>
                <a:defRPr kumimoji="0" sz="750" b="1"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$3,268,000,000</a:t>
              </a:r>
            </a:p>
          </p:txBody>
        </p:sp>
        <p:sp>
          <p:nvSpPr>
            <p:cNvPr id="37" name="TextBox 36">
              <a:extLst>
                <a:ext uri="{FF2B5EF4-FFF2-40B4-BE49-F238E27FC236}">
                  <a16:creationId xmlns:a16="http://schemas.microsoft.com/office/drawing/2014/main" id="{B23FF6FF-CB47-485A-F0A8-98467AC6AA1F}"/>
                </a:ext>
              </a:extLst>
            </p:cNvPr>
            <p:cNvSpPr txBox="1">
              <a:spLocks noChangeAspect="1"/>
            </p:cNvSpPr>
            <p:nvPr/>
          </p:nvSpPr>
          <p:spPr>
            <a:xfrm>
              <a:off x="9519779" y="5000572"/>
              <a:ext cx="870751" cy="207749"/>
            </a:xfrm>
            <a:prstGeom prst="rect">
              <a:avLst/>
            </a:prstGeom>
            <a:noFill/>
          </p:spPr>
          <p:txBody>
            <a:bodyPr wrap="none" rtlCol="0" anchor="t">
              <a:noAutofit/>
            </a:bodyPr>
            <a:lstStyle>
              <a:defPPr>
                <a:defRPr lang="en-US"/>
              </a:defPPr>
              <a:lvl1pPr marR="0" lvl="0" indent="0" algn="ctr" fontAlgn="auto">
                <a:lnSpc>
                  <a:spcPct val="100000"/>
                </a:lnSpc>
                <a:spcBef>
                  <a:spcPts val="0"/>
                </a:spcBef>
                <a:spcAft>
                  <a:spcPts val="0"/>
                </a:spcAft>
                <a:buClrTx/>
                <a:buSzTx/>
                <a:buFontTx/>
                <a:buNone/>
                <a:tabLst/>
                <a:defRPr kumimoji="0" sz="750" b="0"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Advisor</a:t>
              </a:r>
            </a:p>
          </p:txBody>
        </p:sp>
        <p:cxnSp>
          <p:nvCxnSpPr>
            <p:cNvPr id="39" name="Straight Connector 38">
              <a:extLst>
                <a:ext uri="{FF2B5EF4-FFF2-40B4-BE49-F238E27FC236}">
                  <a16:creationId xmlns:a16="http://schemas.microsoft.com/office/drawing/2014/main" id="{E16692ED-8919-F5DF-2A8D-837FAC2824AD}"/>
                </a:ext>
              </a:extLst>
            </p:cNvPr>
            <p:cNvCxnSpPr>
              <a:cxnSpLocks/>
            </p:cNvCxnSpPr>
            <p:nvPr/>
          </p:nvCxnSpPr>
          <p:spPr>
            <a:xfrm>
              <a:off x="9487154" y="5844800"/>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40" name="Picture 39">
              <a:extLst>
                <a:ext uri="{FF2B5EF4-FFF2-40B4-BE49-F238E27FC236}">
                  <a16:creationId xmlns:a16="http://schemas.microsoft.com/office/drawing/2014/main" id="{02DE1275-6375-20D1-0A03-B9F0C3F7481A}"/>
                </a:ext>
              </a:extLst>
            </p:cNvPr>
            <p:cNvPicPr>
              <a:picLocks noChangeAspect="1"/>
            </p:cNvPicPr>
            <p:nvPr/>
          </p:nvPicPr>
          <p:blipFill>
            <a:blip r:embed="rId16"/>
            <a:srcRect l="5492" t="19995" r="5492" b="14682"/>
            <a:stretch>
              <a:fillRect/>
            </a:stretch>
          </p:blipFill>
          <p:spPr>
            <a:xfrm>
              <a:off x="9386807" y="5247382"/>
              <a:ext cx="1136694" cy="228088"/>
            </a:xfrm>
            <a:prstGeom prst="rect">
              <a:avLst/>
            </a:prstGeom>
          </p:spPr>
        </p:pic>
      </p:grpSp>
      <p:grpSp>
        <p:nvGrpSpPr>
          <p:cNvPr id="2" name="Group 1">
            <a:extLst>
              <a:ext uri="{FF2B5EF4-FFF2-40B4-BE49-F238E27FC236}">
                <a16:creationId xmlns:a16="http://schemas.microsoft.com/office/drawing/2014/main" id="{0670C01B-E763-E731-5EA3-E7A2A9DB5668}"/>
              </a:ext>
            </a:extLst>
          </p:cNvPr>
          <p:cNvGrpSpPr/>
          <p:nvPr/>
        </p:nvGrpSpPr>
        <p:grpSpPr>
          <a:xfrm>
            <a:off x="7532957" y="4966442"/>
            <a:ext cx="1281600" cy="1345238"/>
            <a:chOff x="1758793" y="7094641"/>
            <a:chExt cx="1281600" cy="1345238"/>
          </a:xfrm>
        </p:grpSpPr>
        <p:sp>
          <p:nvSpPr>
            <p:cNvPr id="5" name="TextBox 4">
              <a:extLst>
                <a:ext uri="{FF2B5EF4-FFF2-40B4-BE49-F238E27FC236}">
                  <a16:creationId xmlns:a16="http://schemas.microsoft.com/office/drawing/2014/main" id="{0C451024-8D81-F51B-C578-35A53A053820}"/>
                </a:ext>
              </a:extLst>
            </p:cNvPr>
            <p:cNvSpPr txBox="1">
              <a:spLocks/>
            </p:cNvSpPr>
            <p:nvPr/>
          </p:nvSpPr>
          <p:spPr>
            <a:xfrm>
              <a:off x="1758793" y="7094641"/>
              <a:ext cx="1281600" cy="1345238"/>
            </a:xfrm>
            <a:prstGeom prst="rect">
              <a:avLst/>
            </a:prstGeom>
            <a:noFill/>
            <a:ln w="9525">
              <a:solidFill>
                <a:schemeClr val="tx1"/>
              </a:solidFill>
            </a:ln>
          </p:spPr>
          <p:txBody>
            <a:bodyPr wrap="square" rtlCol="0">
              <a:spAutoFit/>
            </a:bodyPr>
            <a:lstStyle/>
            <a:p>
              <a:endParaRPr lang="en-CA" noProof="0"/>
            </a:p>
          </p:txBody>
        </p:sp>
        <p:cxnSp>
          <p:nvCxnSpPr>
            <p:cNvPr id="6" name="Straight Connector 5">
              <a:extLst>
                <a:ext uri="{FF2B5EF4-FFF2-40B4-BE49-F238E27FC236}">
                  <a16:creationId xmlns:a16="http://schemas.microsoft.com/office/drawing/2014/main" id="{9ABD5EEA-1630-F8BE-395A-DFD36F1A246A}"/>
                </a:ext>
              </a:extLst>
            </p:cNvPr>
            <p:cNvCxnSpPr>
              <a:cxnSpLocks/>
            </p:cNvCxnSpPr>
            <p:nvPr/>
          </p:nvCxnSpPr>
          <p:spPr>
            <a:xfrm>
              <a:off x="1931593" y="7748929"/>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33">
              <a:extLst>
                <a:ext uri="{FF2B5EF4-FFF2-40B4-BE49-F238E27FC236}">
                  <a16:creationId xmlns:a16="http://schemas.microsoft.com/office/drawing/2014/main" id="{545149E1-D541-E9B1-59BE-765BE4F9D52C}"/>
                </a:ext>
              </a:extLst>
            </p:cNvPr>
            <p:cNvSpPr txBox="1"/>
            <p:nvPr/>
          </p:nvSpPr>
          <p:spPr>
            <a:xfrm>
              <a:off x="1858985" y="7767380"/>
              <a:ext cx="1081216" cy="187167"/>
            </a:xfrm>
            <a:prstGeom prst="rect">
              <a:avLst/>
            </a:prstGeom>
            <a:noFill/>
          </p:spPr>
          <p:txBody>
            <a:bodyPr wrap="square" rtlCol="0" anchor="ctr">
              <a:spAutoFit/>
            </a:bodyPr>
            <a:lstStyle>
              <a:defPPr>
                <a:defRPr lang="en-US"/>
              </a:defPPr>
              <a:lvl1pPr marR="0" lvl="0" indent="0" algn="ctr" fontAlgn="auto">
                <a:lnSpc>
                  <a:spcPct val="80000"/>
                </a:lnSpc>
                <a:spcBef>
                  <a:spcPts val="0"/>
                </a:spcBef>
                <a:spcAft>
                  <a:spcPts val="0"/>
                </a:spcAft>
                <a:buClrTx/>
                <a:buSzTx/>
                <a:buFontTx/>
                <a:buNone/>
                <a:tabLst/>
                <a:defRPr kumimoji="0" sz="750" b="1"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noProof="0"/>
                <a:t>US$1,250,000,000</a:t>
              </a:r>
            </a:p>
          </p:txBody>
        </p:sp>
        <p:sp>
          <p:nvSpPr>
            <p:cNvPr id="15" name="TextBox 34">
              <a:extLst>
                <a:ext uri="{FF2B5EF4-FFF2-40B4-BE49-F238E27FC236}">
                  <a16:creationId xmlns:a16="http://schemas.microsoft.com/office/drawing/2014/main" id="{C75938F9-D4D5-07F5-A589-871821FA4823}"/>
                </a:ext>
              </a:extLst>
            </p:cNvPr>
            <p:cNvSpPr txBox="1"/>
            <p:nvPr/>
          </p:nvSpPr>
          <p:spPr>
            <a:xfrm>
              <a:off x="1822414" y="8021227"/>
              <a:ext cx="1154359" cy="404144"/>
            </a:xfrm>
            <a:prstGeom prst="rect">
              <a:avLst/>
            </a:prstGeom>
            <a:noFill/>
          </p:spPr>
          <p:txBody>
            <a:bodyPr wrap="square" lIns="0" rIns="0" rtlCol="0" anchor="ctr">
              <a:spAutoFit/>
            </a:bodyPr>
            <a:lstStyle>
              <a:defPPr>
                <a:defRPr lang="en-US"/>
              </a:defPPr>
              <a:lvl1pPr algn="ctr">
                <a:lnSpc>
                  <a:spcPct val="90000"/>
                </a:lnSpc>
                <a:defRPr sz="750" b="1">
                  <a:latin typeface="Palatino Linotype" panose="02040502050505030304" pitchFamily="18"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noProof="0"/>
                <a:t>Advisor to U.S. and Canadian Institutional Investors on Acquisition</a:t>
              </a:r>
            </a:p>
          </p:txBody>
        </p:sp>
        <p:pic>
          <p:nvPicPr>
            <p:cNvPr id="23" name="Picture 22" descr="http://www.financialexecutives.org/KenticoCMS/getattachment/ca9a6784-2c53-48a3-9b3e-f9ac104825a7/American-Appraisal.aspx">
              <a:extLst>
                <a:ext uri="{FF2B5EF4-FFF2-40B4-BE49-F238E27FC236}">
                  <a16:creationId xmlns:a16="http://schemas.microsoft.com/office/drawing/2014/main" id="{A7F89C9F-0753-2A79-513A-E45D03F5E8F2}"/>
                </a:ext>
              </a:extLst>
            </p:cNvPr>
            <p:cNvPicPr>
              <a:picLocks noChangeAspect="1" noChangeArrowheads="1"/>
            </p:cNvPicPr>
            <p:nvPr/>
          </p:nvPicPr>
          <p:blipFill>
            <a:blip r:embed="rId17" cstate="print">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1824964" y="7430735"/>
              <a:ext cx="1149258" cy="158207"/>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B436A24E-3AD0-A680-7A9C-81D86A6D8419}"/>
                </a:ext>
              </a:extLst>
            </p:cNvPr>
            <p:cNvSpPr txBox="1"/>
            <p:nvPr/>
          </p:nvSpPr>
          <p:spPr>
            <a:xfrm>
              <a:off x="2078472" y="7128723"/>
              <a:ext cx="642243" cy="207845"/>
            </a:xfrm>
            <a:prstGeom prst="rect">
              <a:avLst/>
            </a:prstGeom>
            <a:noFill/>
          </p:spPr>
          <p:txBody>
            <a:bodyPr wrap="none" rtlCol="0" anchor="t">
              <a:noAutofit/>
            </a:bodyPr>
            <a:lstStyle>
              <a:defPPr>
                <a:defRPr lang="en-US"/>
              </a:defPPr>
              <a:lvl1pPr marR="0" lvl="0" indent="0" algn="ctr" fontAlgn="auto">
                <a:lnSpc>
                  <a:spcPct val="100000"/>
                </a:lnSpc>
                <a:spcBef>
                  <a:spcPts val="0"/>
                </a:spcBef>
                <a:spcAft>
                  <a:spcPts val="0"/>
                </a:spcAft>
                <a:buClrTx/>
                <a:buSzTx/>
                <a:buFontTx/>
                <a:buNone/>
                <a:tabLst/>
                <a:defRPr kumimoji="0" sz="750" b="0"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Advisor</a:t>
              </a:r>
            </a:p>
          </p:txBody>
        </p:sp>
        <p:cxnSp>
          <p:nvCxnSpPr>
            <p:cNvPr id="27" name="Straight Connector 26">
              <a:extLst>
                <a:ext uri="{FF2B5EF4-FFF2-40B4-BE49-F238E27FC236}">
                  <a16:creationId xmlns:a16="http://schemas.microsoft.com/office/drawing/2014/main" id="{C27BF455-9FB6-3F04-06D8-3DFA6555FB79}"/>
                </a:ext>
              </a:extLst>
            </p:cNvPr>
            <p:cNvCxnSpPr>
              <a:cxnSpLocks/>
            </p:cNvCxnSpPr>
            <p:nvPr/>
          </p:nvCxnSpPr>
          <p:spPr>
            <a:xfrm>
              <a:off x="1931593" y="7972999"/>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43CAD393-D804-5044-301A-18555C819B5B}"/>
              </a:ext>
            </a:extLst>
          </p:cNvPr>
          <p:cNvGrpSpPr/>
          <p:nvPr/>
        </p:nvGrpSpPr>
        <p:grpSpPr>
          <a:xfrm>
            <a:off x="6090941" y="4966442"/>
            <a:ext cx="1281600" cy="1345238"/>
            <a:chOff x="321042" y="7094641"/>
            <a:chExt cx="1281600" cy="1345238"/>
          </a:xfrm>
        </p:grpSpPr>
        <p:sp>
          <p:nvSpPr>
            <p:cNvPr id="29" name="TextBox 28">
              <a:extLst>
                <a:ext uri="{FF2B5EF4-FFF2-40B4-BE49-F238E27FC236}">
                  <a16:creationId xmlns:a16="http://schemas.microsoft.com/office/drawing/2014/main" id="{E57B4BFF-1AC9-E02D-D8C4-032F19213244}"/>
                </a:ext>
              </a:extLst>
            </p:cNvPr>
            <p:cNvSpPr txBox="1">
              <a:spLocks/>
            </p:cNvSpPr>
            <p:nvPr/>
          </p:nvSpPr>
          <p:spPr>
            <a:xfrm>
              <a:off x="321042" y="7094641"/>
              <a:ext cx="1281600" cy="1345238"/>
            </a:xfrm>
            <a:prstGeom prst="rect">
              <a:avLst/>
            </a:prstGeom>
            <a:noFill/>
            <a:ln w="9525">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A3428BEC-014E-263A-B6AD-E2F779D59D94}"/>
                </a:ext>
              </a:extLst>
            </p:cNvPr>
            <p:cNvSpPr txBox="1"/>
            <p:nvPr/>
          </p:nvSpPr>
          <p:spPr>
            <a:xfrm>
              <a:off x="362430" y="8071644"/>
              <a:ext cx="1198824" cy="303310"/>
            </a:xfrm>
            <a:prstGeom prst="rect">
              <a:avLst/>
            </a:prstGeom>
            <a:noFill/>
          </p:spPr>
          <p:txBody>
            <a:bodyPr wrap="square" lIns="0" rIns="0" rtlCol="0" anchor="ctr">
              <a:spAutoFit/>
            </a:bodyPr>
            <a:lstStyle>
              <a:defPPr>
                <a:defRPr lang="en-US"/>
              </a:defPPr>
              <a:lvl1pPr algn="ctr">
                <a:lnSpc>
                  <a:spcPct val="90000"/>
                </a:lnSpc>
                <a:defRPr sz="750" b="1">
                  <a:latin typeface="Palatino Linotype" panose="02040502050505030304" pitchFamily="18" charset="0"/>
                  <a:cs typeface="Arial" panose="020B0604020202020204" pitchFamily="34" charset="0"/>
                </a:defRPr>
              </a:lvl1pPr>
            </a:lstStyle>
            <a:p>
              <a:r>
                <a:rPr lang="en-CA" noProof="0"/>
                <a:t>Initial Public Offering and 6 Bought Deal Financings</a:t>
              </a:r>
            </a:p>
          </p:txBody>
        </p:sp>
        <p:cxnSp>
          <p:nvCxnSpPr>
            <p:cNvPr id="31" name="Straight Connector 30">
              <a:extLst>
                <a:ext uri="{FF2B5EF4-FFF2-40B4-BE49-F238E27FC236}">
                  <a16:creationId xmlns:a16="http://schemas.microsoft.com/office/drawing/2014/main" id="{F4AB81D6-9024-AB77-9D43-D1B900985080}"/>
                </a:ext>
              </a:extLst>
            </p:cNvPr>
            <p:cNvCxnSpPr>
              <a:cxnSpLocks/>
            </p:cNvCxnSpPr>
            <p:nvPr/>
          </p:nvCxnSpPr>
          <p:spPr>
            <a:xfrm>
              <a:off x="493842" y="7748929"/>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9ACBEA8-F698-9AEA-51CB-CB3E0C30EB16}"/>
                </a:ext>
              </a:extLst>
            </p:cNvPr>
            <p:cNvSpPr txBox="1"/>
            <p:nvPr/>
          </p:nvSpPr>
          <p:spPr>
            <a:xfrm>
              <a:off x="515059" y="7767380"/>
              <a:ext cx="893566" cy="187167"/>
            </a:xfrm>
            <a:prstGeom prst="rect">
              <a:avLst/>
            </a:prstGeom>
            <a:noFill/>
          </p:spPr>
          <p:txBody>
            <a:bodyPr wrap="square" rtlCol="0" anchor="ctr">
              <a:spAutoFit/>
            </a:bodyPr>
            <a:lstStyle>
              <a:defPPr>
                <a:defRPr lang="en-US"/>
              </a:defPPr>
              <a:lvl1pPr marR="0" lvl="0" indent="0" algn="ctr" fontAlgn="auto">
                <a:lnSpc>
                  <a:spcPct val="80000"/>
                </a:lnSpc>
                <a:spcBef>
                  <a:spcPts val="0"/>
                </a:spcBef>
                <a:spcAft>
                  <a:spcPts val="0"/>
                </a:spcAft>
                <a:buClrTx/>
                <a:buSzTx/>
                <a:buFontTx/>
                <a:buNone/>
                <a:tabLst/>
                <a:defRPr kumimoji="0" sz="750" b="1"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$1,415,685,663</a:t>
              </a:r>
            </a:p>
          </p:txBody>
        </p:sp>
        <p:sp>
          <p:nvSpPr>
            <p:cNvPr id="38" name="TextBox 37">
              <a:extLst>
                <a:ext uri="{FF2B5EF4-FFF2-40B4-BE49-F238E27FC236}">
                  <a16:creationId xmlns:a16="http://schemas.microsoft.com/office/drawing/2014/main" id="{00DB5960-3380-040C-30DE-55537AEC1D18}"/>
                </a:ext>
              </a:extLst>
            </p:cNvPr>
            <p:cNvSpPr txBox="1">
              <a:spLocks noChangeAspect="1"/>
            </p:cNvSpPr>
            <p:nvPr/>
          </p:nvSpPr>
          <p:spPr>
            <a:xfrm>
              <a:off x="525977" y="7128771"/>
              <a:ext cx="871730" cy="207749"/>
            </a:xfrm>
            <a:prstGeom prst="rect">
              <a:avLst/>
            </a:prstGeom>
            <a:noFill/>
          </p:spPr>
          <p:txBody>
            <a:bodyPr wrap="none" rtlCol="0" anchor="t">
              <a:noAutofit/>
            </a:bodyPr>
            <a:lstStyle>
              <a:defPPr>
                <a:defRPr lang="en-US"/>
              </a:defPPr>
              <a:lvl1pPr marR="0" lvl="0" indent="0" algn="ctr" fontAlgn="auto">
                <a:lnSpc>
                  <a:spcPct val="100000"/>
                </a:lnSpc>
                <a:spcBef>
                  <a:spcPts val="0"/>
                </a:spcBef>
                <a:spcAft>
                  <a:spcPts val="0"/>
                </a:spcAft>
                <a:buClrTx/>
                <a:buSzTx/>
                <a:buFontTx/>
                <a:buNone/>
                <a:tabLst/>
                <a:defRPr kumimoji="0" sz="750" b="0" i="0" u="none" strike="noStrike" cap="none" spc="0" normalizeH="0" baseline="0">
                  <a:ln>
                    <a:noFill/>
                  </a:ln>
                  <a:solidFill>
                    <a:prstClr val="black"/>
                  </a:solidFill>
                  <a:effectLst/>
                  <a:uLnTx/>
                  <a:uFillTx/>
                  <a:latin typeface="Palatino Linotype" panose="02040502050505030304" pitchFamily="18" charset="0"/>
                  <a:cs typeface="Arial" panose="020B0604020202020204" pitchFamily="34" charset="0"/>
                </a:defRPr>
              </a:lvl1pPr>
            </a:lstStyle>
            <a:p>
              <a:r>
                <a:rPr lang="en-CA" noProof="0"/>
                <a:t>Various Roles</a:t>
              </a:r>
            </a:p>
          </p:txBody>
        </p:sp>
        <p:pic>
          <p:nvPicPr>
            <p:cNvPr id="43" name="Picture 2">
              <a:extLst>
                <a:ext uri="{FF2B5EF4-FFF2-40B4-BE49-F238E27FC236}">
                  <a16:creationId xmlns:a16="http://schemas.microsoft.com/office/drawing/2014/main" id="{2516181E-E8C2-8F02-21E4-0AFBB7554F5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764936" y="7311551"/>
              <a:ext cx="393812" cy="396574"/>
            </a:xfrm>
            <a:prstGeom prst="rect">
              <a:avLst/>
            </a:prstGeom>
            <a:noFill/>
            <a:extLst>
              <a:ext uri="{909E8E84-426E-40DD-AFC4-6F175D3DCCD1}">
                <a14:hiddenFill xmlns:a14="http://schemas.microsoft.com/office/drawing/2010/main">
                  <a:solidFill>
                    <a:srgbClr val="FFFFFF"/>
                  </a:solidFill>
                </a14:hiddenFill>
              </a:ext>
            </a:extLst>
          </p:spPr>
        </p:pic>
        <p:cxnSp>
          <p:nvCxnSpPr>
            <p:cNvPr id="45" name="Straight Connector 44">
              <a:extLst>
                <a:ext uri="{FF2B5EF4-FFF2-40B4-BE49-F238E27FC236}">
                  <a16:creationId xmlns:a16="http://schemas.microsoft.com/office/drawing/2014/main" id="{F6BA7A3C-5DDD-04B0-64B8-583E9E5436EC}"/>
                </a:ext>
              </a:extLst>
            </p:cNvPr>
            <p:cNvCxnSpPr>
              <a:cxnSpLocks/>
            </p:cNvCxnSpPr>
            <p:nvPr/>
          </p:nvCxnSpPr>
          <p:spPr>
            <a:xfrm>
              <a:off x="493842" y="7972999"/>
              <a:ext cx="9360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47" name="Picture 8" descr="Origin Merchant Partners Deepens its Industrials and Consumer Practices  with the addition of CCC Investment Banking">
            <a:extLst>
              <a:ext uri="{FF2B5EF4-FFF2-40B4-BE49-F238E27FC236}">
                <a16:creationId xmlns:a16="http://schemas.microsoft.com/office/drawing/2014/main" id="{39F40F58-2B54-D3A3-1FB9-37BFC946A3FF}"/>
              </a:ext>
            </a:extLst>
          </p:cNvPr>
          <p:cNvPicPr>
            <a:picLocks noChangeAspect="1" noChangeArrowheads="1"/>
          </p:cNvPicPr>
          <p:nvPr/>
        </p:nvPicPr>
        <p:blipFill rotWithShape="1">
          <a:blip r:embed="rId11" cstate="print">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val="0"/>
              </a:ext>
            </a:extLst>
          </a:blip>
          <a:srcRect l="2815" t="11663" r="2815" b="11663"/>
          <a:stretch>
            <a:fillRect/>
          </a:stretch>
        </p:blipFill>
        <p:spPr bwMode="auto">
          <a:xfrm>
            <a:off x="4768421" y="2735518"/>
            <a:ext cx="905838" cy="219644"/>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descr="Blair Franklin Capital Partners | LinkedIn">
            <a:extLst>
              <a:ext uri="{FF2B5EF4-FFF2-40B4-BE49-F238E27FC236}">
                <a16:creationId xmlns:a16="http://schemas.microsoft.com/office/drawing/2014/main" id="{3471AFB3-D2C0-7F86-7C07-98C6DA6A1816}"/>
              </a:ext>
            </a:extLst>
          </p:cNvPr>
          <p:cNvPicPr>
            <a:picLocks noChangeAspect="1" noChangeArrowheads="1"/>
          </p:cNvPicPr>
          <p:nvPr/>
        </p:nvPicPr>
        <p:blipFill>
          <a:blip r:embed="rId10"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324176" y="3114325"/>
            <a:ext cx="349887" cy="34988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omepage">
            <a:extLst>
              <a:ext uri="{FF2B5EF4-FFF2-40B4-BE49-F238E27FC236}">
                <a16:creationId xmlns:a16="http://schemas.microsoft.com/office/drawing/2014/main" id="{4C2D8953-1F30-D1B2-3E12-4217EAAEFFD7}"/>
              </a:ext>
            </a:extLst>
          </p:cNvPr>
          <p:cNvPicPr>
            <a:picLocks noChangeAspect="1" noChangeArrowheads="1"/>
          </p:cNvPicPr>
          <p:nvPr/>
        </p:nvPicPr>
        <p:blipFill rotWithShape="1">
          <a:blip r:embed="rId19" cstate="print">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t="45208"/>
          <a:stretch>
            <a:fillRect/>
          </a:stretch>
        </p:blipFill>
        <p:spPr bwMode="auto">
          <a:xfrm>
            <a:off x="4899219" y="3623202"/>
            <a:ext cx="805812" cy="18085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ogin - Cormark Document Portal">
            <a:extLst>
              <a:ext uri="{FF2B5EF4-FFF2-40B4-BE49-F238E27FC236}">
                <a16:creationId xmlns:a16="http://schemas.microsoft.com/office/drawing/2014/main" id="{549946AC-A284-5485-F404-2A0BD252F564}"/>
              </a:ext>
            </a:extLst>
          </p:cNvPr>
          <p:cNvPicPr>
            <a:picLocks noChangeAspect="1" noChangeArrowheads="1"/>
          </p:cNvPicPr>
          <p:nvPr/>
        </p:nvPicPr>
        <p:blipFill>
          <a:blip r:embed="rId20" cstate="print">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1008" y="4082900"/>
            <a:ext cx="961259" cy="191105"/>
          </a:xfrm>
          <a:prstGeom prst="rect">
            <a:avLst/>
          </a:prstGeom>
          <a:noFill/>
          <a:extLst>
            <a:ext uri="{909E8E84-426E-40DD-AFC4-6F175D3DCCD1}">
              <a14:hiddenFill xmlns:a14="http://schemas.microsoft.com/office/drawing/2010/main">
                <a:solidFill>
                  <a:srgbClr val="FFFFFF"/>
                </a:solidFill>
              </a14:hiddenFill>
            </a:ext>
          </a:extLst>
        </p:spPr>
      </p:pic>
      <p:sp>
        <p:nvSpPr>
          <p:cNvPr id="13" name="Text Placeholder 5">
            <a:extLst>
              <a:ext uri="{FF2B5EF4-FFF2-40B4-BE49-F238E27FC236}">
                <a16:creationId xmlns:a16="http://schemas.microsoft.com/office/drawing/2014/main" id="{54862241-76F4-31CB-64CD-13786294FD4E}"/>
              </a:ext>
            </a:extLst>
          </p:cNvPr>
          <p:cNvSpPr txBox="1">
            <a:spLocks/>
          </p:cNvSpPr>
          <p:nvPr/>
        </p:nvSpPr>
        <p:spPr>
          <a:xfrm>
            <a:off x="1570011" y="6426533"/>
            <a:ext cx="6366293" cy="409085"/>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rgbClr val="1B2759"/>
                </a:solidFill>
                <a:latin typeface="Palatino Linotype" panose="02040502050505030304" pitchFamily="18" charset="0"/>
                <a:ea typeface="+mn-ea"/>
                <a:cs typeface="+mn-cs"/>
              </a:defRPr>
            </a:lvl1pPr>
            <a:lvl2pPr marL="360000" indent="-228600" algn="l" defTabSz="914400" rtl="0" eaLnBrk="1" latinLnBrk="0" hangingPunct="1">
              <a:lnSpc>
                <a:spcPct val="90000"/>
              </a:lnSpc>
              <a:spcBef>
                <a:spcPts val="600"/>
              </a:spcBef>
              <a:buClr>
                <a:srgbClr val="960000"/>
              </a:buClr>
              <a:buFont typeface="Wingdings" panose="05000000000000000000" pitchFamily="2" charset="2"/>
              <a:buChar char="§"/>
              <a:defRPr sz="1200" kern="1200" baseline="0">
                <a:solidFill>
                  <a:srgbClr val="1B2759"/>
                </a:solidFill>
                <a:latin typeface="Palatino Linotype" panose="02040502050505030304" pitchFamily="18"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spcBef>
                <a:spcPts val="300"/>
              </a:spcBef>
            </a:pPr>
            <a:r>
              <a:rPr lang="en-CA" sz="700" noProof="0">
                <a:solidFill>
                  <a:schemeClr val="tx1"/>
                </a:solidFill>
                <a:ea typeface="+mj-ea"/>
                <a:cs typeface="+mj-cs"/>
              </a:rPr>
              <a:t>Source: Bloomberg M&amp;A League Tables</a:t>
            </a:r>
          </a:p>
        </p:txBody>
      </p:sp>
    </p:spTree>
    <p:extLst>
      <p:ext uri="{BB962C8B-B14F-4D97-AF65-F5344CB8AC3E}">
        <p14:creationId xmlns:p14="http://schemas.microsoft.com/office/powerpoint/2010/main" val="1679147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C1DBB-C72C-4CB5-E493-47ED04AB44C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B6C88CA-D18C-76CA-739B-E4B8388C9B3D}"/>
              </a:ext>
            </a:extLst>
          </p:cNvPr>
          <p:cNvSpPr>
            <a:spLocks noGrp="1"/>
          </p:cNvSpPr>
          <p:nvPr>
            <p:ph type="title"/>
          </p:nvPr>
        </p:nvSpPr>
        <p:spPr/>
        <p:txBody>
          <a:bodyPr>
            <a:normAutofit/>
          </a:bodyPr>
          <a:lstStyle/>
          <a:p>
            <a:r>
              <a:rPr lang="en-CA" sz="2200" noProof="0"/>
              <a:t>INFOR Key Highlights</a:t>
            </a:r>
          </a:p>
        </p:txBody>
      </p:sp>
      <p:sp>
        <p:nvSpPr>
          <p:cNvPr id="3" name="Slide Number Placeholder 2">
            <a:extLst>
              <a:ext uri="{FF2B5EF4-FFF2-40B4-BE49-F238E27FC236}">
                <a16:creationId xmlns:a16="http://schemas.microsoft.com/office/drawing/2014/main" id="{A84DFB39-9D17-DA11-19EC-AD5E992C0FC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961EF2-D691-475A-8925-921775980BFF}" type="slidenum">
              <a:rPr kumimoji="0" lang="en-CA" sz="1200" b="0" i="0" u="none" strike="noStrike" kern="1200" cap="none" spc="0" normalizeH="0" baseline="0" noProof="0" smtClean="0">
                <a:ln>
                  <a:noFill/>
                </a:ln>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CA" sz="1200" b="0" i="0" u="none" strike="noStrike" kern="1200" cap="none" spc="0" normalizeH="0" baseline="0" noProof="0">
              <a:ln>
                <a:noFill/>
              </a:ln>
              <a:effectLst/>
              <a:uLnTx/>
              <a:uFillTx/>
              <a:latin typeface="Palatino Linotype" panose="02040502050505030304" pitchFamily="18" charset="0"/>
              <a:ea typeface="+mn-ea"/>
              <a:cs typeface="+mn-cs"/>
            </a:endParaRPr>
          </a:p>
        </p:txBody>
      </p:sp>
      <p:sp>
        <p:nvSpPr>
          <p:cNvPr id="78" name="Rectangle 77">
            <a:extLst>
              <a:ext uri="{FF2B5EF4-FFF2-40B4-BE49-F238E27FC236}">
                <a16:creationId xmlns:a16="http://schemas.microsoft.com/office/drawing/2014/main" id="{F0387B8D-F665-C670-B2E8-4B0A42C83E48}"/>
              </a:ext>
            </a:extLst>
          </p:cNvPr>
          <p:cNvSpPr/>
          <p:nvPr/>
        </p:nvSpPr>
        <p:spPr>
          <a:xfrm>
            <a:off x="7475832" y="5195022"/>
            <a:ext cx="1344168" cy="78714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defRPr/>
            </a:pP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100%</a:t>
            </a:r>
            <a:endParaRPr lang="en-CA" sz="1800"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5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Independent and Employee-Owned</a:t>
            </a:r>
            <a:endParaRPr lang="en-CA" sz="1000" baseline="30000" noProof="0">
              <a:solidFill>
                <a:schemeClr val="bg1"/>
              </a:solidFill>
              <a:latin typeface="Palatino Linotype" panose="02040502050505030304" pitchFamily="18" charset="0"/>
              <a:cs typeface="Arial" panose="020B0604020202020204" pitchFamily="34" charset="0"/>
            </a:endParaRPr>
          </a:p>
        </p:txBody>
      </p:sp>
      <p:sp>
        <p:nvSpPr>
          <p:cNvPr id="79" name="Rectangle 78">
            <a:extLst>
              <a:ext uri="{FF2B5EF4-FFF2-40B4-BE49-F238E27FC236}">
                <a16:creationId xmlns:a16="http://schemas.microsoft.com/office/drawing/2014/main" id="{90C7E23B-1844-D064-D76E-ED0D6F70B8DC}"/>
              </a:ext>
            </a:extLst>
          </p:cNvPr>
          <p:cNvSpPr/>
          <p:nvPr/>
        </p:nvSpPr>
        <p:spPr>
          <a:xfrm>
            <a:off x="6045464" y="5195022"/>
            <a:ext cx="1344168" cy="78714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pPr>
            <a:r>
              <a:rPr lang="en-CA"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$90B+</a:t>
            </a:r>
            <a:endParaRPr lang="en-CA"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0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Retail Partner </a:t>
            </a:r>
          </a:p>
          <a:p>
            <a:pPr algn="ctr">
              <a:spcBef>
                <a:spcPts val="200"/>
              </a:spcBef>
              <a:defRPr/>
            </a:pPr>
            <a:r>
              <a:rPr lang="en-CA" sz="100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AUA</a:t>
            </a:r>
            <a:endParaRPr lang="en-CA" sz="1000" noProof="0">
              <a:solidFill>
                <a:schemeClr val="bg1"/>
              </a:solidFill>
              <a:latin typeface="Palatino Linotype" panose="02040502050505030304" pitchFamily="18" charset="0"/>
              <a:cs typeface="Arial" panose="020B0604020202020204" pitchFamily="34" charset="0"/>
            </a:endParaRPr>
          </a:p>
        </p:txBody>
      </p:sp>
      <p:sp>
        <p:nvSpPr>
          <p:cNvPr id="80" name="Rectangle 79">
            <a:extLst>
              <a:ext uri="{FF2B5EF4-FFF2-40B4-BE49-F238E27FC236}">
                <a16:creationId xmlns:a16="http://schemas.microsoft.com/office/drawing/2014/main" id="{5E5D3C8F-2125-DBC8-FF5C-B2FE814109E1}"/>
              </a:ext>
            </a:extLst>
          </p:cNvPr>
          <p:cNvSpPr/>
          <p:nvPr/>
        </p:nvSpPr>
        <p:spPr>
          <a:xfrm>
            <a:off x="3184732" y="5195022"/>
            <a:ext cx="1344168" cy="78714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defRPr/>
            </a:pP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a:t>
            </a:r>
            <a:r>
              <a:rPr lang="en-CA"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8</a:t>
            </a: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B+</a:t>
            </a:r>
            <a:endParaRPr lang="en-CA" sz="1800"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5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Capital Raised Since Inception</a:t>
            </a:r>
            <a:endParaRPr lang="en-CA" sz="1000" baseline="30000" noProof="0">
              <a:solidFill>
                <a:schemeClr val="bg1"/>
              </a:solidFill>
              <a:latin typeface="Palatino Linotype" panose="02040502050505030304" pitchFamily="18" charset="0"/>
              <a:cs typeface="Arial" panose="020B0604020202020204" pitchFamily="34" charset="0"/>
            </a:endParaRPr>
          </a:p>
        </p:txBody>
      </p:sp>
      <p:sp>
        <p:nvSpPr>
          <p:cNvPr id="81" name="Rectangle 80">
            <a:extLst>
              <a:ext uri="{FF2B5EF4-FFF2-40B4-BE49-F238E27FC236}">
                <a16:creationId xmlns:a16="http://schemas.microsoft.com/office/drawing/2014/main" id="{3161B75D-BEDD-BE33-CCCF-3C89DE43B8FB}"/>
              </a:ext>
            </a:extLst>
          </p:cNvPr>
          <p:cNvSpPr/>
          <p:nvPr/>
        </p:nvSpPr>
        <p:spPr>
          <a:xfrm>
            <a:off x="4615098" y="5195022"/>
            <a:ext cx="1344168" cy="78714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defRPr/>
            </a:pPr>
            <a:r>
              <a:rPr lang="en-CA"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110+</a:t>
            </a:r>
            <a:endParaRPr lang="en-CA" sz="1800"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0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M&amp;A Transactions Since Inception</a:t>
            </a:r>
            <a:endParaRPr lang="en-CA" sz="900" baseline="30000" noProof="0">
              <a:solidFill>
                <a:schemeClr val="bg1"/>
              </a:solidFill>
              <a:latin typeface="Palatino Linotype" panose="02040502050505030304" pitchFamily="18" charset="0"/>
              <a:cs typeface="Arial" panose="020B0604020202020204" pitchFamily="34" charset="0"/>
            </a:endParaRPr>
          </a:p>
        </p:txBody>
      </p:sp>
      <p:sp>
        <p:nvSpPr>
          <p:cNvPr id="83" name="Rectangle 82">
            <a:extLst>
              <a:ext uri="{FF2B5EF4-FFF2-40B4-BE49-F238E27FC236}">
                <a16:creationId xmlns:a16="http://schemas.microsoft.com/office/drawing/2014/main" id="{446B0002-71ED-BA7B-BC8A-1F72BCEE6968}"/>
              </a:ext>
            </a:extLst>
          </p:cNvPr>
          <p:cNvSpPr/>
          <p:nvPr/>
        </p:nvSpPr>
        <p:spPr>
          <a:xfrm>
            <a:off x="1754366" y="5195022"/>
            <a:ext cx="1344168" cy="78714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defRPr/>
            </a:pP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2,000+</a:t>
            </a:r>
            <a:endParaRPr lang="en-CA" sz="1800"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0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Lifetime Principal Transactions</a:t>
            </a:r>
            <a:endParaRPr lang="en-CA" sz="900" baseline="30000" noProof="0">
              <a:solidFill>
                <a:schemeClr val="bg1"/>
              </a:solidFill>
              <a:latin typeface="Palatino Linotype" panose="02040502050505030304" pitchFamily="18" charset="0"/>
              <a:cs typeface="Arial" panose="020B0604020202020204" pitchFamily="34" charset="0"/>
            </a:endParaRPr>
          </a:p>
        </p:txBody>
      </p:sp>
      <p:sp>
        <p:nvSpPr>
          <p:cNvPr id="84" name="Rectangle 83">
            <a:extLst>
              <a:ext uri="{FF2B5EF4-FFF2-40B4-BE49-F238E27FC236}">
                <a16:creationId xmlns:a16="http://schemas.microsoft.com/office/drawing/2014/main" id="{08EE69B0-CA81-A7D3-19EE-700E3A4A9ABE}"/>
              </a:ext>
            </a:extLst>
          </p:cNvPr>
          <p:cNvSpPr/>
          <p:nvPr/>
        </p:nvSpPr>
        <p:spPr>
          <a:xfrm>
            <a:off x="324000" y="5195022"/>
            <a:ext cx="1344168" cy="78714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defRPr/>
            </a:pP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$400B+</a:t>
            </a:r>
            <a:endParaRPr lang="en-CA" sz="1800"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0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Lifetime Principal Transaction Value</a:t>
            </a:r>
            <a:endParaRPr lang="en-CA" sz="900" baseline="30000" noProof="0">
              <a:solidFill>
                <a:schemeClr val="bg1"/>
              </a:solidFill>
              <a:latin typeface="Palatino Linotype" panose="02040502050505030304" pitchFamily="18" charset="0"/>
              <a:cs typeface="Arial" panose="020B0604020202020204" pitchFamily="34" charset="0"/>
            </a:endParaRPr>
          </a:p>
        </p:txBody>
      </p:sp>
      <p:sp>
        <p:nvSpPr>
          <p:cNvPr id="58" name="Rectangle 57">
            <a:extLst>
              <a:ext uri="{FF2B5EF4-FFF2-40B4-BE49-F238E27FC236}">
                <a16:creationId xmlns:a16="http://schemas.microsoft.com/office/drawing/2014/main" id="{DEB40CD4-2D3B-D5A7-CEB1-E4FEBDB0B434}"/>
              </a:ext>
            </a:extLst>
          </p:cNvPr>
          <p:cNvSpPr/>
          <p:nvPr/>
        </p:nvSpPr>
        <p:spPr>
          <a:xfrm>
            <a:off x="324000" y="4498314"/>
            <a:ext cx="2774534" cy="59621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defRPr/>
            </a:pP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Top Independent</a:t>
            </a:r>
            <a:endParaRPr lang="en-CA" sz="1800"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0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Canadian M&amp;A Advisor</a:t>
            </a:r>
            <a:endParaRPr lang="en-CA" sz="900" baseline="30000" noProof="0">
              <a:solidFill>
                <a:schemeClr val="bg1"/>
              </a:solidFill>
              <a:latin typeface="Palatino Linotype" panose="02040502050505030304" pitchFamily="18" charset="0"/>
              <a:cs typeface="Arial" panose="020B0604020202020204" pitchFamily="34" charset="0"/>
            </a:endParaRPr>
          </a:p>
        </p:txBody>
      </p:sp>
      <p:sp>
        <p:nvSpPr>
          <p:cNvPr id="59" name="Rectangle 58">
            <a:extLst>
              <a:ext uri="{FF2B5EF4-FFF2-40B4-BE49-F238E27FC236}">
                <a16:creationId xmlns:a16="http://schemas.microsoft.com/office/drawing/2014/main" id="{279A1DCA-EF70-D99D-5519-D0C66A90DFB7}"/>
              </a:ext>
            </a:extLst>
          </p:cNvPr>
          <p:cNvSpPr/>
          <p:nvPr/>
        </p:nvSpPr>
        <p:spPr>
          <a:xfrm>
            <a:off x="3184733" y="4498314"/>
            <a:ext cx="2774534" cy="59621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defRPr/>
            </a:pP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a:t>
            </a:r>
            <a:r>
              <a:rPr lang="en-CA"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6</a:t>
            </a: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B</a:t>
            </a:r>
            <a:endParaRPr lang="en-CA" sz="1800"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0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M&amp;A Transaction Value (2025)</a:t>
            </a:r>
            <a:endParaRPr lang="en-CA" sz="900" baseline="30000" noProof="0">
              <a:solidFill>
                <a:schemeClr val="bg1"/>
              </a:solidFill>
              <a:latin typeface="Palatino Linotype" panose="02040502050505030304" pitchFamily="18" charset="0"/>
              <a:cs typeface="Arial" panose="020B0604020202020204" pitchFamily="34" charset="0"/>
            </a:endParaRPr>
          </a:p>
        </p:txBody>
      </p:sp>
      <p:sp>
        <p:nvSpPr>
          <p:cNvPr id="60" name="Rectangle 59">
            <a:extLst>
              <a:ext uri="{FF2B5EF4-FFF2-40B4-BE49-F238E27FC236}">
                <a16:creationId xmlns:a16="http://schemas.microsoft.com/office/drawing/2014/main" id="{FBAFE56C-299A-486A-D205-4A78B5B95C61}"/>
              </a:ext>
            </a:extLst>
          </p:cNvPr>
          <p:cNvSpPr/>
          <p:nvPr/>
        </p:nvSpPr>
        <p:spPr>
          <a:xfrm>
            <a:off x="6042684" y="4498314"/>
            <a:ext cx="2774534" cy="59621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00"/>
              </a:spcBef>
              <a:defRPr/>
            </a:pPr>
            <a:r>
              <a:rPr lang="en-CA" sz="1800" b="1"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$47B+</a:t>
            </a:r>
            <a:endParaRPr lang="en-CA" sz="1800" b="1" noProof="0">
              <a:solidFill>
                <a:schemeClr val="bg1"/>
              </a:solidFill>
              <a:latin typeface="Palatino Linotype" panose="02040502050505030304" pitchFamily="18" charset="0"/>
              <a:cs typeface="Arial" panose="020B0604020202020204" pitchFamily="34" charset="0"/>
            </a:endParaRPr>
          </a:p>
          <a:p>
            <a:pPr algn="ctr">
              <a:spcBef>
                <a:spcPts val="200"/>
              </a:spcBef>
              <a:defRPr/>
            </a:pPr>
            <a:r>
              <a:rPr lang="en-CA" sz="1000" noProof="0">
                <a:solidFill>
                  <a:schemeClr val="bg1"/>
                </a:solidFill>
                <a:latin typeface="Palatino Linotype" panose="02040502050505030304" pitchFamily="18" charset="0"/>
                <a:cs typeface="Arial" panose="020B0604020202020204" pitchFamily="34" charset="0"/>
                <a:sym typeface="Wingdings" panose="05000000000000000000" pitchFamily="2" charset="2"/>
              </a:rPr>
              <a:t>M&amp;A Transaction Value Since Inception</a:t>
            </a:r>
            <a:endParaRPr lang="en-CA" sz="900" baseline="30000" noProof="0">
              <a:solidFill>
                <a:schemeClr val="bg1"/>
              </a:solidFill>
              <a:latin typeface="Palatino Linotype" panose="02040502050505030304" pitchFamily="18" charset="0"/>
              <a:cs typeface="Arial" panose="020B0604020202020204" pitchFamily="34" charset="0"/>
            </a:endParaRPr>
          </a:p>
        </p:txBody>
      </p:sp>
      <p:pic>
        <p:nvPicPr>
          <p:cNvPr id="1032" name="Picture 8" descr="Download Celestica Logo in SVG Vector or PNG File Format ...">
            <a:extLst>
              <a:ext uri="{FF2B5EF4-FFF2-40B4-BE49-F238E27FC236}">
                <a16:creationId xmlns:a16="http://schemas.microsoft.com/office/drawing/2014/main" id="{BF06D90F-CF64-A264-E838-5346FE29581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9963" t="29450" r="9963" b="29450"/>
          <a:stretch/>
        </p:blipFill>
        <p:spPr bwMode="auto">
          <a:xfrm>
            <a:off x="6814046" y="1994838"/>
            <a:ext cx="1151171" cy="393909"/>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12" descr="About us | CI First Asset">
            <a:extLst>
              <a:ext uri="{FF2B5EF4-FFF2-40B4-BE49-F238E27FC236}">
                <a16:creationId xmlns:a16="http://schemas.microsoft.com/office/drawing/2014/main" id="{8EC500B1-0E74-6FA4-DE67-54E2A68C8B4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79464" y="2069845"/>
            <a:ext cx="984685" cy="28093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ubadala Capital | Career Page">
            <a:extLst>
              <a:ext uri="{FF2B5EF4-FFF2-40B4-BE49-F238E27FC236}">
                <a16:creationId xmlns:a16="http://schemas.microsoft.com/office/drawing/2014/main" id="{95BF2B8D-40D7-F816-6CC5-160331893F2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79852" y="2125573"/>
            <a:ext cx="984685" cy="209285"/>
          </a:xfrm>
          <a:prstGeom prst="rect">
            <a:avLst/>
          </a:prstGeom>
          <a:noFill/>
          <a:extLst>
            <a:ext uri="{909E8E84-426E-40DD-AFC4-6F175D3DCCD1}">
              <a14:hiddenFill xmlns:a14="http://schemas.microsoft.com/office/drawing/2010/main">
                <a:solidFill>
                  <a:srgbClr val="FFFFFF"/>
                </a:solidFill>
              </a14:hiddenFill>
            </a:ext>
          </a:extLst>
        </p:spPr>
      </p:pic>
      <p:grpSp>
        <p:nvGrpSpPr>
          <p:cNvPr id="1025" name="Group 1024">
            <a:extLst>
              <a:ext uri="{FF2B5EF4-FFF2-40B4-BE49-F238E27FC236}">
                <a16:creationId xmlns:a16="http://schemas.microsoft.com/office/drawing/2014/main" id="{B2D34E86-33BD-A7CF-5962-22213F6E4439}"/>
              </a:ext>
            </a:extLst>
          </p:cNvPr>
          <p:cNvGrpSpPr/>
          <p:nvPr/>
        </p:nvGrpSpPr>
        <p:grpSpPr>
          <a:xfrm>
            <a:off x="324000" y="1572127"/>
            <a:ext cx="2774534" cy="1285194"/>
            <a:chOff x="324000" y="1456242"/>
            <a:chExt cx="2774534" cy="1285194"/>
          </a:xfrm>
        </p:grpSpPr>
        <p:grpSp>
          <p:nvGrpSpPr>
            <p:cNvPr id="67" name="Group 66">
              <a:extLst>
                <a:ext uri="{FF2B5EF4-FFF2-40B4-BE49-F238E27FC236}">
                  <a16:creationId xmlns:a16="http://schemas.microsoft.com/office/drawing/2014/main" id="{D607E570-7DE3-1129-D2E7-749611402E9E}"/>
                </a:ext>
              </a:extLst>
            </p:cNvPr>
            <p:cNvGrpSpPr/>
            <p:nvPr/>
          </p:nvGrpSpPr>
          <p:grpSpPr>
            <a:xfrm>
              <a:off x="324000" y="1456242"/>
              <a:ext cx="2774534" cy="1285194"/>
              <a:chOff x="368817" y="1456242"/>
              <a:chExt cx="1412344" cy="2198130"/>
            </a:xfrm>
          </p:grpSpPr>
          <p:sp>
            <p:nvSpPr>
              <p:cNvPr id="66" name="Rectangle 65">
                <a:extLst>
                  <a:ext uri="{FF2B5EF4-FFF2-40B4-BE49-F238E27FC236}">
                    <a16:creationId xmlns:a16="http://schemas.microsoft.com/office/drawing/2014/main" id="{4B779B80-5EBA-4772-07E6-12F1209B3D83}"/>
                  </a:ext>
                </a:extLst>
              </p:cNvPr>
              <p:cNvSpPr/>
              <p:nvPr/>
            </p:nvSpPr>
            <p:spPr>
              <a:xfrm>
                <a:off x="368817" y="1456242"/>
                <a:ext cx="1412344" cy="211969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p>
            </p:txBody>
          </p:sp>
          <p:sp>
            <p:nvSpPr>
              <p:cNvPr id="12" name="TextBox 83">
                <a:extLst>
                  <a:ext uri="{FF2B5EF4-FFF2-40B4-BE49-F238E27FC236}">
                    <a16:creationId xmlns:a16="http://schemas.microsoft.com/office/drawing/2014/main" id="{41F591D7-EC0D-511E-8E1C-E3A213DD8A1A}"/>
                  </a:ext>
                </a:extLst>
              </p:cNvPr>
              <p:cNvSpPr txBox="1"/>
              <p:nvPr/>
            </p:nvSpPr>
            <p:spPr>
              <a:xfrm>
                <a:off x="405702" y="1512903"/>
                <a:ext cx="1338574" cy="531353"/>
              </a:xfrm>
              <a:prstGeom prst="rect">
                <a:avLst/>
              </a:prstGeom>
              <a:noFill/>
              <a:ln>
                <a:noFill/>
              </a:ln>
            </p:spPr>
            <p:txBody>
              <a:bodyPr wrap="square" lIns="0" tIns="0" rIns="0" bIns="0">
                <a:spAutoFit/>
              </a:bodyPr>
              <a:lstStyle>
                <a:defPPr>
                  <a:defRPr lang="en-US"/>
                </a:defPPr>
                <a:lvl1pPr algn="ctr" rtl="0" fontAlgn="base">
                  <a:spcBef>
                    <a:spcPct val="0"/>
                  </a:spcBef>
                  <a:spcAft>
                    <a:spcPct val="0"/>
                  </a:spcAft>
                  <a:defRPr sz="1200" kern="1200">
                    <a:solidFill>
                      <a:srgbClr val="000000"/>
                    </a:solidFill>
                    <a:latin typeface="Arial" charset="0"/>
                    <a:ea typeface="+mn-ea"/>
                    <a:cs typeface="+mn-cs"/>
                  </a:defRPr>
                </a:lvl1pPr>
                <a:lvl2pPr marL="457146" algn="ctr" rtl="0" fontAlgn="base">
                  <a:spcBef>
                    <a:spcPct val="0"/>
                  </a:spcBef>
                  <a:spcAft>
                    <a:spcPct val="0"/>
                  </a:spcAft>
                  <a:defRPr sz="1200" kern="1200">
                    <a:solidFill>
                      <a:srgbClr val="000000"/>
                    </a:solidFill>
                    <a:latin typeface="Arial" charset="0"/>
                    <a:ea typeface="+mn-ea"/>
                    <a:cs typeface="+mn-cs"/>
                  </a:defRPr>
                </a:lvl2pPr>
                <a:lvl3pPr marL="914294" algn="ctr" rtl="0" fontAlgn="base">
                  <a:spcBef>
                    <a:spcPct val="0"/>
                  </a:spcBef>
                  <a:spcAft>
                    <a:spcPct val="0"/>
                  </a:spcAft>
                  <a:defRPr sz="1200" kern="1200">
                    <a:solidFill>
                      <a:srgbClr val="000000"/>
                    </a:solidFill>
                    <a:latin typeface="Arial" charset="0"/>
                    <a:ea typeface="+mn-ea"/>
                    <a:cs typeface="+mn-cs"/>
                  </a:defRPr>
                </a:lvl3pPr>
                <a:lvl4pPr marL="1371440" algn="ctr" rtl="0" fontAlgn="base">
                  <a:spcBef>
                    <a:spcPct val="0"/>
                  </a:spcBef>
                  <a:spcAft>
                    <a:spcPct val="0"/>
                  </a:spcAft>
                  <a:defRPr sz="1200" kern="1200">
                    <a:solidFill>
                      <a:srgbClr val="000000"/>
                    </a:solidFill>
                    <a:latin typeface="Arial" charset="0"/>
                    <a:ea typeface="+mn-ea"/>
                    <a:cs typeface="+mn-cs"/>
                  </a:defRPr>
                </a:lvl4pPr>
                <a:lvl5pPr marL="1828586" algn="ctr" rtl="0" fontAlgn="base">
                  <a:spcBef>
                    <a:spcPct val="0"/>
                  </a:spcBef>
                  <a:spcAft>
                    <a:spcPct val="0"/>
                  </a:spcAft>
                  <a:defRPr sz="1200" kern="1200">
                    <a:solidFill>
                      <a:srgbClr val="000000"/>
                    </a:solidFill>
                    <a:latin typeface="Arial" charset="0"/>
                    <a:ea typeface="+mn-ea"/>
                    <a:cs typeface="+mn-cs"/>
                  </a:defRPr>
                </a:lvl5pPr>
                <a:lvl6pPr marL="2285732" algn="l" defTabSz="914294" rtl="0" eaLnBrk="1" latinLnBrk="0" hangingPunct="1">
                  <a:defRPr sz="1200" kern="1200">
                    <a:solidFill>
                      <a:srgbClr val="000000"/>
                    </a:solidFill>
                    <a:latin typeface="Arial" charset="0"/>
                    <a:ea typeface="+mn-ea"/>
                    <a:cs typeface="+mn-cs"/>
                  </a:defRPr>
                </a:lvl6pPr>
                <a:lvl7pPr marL="2742880" algn="l" defTabSz="914294" rtl="0" eaLnBrk="1" latinLnBrk="0" hangingPunct="1">
                  <a:defRPr sz="1200" kern="1200">
                    <a:solidFill>
                      <a:srgbClr val="000000"/>
                    </a:solidFill>
                    <a:latin typeface="Arial" charset="0"/>
                    <a:ea typeface="+mn-ea"/>
                    <a:cs typeface="+mn-cs"/>
                  </a:defRPr>
                </a:lvl7pPr>
                <a:lvl8pPr marL="3200026" algn="l" defTabSz="914294" rtl="0" eaLnBrk="1" latinLnBrk="0" hangingPunct="1">
                  <a:defRPr sz="1200" kern="1200">
                    <a:solidFill>
                      <a:srgbClr val="000000"/>
                    </a:solidFill>
                    <a:latin typeface="Arial" charset="0"/>
                    <a:ea typeface="+mn-ea"/>
                    <a:cs typeface="+mn-cs"/>
                  </a:defRPr>
                </a:lvl8pPr>
                <a:lvl9pPr marL="3657172" algn="l" defTabSz="914294" rtl="0" eaLnBrk="1" latinLnBrk="0" hangingPunct="1">
                  <a:defRPr sz="1200" kern="1200">
                    <a:solidFill>
                      <a:srgbClr val="000000"/>
                    </a:solidFill>
                    <a:latin typeface="Arial"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Largest Restructuring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in Canadian History</a:t>
                </a:r>
              </a:p>
            </p:txBody>
          </p:sp>
          <p:sp>
            <p:nvSpPr>
              <p:cNvPr id="2" name="Rectangle 1">
                <a:extLst>
                  <a:ext uri="{FF2B5EF4-FFF2-40B4-BE49-F238E27FC236}">
                    <a16:creationId xmlns:a16="http://schemas.microsoft.com/office/drawing/2014/main" id="{2E939F61-0FCA-B900-06FC-E68F8D360773}"/>
                  </a:ext>
                </a:extLst>
              </p:cNvPr>
              <p:cNvSpPr/>
              <p:nvPr/>
            </p:nvSpPr>
            <p:spPr>
              <a:xfrm>
                <a:off x="562235" y="2920704"/>
                <a:ext cx="1025509" cy="733668"/>
              </a:xfrm>
              <a:prstGeom prst="rect">
                <a:avLst/>
              </a:prstGeom>
              <a:ln>
                <a:noFill/>
              </a:ln>
            </p:spPr>
            <p:txBody>
              <a:bodyPr wrap="square" lIns="99992" tIns="50003" rIns="99992" bIns="50003">
                <a:spAutoFit/>
              </a:bodyPr>
              <a:lstStyle/>
              <a:p>
                <a:pPr algn="ctr" defTabSz="997642" fontAlgn="base">
                  <a:lnSpc>
                    <a:spcPts val="2674"/>
                  </a:lnSpc>
                  <a:spcBef>
                    <a:spcPct val="0"/>
                  </a:spcBef>
                  <a:spcAft>
                    <a:spcPct val="0"/>
                  </a:spcAft>
                  <a:defRPr/>
                </a:pPr>
                <a:r>
                  <a:rPr lang="en-CA" sz="2000" b="1" noProof="0">
                    <a:solidFill>
                      <a:srgbClr val="6E8DB0"/>
                    </a:solidFill>
                    <a:latin typeface="Palatino Linotype" panose="02040502050505030304" pitchFamily="18" charset="0"/>
                    <a:cs typeface="Arial" panose="020B0604020202020204" pitchFamily="34" charset="0"/>
                  </a:rPr>
                  <a:t>~$73B</a:t>
                </a:r>
              </a:p>
            </p:txBody>
          </p:sp>
        </p:grpSp>
        <p:pic>
          <p:nvPicPr>
            <p:cNvPr id="118" name="Picture 2" descr="Nortel Networks Logo PNG Transparent &amp; SVG Vector - Freebie Supply">
              <a:extLst>
                <a:ext uri="{FF2B5EF4-FFF2-40B4-BE49-F238E27FC236}">
                  <a16:creationId xmlns:a16="http://schemas.microsoft.com/office/drawing/2014/main" id="{4BC20C13-5848-0268-E9FB-65A36729477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37380" b="36527"/>
            <a:stretch/>
          </p:blipFill>
          <p:spPr bwMode="auto">
            <a:xfrm>
              <a:off x="845060" y="1979010"/>
              <a:ext cx="921743" cy="240505"/>
            </a:xfrm>
            <a:prstGeom prst="rect">
              <a:avLst/>
            </a:prstGeom>
            <a:noFill/>
            <a:extLst>
              <a:ext uri="{909E8E84-426E-40DD-AFC4-6F175D3DCCD1}">
                <a14:hiddenFill xmlns:a14="http://schemas.microsoft.com/office/drawing/2010/main">
                  <a:solidFill>
                    <a:srgbClr val="FFFFFF"/>
                  </a:solidFill>
                </a14:hiddenFill>
              </a:ext>
            </a:extLst>
          </p:spPr>
        </p:pic>
        <p:pic>
          <p:nvPicPr>
            <p:cNvPr id="120" name="Picture 6" descr="undefined">
              <a:extLst>
                <a:ext uri="{FF2B5EF4-FFF2-40B4-BE49-F238E27FC236}">
                  <a16:creationId xmlns:a16="http://schemas.microsoft.com/office/drawing/2014/main" id="{2BA5AB72-AE61-7259-975E-CD4ADAB09CDB}"/>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5567" t="11729" r="5253" b="10536"/>
            <a:stretch/>
          </p:blipFill>
          <p:spPr bwMode="auto">
            <a:xfrm>
              <a:off x="1905318" y="1960789"/>
              <a:ext cx="527350" cy="24994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28" name="Group 1027">
            <a:extLst>
              <a:ext uri="{FF2B5EF4-FFF2-40B4-BE49-F238E27FC236}">
                <a16:creationId xmlns:a16="http://schemas.microsoft.com/office/drawing/2014/main" id="{733A2859-E68F-00C4-9B0D-18557B9D4CF0}"/>
              </a:ext>
            </a:extLst>
          </p:cNvPr>
          <p:cNvGrpSpPr/>
          <p:nvPr/>
        </p:nvGrpSpPr>
        <p:grpSpPr>
          <a:xfrm>
            <a:off x="324000" y="2958265"/>
            <a:ext cx="2774534" cy="1285194"/>
            <a:chOff x="368817" y="1456242"/>
            <a:chExt cx="1412344" cy="2198130"/>
          </a:xfrm>
        </p:grpSpPr>
        <p:sp>
          <p:nvSpPr>
            <p:cNvPr id="1033" name="Rectangle 1032">
              <a:extLst>
                <a:ext uri="{FF2B5EF4-FFF2-40B4-BE49-F238E27FC236}">
                  <a16:creationId xmlns:a16="http://schemas.microsoft.com/office/drawing/2014/main" id="{B9A68F2D-F606-EED8-0DC1-82125FF9CB36}"/>
                </a:ext>
              </a:extLst>
            </p:cNvPr>
            <p:cNvSpPr/>
            <p:nvPr/>
          </p:nvSpPr>
          <p:spPr>
            <a:xfrm>
              <a:off x="368817" y="1456242"/>
              <a:ext cx="1412344" cy="211969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p>
          </p:txBody>
        </p:sp>
        <p:sp>
          <p:nvSpPr>
            <p:cNvPr id="1035" name="TextBox 83">
              <a:extLst>
                <a:ext uri="{FF2B5EF4-FFF2-40B4-BE49-F238E27FC236}">
                  <a16:creationId xmlns:a16="http://schemas.microsoft.com/office/drawing/2014/main" id="{8B6DACC0-39F9-1D22-9968-C7AE22117DF4}"/>
                </a:ext>
              </a:extLst>
            </p:cNvPr>
            <p:cNvSpPr txBox="1"/>
            <p:nvPr/>
          </p:nvSpPr>
          <p:spPr>
            <a:xfrm>
              <a:off x="405702" y="1512902"/>
              <a:ext cx="1338574" cy="579045"/>
            </a:xfrm>
            <a:prstGeom prst="rect">
              <a:avLst/>
            </a:prstGeom>
            <a:noFill/>
            <a:ln>
              <a:noFill/>
            </a:ln>
          </p:spPr>
          <p:txBody>
            <a:bodyPr wrap="square" lIns="0" tIns="0" rIns="0" bIns="0">
              <a:spAutoFit/>
            </a:bodyPr>
            <a:lstStyle>
              <a:defPPr>
                <a:defRPr lang="en-US"/>
              </a:defPPr>
              <a:lvl1pPr algn="ctr" rtl="0" fontAlgn="base">
                <a:spcBef>
                  <a:spcPct val="0"/>
                </a:spcBef>
                <a:spcAft>
                  <a:spcPct val="0"/>
                </a:spcAft>
                <a:defRPr sz="1200" kern="1200">
                  <a:solidFill>
                    <a:srgbClr val="000000"/>
                  </a:solidFill>
                  <a:latin typeface="Arial" charset="0"/>
                  <a:ea typeface="+mn-ea"/>
                  <a:cs typeface="+mn-cs"/>
                </a:defRPr>
              </a:lvl1pPr>
              <a:lvl2pPr marL="457146" algn="ctr" rtl="0" fontAlgn="base">
                <a:spcBef>
                  <a:spcPct val="0"/>
                </a:spcBef>
                <a:spcAft>
                  <a:spcPct val="0"/>
                </a:spcAft>
                <a:defRPr sz="1200" kern="1200">
                  <a:solidFill>
                    <a:srgbClr val="000000"/>
                  </a:solidFill>
                  <a:latin typeface="Arial" charset="0"/>
                  <a:ea typeface="+mn-ea"/>
                  <a:cs typeface="+mn-cs"/>
                </a:defRPr>
              </a:lvl2pPr>
              <a:lvl3pPr marL="914294" algn="ctr" rtl="0" fontAlgn="base">
                <a:spcBef>
                  <a:spcPct val="0"/>
                </a:spcBef>
                <a:spcAft>
                  <a:spcPct val="0"/>
                </a:spcAft>
                <a:defRPr sz="1200" kern="1200">
                  <a:solidFill>
                    <a:srgbClr val="000000"/>
                  </a:solidFill>
                  <a:latin typeface="Arial" charset="0"/>
                  <a:ea typeface="+mn-ea"/>
                  <a:cs typeface="+mn-cs"/>
                </a:defRPr>
              </a:lvl3pPr>
              <a:lvl4pPr marL="1371440" algn="ctr" rtl="0" fontAlgn="base">
                <a:spcBef>
                  <a:spcPct val="0"/>
                </a:spcBef>
                <a:spcAft>
                  <a:spcPct val="0"/>
                </a:spcAft>
                <a:defRPr sz="1200" kern="1200">
                  <a:solidFill>
                    <a:srgbClr val="000000"/>
                  </a:solidFill>
                  <a:latin typeface="Arial" charset="0"/>
                  <a:ea typeface="+mn-ea"/>
                  <a:cs typeface="+mn-cs"/>
                </a:defRPr>
              </a:lvl4pPr>
              <a:lvl5pPr marL="1828586" algn="ctr" rtl="0" fontAlgn="base">
                <a:spcBef>
                  <a:spcPct val="0"/>
                </a:spcBef>
                <a:spcAft>
                  <a:spcPct val="0"/>
                </a:spcAft>
                <a:defRPr sz="1200" kern="1200">
                  <a:solidFill>
                    <a:srgbClr val="000000"/>
                  </a:solidFill>
                  <a:latin typeface="Arial" charset="0"/>
                  <a:ea typeface="+mn-ea"/>
                  <a:cs typeface="+mn-cs"/>
                </a:defRPr>
              </a:lvl5pPr>
              <a:lvl6pPr marL="2285732" algn="l" defTabSz="914294" rtl="0" eaLnBrk="1" latinLnBrk="0" hangingPunct="1">
                <a:defRPr sz="1200" kern="1200">
                  <a:solidFill>
                    <a:srgbClr val="000000"/>
                  </a:solidFill>
                  <a:latin typeface="Arial" charset="0"/>
                  <a:ea typeface="+mn-ea"/>
                  <a:cs typeface="+mn-cs"/>
                </a:defRPr>
              </a:lvl6pPr>
              <a:lvl7pPr marL="2742880" algn="l" defTabSz="914294" rtl="0" eaLnBrk="1" latinLnBrk="0" hangingPunct="1">
                <a:defRPr sz="1200" kern="1200">
                  <a:solidFill>
                    <a:srgbClr val="000000"/>
                  </a:solidFill>
                  <a:latin typeface="Arial" charset="0"/>
                  <a:ea typeface="+mn-ea"/>
                  <a:cs typeface="+mn-cs"/>
                </a:defRPr>
              </a:lvl7pPr>
              <a:lvl8pPr marL="3200026" algn="l" defTabSz="914294" rtl="0" eaLnBrk="1" latinLnBrk="0" hangingPunct="1">
                <a:defRPr sz="1200" kern="1200">
                  <a:solidFill>
                    <a:srgbClr val="000000"/>
                  </a:solidFill>
                  <a:latin typeface="Arial" charset="0"/>
                  <a:ea typeface="+mn-ea"/>
                  <a:cs typeface="+mn-cs"/>
                </a:defRPr>
              </a:lvl8pPr>
              <a:lvl9pPr marL="3657172" algn="l" defTabSz="914294" rtl="0" eaLnBrk="1" latinLnBrk="0" hangingPunct="1">
                <a:defRPr sz="1200" kern="1200">
                  <a:solidFill>
                    <a:srgbClr val="000000"/>
                  </a:solidFill>
                  <a:latin typeface="Arial"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Largest Secondary Offering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in Canadian History</a:t>
              </a:r>
            </a:p>
          </p:txBody>
        </p:sp>
        <p:sp>
          <p:nvSpPr>
            <p:cNvPr id="1036" name="Rectangle 1035">
              <a:extLst>
                <a:ext uri="{FF2B5EF4-FFF2-40B4-BE49-F238E27FC236}">
                  <a16:creationId xmlns:a16="http://schemas.microsoft.com/office/drawing/2014/main" id="{FE560300-9E37-21F5-B09B-971400DCBB15}"/>
                </a:ext>
              </a:extLst>
            </p:cNvPr>
            <p:cNvSpPr/>
            <p:nvPr/>
          </p:nvSpPr>
          <p:spPr>
            <a:xfrm>
              <a:off x="562235" y="2920704"/>
              <a:ext cx="1025509" cy="733668"/>
            </a:xfrm>
            <a:prstGeom prst="rect">
              <a:avLst/>
            </a:prstGeom>
            <a:ln>
              <a:noFill/>
            </a:ln>
          </p:spPr>
          <p:txBody>
            <a:bodyPr wrap="square" lIns="99992" tIns="50003" rIns="99992" bIns="50003">
              <a:spAutoFit/>
            </a:bodyPr>
            <a:lstStyle/>
            <a:p>
              <a:pPr algn="ctr" defTabSz="997642" fontAlgn="base">
                <a:lnSpc>
                  <a:spcPts val="2674"/>
                </a:lnSpc>
                <a:spcBef>
                  <a:spcPct val="0"/>
                </a:spcBef>
                <a:spcAft>
                  <a:spcPct val="0"/>
                </a:spcAft>
                <a:defRPr/>
              </a:pPr>
              <a:r>
                <a:rPr lang="en-CA" sz="2000" b="1" noProof="0">
                  <a:solidFill>
                    <a:srgbClr val="6E8DB0"/>
                  </a:solidFill>
                  <a:latin typeface="Palatino Linotype" panose="02040502050505030304" pitchFamily="18" charset="0"/>
                  <a:cs typeface="Arial" panose="020B0604020202020204" pitchFamily="34" charset="0"/>
                </a:rPr>
                <a:t>~$3B</a:t>
              </a:r>
            </a:p>
          </p:txBody>
        </p:sp>
      </p:grpSp>
      <p:grpSp>
        <p:nvGrpSpPr>
          <p:cNvPr id="1038" name="Group 1037">
            <a:extLst>
              <a:ext uri="{FF2B5EF4-FFF2-40B4-BE49-F238E27FC236}">
                <a16:creationId xmlns:a16="http://schemas.microsoft.com/office/drawing/2014/main" id="{1C994FA2-AF9A-47C1-0CC4-7A54A36448C3}"/>
              </a:ext>
            </a:extLst>
          </p:cNvPr>
          <p:cNvGrpSpPr/>
          <p:nvPr/>
        </p:nvGrpSpPr>
        <p:grpSpPr>
          <a:xfrm>
            <a:off x="3184732" y="1572127"/>
            <a:ext cx="2774534" cy="1285194"/>
            <a:chOff x="368817" y="1456242"/>
            <a:chExt cx="1412344" cy="2198130"/>
          </a:xfrm>
        </p:grpSpPr>
        <p:sp>
          <p:nvSpPr>
            <p:cNvPr id="1041" name="Rectangle 1040">
              <a:extLst>
                <a:ext uri="{FF2B5EF4-FFF2-40B4-BE49-F238E27FC236}">
                  <a16:creationId xmlns:a16="http://schemas.microsoft.com/office/drawing/2014/main" id="{6F6CD463-0D26-69C3-BA5D-04C92F8ACF53}"/>
                </a:ext>
              </a:extLst>
            </p:cNvPr>
            <p:cNvSpPr/>
            <p:nvPr/>
          </p:nvSpPr>
          <p:spPr>
            <a:xfrm>
              <a:off x="368817" y="1456242"/>
              <a:ext cx="1412344" cy="211969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p>
          </p:txBody>
        </p:sp>
        <p:sp>
          <p:nvSpPr>
            <p:cNvPr id="1042" name="TextBox 83">
              <a:extLst>
                <a:ext uri="{FF2B5EF4-FFF2-40B4-BE49-F238E27FC236}">
                  <a16:creationId xmlns:a16="http://schemas.microsoft.com/office/drawing/2014/main" id="{D5AABCB4-7F64-F041-3FAA-62C03EEE836A}"/>
                </a:ext>
              </a:extLst>
            </p:cNvPr>
            <p:cNvSpPr txBox="1"/>
            <p:nvPr/>
          </p:nvSpPr>
          <p:spPr>
            <a:xfrm>
              <a:off x="405702" y="1512902"/>
              <a:ext cx="1338574" cy="579045"/>
            </a:xfrm>
            <a:prstGeom prst="rect">
              <a:avLst/>
            </a:prstGeom>
            <a:noFill/>
            <a:ln>
              <a:noFill/>
            </a:ln>
          </p:spPr>
          <p:txBody>
            <a:bodyPr wrap="square" lIns="0" tIns="0" rIns="0" bIns="0">
              <a:spAutoFit/>
            </a:bodyPr>
            <a:lstStyle>
              <a:defPPr>
                <a:defRPr lang="en-US"/>
              </a:defPPr>
              <a:lvl1pPr algn="ctr" rtl="0" fontAlgn="base">
                <a:spcBef>
                  <a:spcPct val="0"/>
                </a:spcBef>
                <a:spcAft>
                  <a:spcPct val="0"/>
                </a:spcAft>
                <a:defRPr sz="1200" kern="1200">
                  <a:solidFill>
                    <a:srgbClr val="000000"/>
                  </a:solidFill>
                  <a:latin typeface="Arial" charset="0"/>
                  <a:ea typeface="+mn-ea"/>
                  <a:cs typeface="+mn-cs"/>
                </a:defRPr>
              </a:lvl1pPr>
              <a:lvl2pPr marL="457146" algn="ctr" rtl="0" fontAlgn="base">
                <a:spcBef>
                  <a:spcPct val="0"/>
                </a:spcBef>
                <a:spcAft>
                  <a:spcPct val="0"/>
                </a:spcAft>
                <a:defRPr sz="1200" kern="1200">
                  <a:solidFill>
                    <a:srgbClr val="000000"/>
                  </a:solidFill>
                  <a:latin typeface="Arial" charset="0"/>
                  <a:ea typeface="+mn-ea"/>
                  <a:cs typeface="+mn-cs"/>
                </a:defRPr>
              </a:lvl2pPr>
              <a:lvl3pPr marL="914294" algn="ctr" rtl="0" fontAlgn="base">
                <a:spcBef>
                  <a:spcPct val="0"/>
                </a:spcBef>
                <a:spcAft>
                  <a:spcPct val="0"/>
                </a:spcAft>
                <a:defRPr sz="1200" kern="1200">
                  <a:solidFill>
                    <a:srgbClr val="000000"/>
                  </a:solidFill>
                  <a:latin typeface="Arial" charset="0"/>
                  <a:ea typeface="+mn-ea"/>
                  <a:cs typeface="+mn-cs"/>
                </a:defRPr>
              </a:lvl3pPr>
              <a:lvl4pPr marL="1371440" algn="ctr" rtl="0" fontAlgn="base">
                <a:spcBef>
                  <a:spcPct val="0"/>
                </a:spcBef>
                <a:spcAft>
                  <a:spcPct val="0"/>
                </a:spcAft>
                <a:defRPr sz="1200" kern="1200">
                  <a:solidFill>
                    <a:srgbClr val="000000"/>
                  </a:solidFill>
                  <a:latin typeface="Arial" charset="0"/>
                  <a:ea typeface="+mn-ea"/>
                  <a:cs typeface="+mn-cs"/>
                </a:defRPr>
              </a:lvl4pPr>
              <a:lvl5pPr marL="1828586" algn="ctr" rtl="0" fontAlgn="base">
                <a:spcBef>
                  <a:spcPct val="0"/>
                </a:spcBef>
                <a:spcAft>
                  <a:spcPct val="0"/>
                </a:spcAft>
                <a:defRPr sz="1200" kern="1200">
                  <a:solidFill>
                    <a:srgbClr val="000000"/>
                  </a:solidFill>
                  <a:latin typeface="Arial" charset="0"/>
                  <a:ea typeface="+mn-ea"/>
                  <a:cs typeface="+mn-cs"/>
                </a:defRPr>
              </a:lvl5pPr>
              <a:lvl6pPr marL="2285732" algn="l" defTabSz="914294" rtl="0" eaLnBrk="1" latinLnBrk="0" hangingPunct="1">
                <a:defRPr sz="1200" kern="1200">
                  <a:solidFill>
                    <a:srgbClr val="000000"/>
                  </a:solidFill>
                  <a:latin typeface="Arial" charset="0"/>
                  <a:ea typeface="+mn-ea"/>
                  <a:cs typeface="+mn-cs"/>
                </a:defRPr>
              </a:lvl6pPr>
              <a:lvl7pPr marL="2742880" algn="l" defTabSz="914294" rtl="0" eaLnBrk="1" latinLnBrk="0" hangingPunct="1">
                <a:defRPr sz="1200" kern="1200">
                  <a:solidFill>
                    <a:srgbClr val="000000"/>
                  </a:solidFill>
                  <a:latin typeface="Arial" charset="0"/>
                  <a:ea typeface="+mn-ea"/>
                  <a:cs typeface="+mn-cs"/>
                </a:defRPr>
              </a:lvl7pPr>
              <a:lvl8pPr marL="3200026" algn="l" defTabSz="914294" rtl="0" eaLnBrk="1" latinLnBrk="0" hangingPunct="1">
                <a:defRPr sz="1200" kern="1200">
                  <a:solidFill>
                    <a:srgbClr val="000000"/>
                  </a:solidFill>
                  <a:latin typeface="Arial" charset="0"/>
                  <a:ea typeface="+mn-ea"/>
                  <a:cs typeface="+mn-cs"/>
                </a:defRPr>
              </a:lvl8pPr>
              <a:lvl9pPr marL="3657172" algn="l" defTabSz="914294" rtl="0" eaLnBrk="1" latinLnBrk="0" hangingPunct="1">
                <a:defRPr sz="1200" kern="1200">
                  <a:solidFill>
                    <a:srgbClr val="000000"/>
                  </a:solidFill>
                  <a:latin typeface="Arial"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Largest Take Private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in Canadian History</a:t>
              </a:r>
            </a:p>
          </p:txBody>
        </p:sp>
        <p:sp>
          <p:nvSpPr>
            <p:cNvPr id="1043" name="Rectangle 1042">
              <a:extLst>
                <a:ext uri="{FF2B5EF4-FFF2-40B4-BE49-F238E27FC236}">
                  <a16:creationId xmlns:a16="http://schemas.microsoft.com/office/drawing/2014/main" id="{343257FA-C277-C957-2BCE-3F2A44C71408}"/>
                </a:ext>
              </a:extLst>
            </p:cNvPr>
            <p:cNvSpPr/>
            <p:nvPr/>
          </p:nvSpPr>
          <p:spPr>
            <a:xfrm>
              <a:off x="562235" y="2920704"/>
              <a:ext cx="1025509" cy="733668"/>
            </a:xfrm>
            <a:prstGeom prst="rect">
              <a:avLst/>
            </a:prstGeom>
            <a:ln>
              <a:noFill/>
            </a:ln>
          </p:spPr>
          <p:txBody>
            <a:bodyPr wrap="square" lIns="99992" tIns="50003" rIns="99992" bIns="50003">
              <a:spAutoFit/>
            </a:bodyPr>
            <a:lstStyle/>
            <a:p>
              <a:pPr algn="ctr" defTabSz="997642" fontAlgn="base">
                <a:lnSpc>
                  <a:spcPts val="2674"/>
                </a:lnSpc>
                <a:spcBef>
                  <a:spcPct val="0"/>
                </a:spcBef>
                <a:spcAft>
                  <a:spcPct val="0"/>
                </a:spcAft>
                <a:defRPr/>
              </a:pPr>
              <a:r>
                <a:rPr lang="en-CA" sz="2000" b="1" noProof="0">
                  <a:solidFill>
                    <a:srgbClr val="6E8DB0"/>
                  </a:solidFill>
                  <a:latin typeface="Palatino Linotype" panose="02040502050505030304" pitchFamily="18" charset="0"/>
                  <a:cs typeface="Arial" panose="020B0604020202020204" pitchFamily="34" charset="0"/>
                </a:rPr>
                <a:t>~$12B</a:t>
              </a:r>
            </a:p>
          </p:txBody>
        </p:sp>
      </p:grpSp>
      <p:grpSp>
        <p:nvGrpSpPr>
          <p:cNvPr id="1052" name="Group 1051">
            <a:extLst>
              <a:ext uri="{FF2B5EF4-FFF2-40B4-BE49-F238E27FC236}">
                <a16:creationId xmlns:a16="http://schemas.microsoft.com/office/drawing/2014/main" id="{1E4BD7D1-0B08-5FD7-F138-49BC02920C6B}"/>
              </a:ext>
            </a:extLst>
          </p:cNvPr>
          <p:cNvGrpSpPr/>
          <p:nvPr/>
        </p:nvGrpSpPr>
        <p:grpSpPr>
          <a:xfrm>
            <a:off x="6042684" y="1572127"/>
            <a:ext cx="2774534" cy="1285194"/>
            <a:chOff x="368817" y="1456242"/>
            <a:chExt cx="1412344" cy="2198130"/>
          </a:xfrm>
        </p:grpSpPr>
        <p:sp>
          <p:nvSpPr>
            <p:cNvPr id="1055" name="Rectangle 1054">
              <a:extLst>
                <a:ext uri="{FF2B5EF4-FFF2-40B4-BE49-F238E27FC236}">
                  <a16:creationId xmlns:a16="http://schemas.microsoft.com/office/drawing/2014/main" id="{CE384988-AD9F-8C04-CBC4-6B316B922681}"/>
                </a:ext>
              </a:extLst>
            </p:cNvPr>
            <p:cNvSpPr/>
            <p:nvPr/>
          </p:nvSpPr>
          <p:spPr>
            <a:xfrm>
              <a:off x="368817" y="1456242"/>
              <a:ext cx="1412344" cy="211969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p>
          </p:txBody>
        </p:sp>
        <p:sp>
          <p:nvSpPr>
            <p:cNvPr id="1056" name="TextBox 83">
              <a:extLst>
                <a:ext uri="{FF2B5EF4-FFF2-40B4-BE49-F238E27FC236}">
                  <a16:creationId xmlns:a16="http://schemas.microsoft.com/office/drawing/2014/main" id="{85F06BD8-FD1B-F70D-418C-CC5C68FAF549}"/>
                </a:ext>
              </a:extLst>
            </p:cNvPr>
            <p:cNvSpPr txBox="1"/>
            <p:nvPr/>
          </p:nvSpPr>
          <p:spPr>
            <a:xfrm>
              <a:off x="405702" y="1512902"/>
              <a:ext cx="1338574" cy="579045"/>
            </a:xfrm>
            <a:prstGeom prst="rect">
              <a:avLst/>
            </a:prstGeom>
            <a:noFill/>
            <a:ln>
              <a:noFill/>
            </a:ln>
          </p:spPr>
          <p:txBody>
            <a:bodyPr wrap="square" lIns="0" tIns="0" rIns="0" bIns="0">
              <a:spAutoFit/>
            </a:bodyPr>
            <a:lstStyle>
              <a:defPPr>
                <a:defRPr lang="en-US"/>
              </a:defPPr>
              <a:lvl1pPr algn="ctr" rtl="0" fontAlgn="base">
                <a:spcBef>
                  <a:spcPct val="0"/>
                </a:spcBef>
                <a:spcAft>
                  <a:spcPct val="0"/>
                </a:spcAft>
                <a:defRPr sz="1200" kern="1200">
                  <a:solidFill>
                    <a:srgbClr val="000000"/>
                  </a:solidFill>
                  <a:latin typeface="Arial" charset="0"/>
                  <a:ea typeface="+mn-ea"/>
                  <a:cs typeface="+mn-cs"/>
                </a:defRPr>
              </a:lvl1pPr>
              <a:lvl2pPr marL="457146" algn="ctr" rtl="0" fontAlgn="base">
                <a:spcBef>
                  <a:spcPct val="0"/>
                </a:spcBef>
                <a:spcAft>
                  <a:spcPct val="0"/>
                </a:spcAft>
                <a:defRPr sz="1200" kern="1200">
                  <a:solidFill>
                    <a:srgbClr val="000000"/>
                  </a:solidFill>
                  <a:latin typeface="Arial" charset="0"/>
                  <a:ea typeface="+mn-ea"/>
                  <a:cs typeface="+mn-cs"/>
                </a:defRPr>
              </a:lvl2pPr>
              <a:lvl3pPr marL="914294" algn="ctr" rtl="0" fontAlgn="base">
                <a:spcBef>
                  <a:spcPct val="0"/>
                </a:spcBef>
                <a:spcAft>
                  <a:spcPct val="0"/>
                </a:spcAft>
                <a:defRPr sz="1200" kern="1200">
                  <a:solidFill>
                    <a:srgbClr val="000000"/>
                  </a:solidFill>
                  <a:latin typeface="Arial" charset="0"/>
                  <a:ea typeface="+mn-ea"/>
                  <a:cs typeface="+mn-cs"/>
                </a:defRPr>
              </a:lvl3pPr>
              <a:lvl4pPr marL="1371440" algn="ctr" rtl="0" fontAlgn="base">
                <a:spcBef>
                  <a:spcPct val="0"/>
                </a:spcBef>
                <a:spcAft>
                  <a:spcPct val="0"/>
                </a:spcAft>
                <a:defRPr sz="1200" kern="1200">
                  <a:solidFill>
                    <a:srgbClr val="000000"/>
                  </a:solidFill>
                  <a:latin typeface="Arial" charset="0"/>
                  <a:ea typeface="+mn-ea"/>
                  <a:cs typeface="+mn-cs"/>
                </a:defRPr>
              </a:lvl4pPr>
              <a:lvl5pPr marL="1828586" algn="ctr" rtl="0" fontAlgn="base">
                <a:spcBef>
                  <a:spcPct val="0"/>
                </a:spcBef>
                <a:spcAft>
                  <a:spcPct val="0"/>
                </a:spcAft>
                <a:defRPr sz="1200" kern="1200">
                  <a:solidFill>
                    <a:srgbClr val="000000"/>
                  </a:solidFill>
                  <a:latin typeface="Arial" charset="0"/>
                  <a:ea typeface="+mn-ea"/>
                  <a:cs typeface="+mn-cs"/>
                </a:defRPr>
              </a:lvl5pPr>
              <a:lvl6pPr marL="2285732" algn="l" defTabSz="914294" rtl="0" eaLnBrk="1" latinLnBrk="0" hangingPunct="1">
                <a:defRPr sz="1200" kern="1200">
                  <a:solidFill>
                    <a:srgbClr val="000000"/>
                  </a:solidFill>
                  <a:latin typeface="Arial" charset="0"/>
                  <a:ea typeface="+mn-ea"/>
                  <a:cs typeface="+mn-cs"/>
                </a:defRPr>
              </a:lvl6pPr>
              <a:lvl7pPr marL="2742880" algn="l" defTabSz="914294" rtl="0" eaLnBrk="1" latinLnBrk="0" hangingPunct="1">
                <a:defRPr sz="1200" kern="1200">
                  <a:solidFill>
                    <a:srgbClr val="000000"/>
                  </a:solidFill>
                  <a:latin typeface="Arial" charset="0"/>
                  <a:ea typeface="+mn-ea"/>
                  <a:cs typeface="+mn-cs"/>
                </a:defRPr>
              </a:lvl7pPr>
              <a:lvl8pPr marL="3200026" algn="l" defTabSz="914294" rtl="0" eaLnBrk="1" latinLnBrk="0" hangingPunct="1">
                <a:defRPr sz="1200" kern="1200">
                  <a:solidFill>
                    <a:srgbClr val="000000"/>
                  </a:solidFill>
                  <a:latin typeface="Arial" charset="0"/>
                  <a:ea typeface="+mn-ea"/>
                  <a:cs typeface="+mn-cs"/>
                </a:defRPr>
              </a:lvl8pPr>
              <a:lvl9pPr marL="3657172" algn="l" defTabSz="914294" rtl="0" eaLnBrk="1" latinLnBrk="0" hangingPunct="1">
                <a:defRPr sz="1200" kern="1200">
                  <a:solidFill>
                    <a:srgbClr val="000000"/>
                  </a:solidFill>
                  <a:latin typeface="Arial"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dirty="0">
                  <a:ln>
                    <a:noFill/>
                  </a:ln>
                  <a:solidFill>
                    <a:schemeClr val="accent1"/>
                  </a:solidFill>
                  <a:effectLst/>
                  <a:uLnTx/>
                  <a:uFillTx/>
                  <a:latin typeface="Palatino Linotype" panose="02040502050505030304" pitchFamily="18" charset="0"/>
                  <a:ea typeface="Arial Narrow" charset="0"/>
                  <a:cs typeface="Arial Narrow" charset="0"/>
                </a:rPr>
                <a:t>Largest Tech IPO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dirty="0">
                  <a:ln>
                    <a:noFill/>
                  </a:ln>
                  <a:solidFill>
                    <a:schemeClr val="accent1"/>
                  </a:solidFill>
                  <a:effectLst/>
                  <a:uLnTx/>
                  <a:uFillTx/>
                  <a:latin typeface="Palatino Linotype" panose="02040502050505030304" pitchFamily="18" charset="0"/>
                  <a:ea typeface="Arial Narrow" charset="0"/>
                  <a:cs typeface="Arial Narrow" charset="0"/>
                </a:rPr>
                <a:t>in Canadian History</a:t>
              </a:r>
            </a:p>
          </p:txBody>
        </p:sp>
        <p:sp>
          <p:nvSpPr>
            <p:cNvPr id="1057" name="Rectangle 1056">
              <a:extLst>
                <a:ext uri="{FF2B5EF4-FFF2-40B4-BE49-F238E27FC236}">
                  <a16:creationId xmlns:a16="http://schemas.microsoft.com/office/drawing/2014/main" id="{FAFEDD77-983B-9FD2-B50F-749AC047B9F4}"/>
                </a:ext>
              </a:extLst>
            </p:cNvPr>
            <p:cNvSpPr/>
            <p:nvPr/>
          </p:nvSpPr>
          <p:spPr>
            <a:xfrm>
              <a:off x="562235" y="2920704"/>
              <a:ext cx="1025509" cy="733668"/>
            </a:xfrm>
            <a:prstGeom prst="rect">
              <a:avLst/>
            </a:prstGeom>
            <a:ln>
              <a:noFill/>
            </a:ln>
          </p:spPr>
          <p:txBody>
            <a:bodyPr wrap="square" lIns="99992" tIns="50003" rIns="99992" bIns="50003">
              <a:spAutoFit/>
            </a:bodyPr>
            <a:lstStyle/>
            <a:p>
              <a:pPr algn="ctr" defTabSz="997642" fontAlgn="base">
                <a:lnSpc>
                  <a:spcPts val="2674"/>
                </a:lnSpc>
                <a:spcBef>
                  <a:spcPct val="0"/>
                </a:spcBef>
                <a:spcAft>
                  <a:spcPct val="0"/>
                </a:spcAft>
                <a:defRPr/>
              </a:pPr>
              <a:r>
                <a:rPr lang="en-CA" sz="2000" b="1" noProof="0">
                  <a:solidFill>
                    <a:srgbClr val="6E8DB0"/>
                  </a:solidFill>
                  <a:latin typeface="Palatino Linotype" panose="02040502050505030304" pitchFamily="18" charset="0"/>
                  <a:cs typeface="Arial" panose="020B0604020202020204" pitchFamily="34" charset="0"/>
                </a:rPr>
                <a:t>~$610MM</a:t>
              </a:r>
            </a:p>
          </p:txBody>
        </p:sp>
      </p:grpSp>
      <p:pic>
        <p:nvPicPr>
          <p:cNvPr id="1065" name="Picture 12" descr="About us | CI First Asset">
            <a:extLst>
              <a:ext uri="{FF2B5EF4-FFF2-40B4-BE49-F238E27FC236}">
                <a16:creationId xmlns:a16="http://schemas.microsoft.com/office/drawing/2014/main" id="{A22E7B56-8F75-F1A0-6DF1-B20F8C66940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6351" y="3467534"/>
            <a:ext cx="984685" cy="280937"/>
          </a:xfrm>
          <a:prstGeom prst="rect">
            <a:avLst/>
          </a:prstGeom>
          <a:noFill/>
          <a:extLst>
            <a:ext uri="{909E8E84-426E-40DD-AFC4-6F175D3DCCD1}">
              <a14:hiddenFill xmlns:a14="http://schemas.microsoft.com/office/drawing/2010/main">
                <a:solidFill>
                  <a:srgbClr val="FFFFFF"/>
                </a:solidFill>
              </a14:hiddenFill>
            </a:ext>
          </a:extLst>
        </p:spPr>
      </p:pic>
      <p:pic>
        <p:nvPicPr>
          <p:cNvPr id="1067" name="Picture 12">
            <a:extLst>
              <a:ext uri="{FF2B5EF4-FFF2-40B4-BE49-F238E27FC236}">
                <a16:creationId xmlns:a16="http://schemas.microsoft.com/office/drawing/2014/main" id="{35A9EB23-9617-FE5B-42A3-89FB66AAED4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803381" y="3535046"/>
            <a:ext cx="1001729" cy="14591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F0D82D47-9CD6-D46F-5CA3-5405FCA56EC5}"/>
              </a:ext>
            </a:extLst>
          </p:cNvPr>
          <p:cNvSpPr/>
          <p:nvPr/>
        </p:nvSpPr>
        <p:spPr>
          <a:xfrm>
            <a:off x="324000" y="1166671"/>
            <a:ext cx="8496000" cy="311616"/>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400" b="1" noProof="0">
                <a:solidFill>
                  <a:prstClr val="white"/>
                </a:solidFill>
                <a:latin typeface="Palatino Linotype" panose="02040502050505030304" pitchFamily="18" charset="0"/>
              </a:rPr>
              <a:t>Landmark Canadian Transaction Experience</a:t>
            </a:r>
            <a:r>
              <a:rPr lang="en-CA" sz="1400" b="1" baseline="30000" noProof="0">
                <a:solidFill>
                  <a:prstClr val="white"/>
                </a:solidFill>
                <a:latin typeface="Palatino Linotype" panose="02040502050505030304" pitchFamily="18" charset="0"/>
              </a:rPr>
              <a:t>(1)</a:t>
            </a:r>
            <a:endParaRPr kumimoji="0" lang="en-CA" sz="1400" b="1" i="0" u="none" strike="noStrike" kern="1200" cap="none" spc="0" normalizeH="0" baseline="30000" noProof="0">
              <a:ln>
                <a:noFill/>
              </a:ln>
              <a:solidFill>
                <a:prstClr val="white"/>
              </a:solidFill>
              <a:effectLst/>
              <a:uLnTx/>
              <a:uFillTx/>
              <a:latin typeface="Palatino Linotype" panose="02040502050505030304" pitchFamily="18" charset="0"/>
            </a:endParaRPr>
          </a:p>
        </p:txBody>
      </p:sp>
      <p:sp>
        <p:nvSpPr>
          <p:cNvPr id="4" name="Text Placeholder 5">
            <a:extLst>
              <a:ext uri="{FF2B5EF4-FFF2-40B4-BE49-F238E27FC236}">
                <a16:creationId xmlns:a16="http://schemas.microsoft.com/office/drawing/2014/main" id="{0E1A4720-1C48-AB42-0AEF-CC2C96733ADB}"/>
              </a:ext>
            </a:extLst>
          </p:cNvPr>
          <p:cNvSpPr txBox="1">
            <a:spLocks/>
          </p:cNvSpPr>
          <p:nvPr/>
        </p:nvSpPr>
        <p:spPr>
          <a:xfrm>
            <a:off x="1570011" y="6426533"/>
            <a:ext cx="6366293" cy="409085"/>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rgbClr val="1B2759"/>
                </a:solidFill>
                <a:latin typeface="Palatino Linotype" panose="02040502050505030304" pitchFamily="18" charset="0"/>
                <a:ea typeface="+mn-ea"/>
                <a:cs typeface="+mn-cs"/>
              </a:defRPr>
            </a:lvl1pPr>
            <a:lvl2pPr marL="360000" indent="-228600" algn="l" defTabSz="914400" rtl="0" eaLnBrk="1" latinLnBrk="0" hangingPunct="1">
              <a:lnSpc>
                <a:spcPct val="90000"/>
              </a:lnSpc>
              <a:spcBef>
                <a:spcPts val="600"/>
              </a:spcBef>
              <a:buClr>
                <a:srgbClr val="960000"/>
              </a:buClr>
              <a:buFont typeface="Wingdings" panose="05000000000000000000" pitchFamily="2" charset="2"/>
              <a:buChar char="§"/>
              <a:defRPr sz="1200" kern="1200" baseline="0">
                <a:solidFill>
                  <a:srgbClr val="1B2759"/>
                </a:solidFill>
                <a:latin typeface="Palatino Linotype" panose="02040502050505030304" pitchFamily="18"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spcBef>
                <a:spcPts val="300"/>
              </a:spcBef>
            </a:pPr>
            <a:r>
              <a:rPr lang="en-CA" sz="700" noProof="0">
                <a:solidFill>
                  <a:schemeClr val="tx1"/>
                </a:solidFill>
                <a:ea typeface="+mj-ea"/>
                <a:cs typeface="+mj-cs"/>
              </a:rPr>
              <a:t>Source: Bloomberg M&amp;A League Tables</a:t>
            </a:r>
          </a:p>
          <a:p>
            <a:pPr marL="228600" indent="-228600">
              <a:lnSpc>
                <a:spcPct val="85000"/>
              </a:lnSpc>
              <a:spcBef>
                <a:spcPts val="300"/>
              </a:spcBef>
              <a:buFont typeface="Arial" panose="020B0604020202020204" pitchFamily="34" charset="0"/>
              <a:buAutoNum type="arabicParenBoth"/>
            </a:pPr>
            <a:r>
              <a:rPr lang="en-CA" sz="700" noProof="0">
                <a:solidFill>
                  <a:schemeClr val="tx1"/>
                </a:solidFill>
                <a:ea typeface="+mj-ea"/>
                <a:cs typeface="+mj-cs"/>
              </a:rPr>
              <a:t>Deals led by INFOR Financial principals; all deal statistics as at time of deal </a:t>
            </a:r>
          </a:p>
        </p:txBody>
      </p:sp>
      <p:grpSp>
        <p:nvGrpSpPr>
          <p:cNvPr id="25" name="Group 24">
            <a:extLst>
              <a:ext uri="{FF2B5EF4-FFF2-40B4-BE49-F238E27FC236}">
                <a16:creationId xmlns:a16="http://schemas.microsoft.com/office/drawing/2014/main" id="{3BDEDA90-2C96-D670-646E-5CCFBDFFE8B5}"/>
              </a:ext>
            </a:extLst>
          </p:cNvPr>
          <p:cNvGrpSpPr/>
          <p:nvPr/>
        </p:nvGrpSpPr>
        <p:grpSpPr>
          <a:xfrm>
            <a:off x="6042684" y="2958265"/>
            <a:ext cx="2774534" cy="1285194"/>
            <a:chOff x="3184732" y="2958265"/>
            <a:chExt cx="2774534" cy="1285194"/>
          </a:xfrm>
        </p:grpSpPr>
        <p:grpSp>
          <p:nvGrpSpPr>
            <p:cNvPr id="1045" name="Group 1044">
              <a:extLst>
                <a:ext uri="{FF2B5EF4-FFF2-40B4-BE49-F238E27FC236}">
                  <a16:creationId xmlns:a16="http://schemas.microsoft.com/office/drawing/2014/main" id="{89DF2260-6A12-9454-5A38-2FA414540083}"/>
                </a:ext>
              </a:extLst>
            </p:cNvPr>
            <p:cNvGrpSpPr/>
            <p:nvPr/>
          </p:nvGrpSpPr>
          <p:grpSpPr>
            <a:xfrm>
              <a:off x="3184732" y="2958265"/>
              <a:ext cx="2774534" cy="1285194"/>
              <a:chOff x="368817" y="1456242"/>
              <a:chExt cx="1412344" cy="2198130"/>
            </a:xfrm>
          </p:grpSpPr>
          <p:sp>
            <p:nvSpPr>
              <p:cNvPr id="1048" name="Rectangle 1047">
                <a:extLst>
                  <a:ext uri="{FF2B5EF4-FFF2-40B4-BE49-F238E27FC236}">
                    <a16:creationId xmlns:a16="http://schemas.microsoft.com/office/drawing/2014/main" id="{CA7D6F4A-1815-5CEA-D0E2-C283D5A1DFE0}"/>
                  </a:ext>
                </a:extLst>
              </p:cNvPr>
              <p:cNvSpPr/>
              <p:nvPr/>
            </p:nvSpPr>
            <p:spPr>
              <a:xfrm>
                <a:off x="368817" y="1456242"/>
                <a:ext cx="1412344" cy="211969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p>
            </p:txBody>
          </p:sp>
          <p:sp>
            <p:nvSpPr>
              <p:cNvPr id="1049" name="TextBox 83">
                <a:extLst>
                  <a:ext uri="{FF2B5EF4-FFF2-40B4-BE49-F238E27FC236}">
                    <a16:creationId xmlns:a16="http://schemas.microsoft.com/office/drawing/2014/main" id="{3E36AECF-409E-AA2B-1EE0-20C52F950E3D}"/>
                  </a:ext>
                </a:extLst>
              </p:cNvPr>
              <p:cNvSpPr txBox="1"/>
              <p:nvPr/>
            </p:nvSpPr>
            <p:spPr>
              <a:xfrm>
                <a:off x="405702" y="1512902"/>
                <a:ext cx="1338574" cy="579045"/>
              </a:xfrm>
              <a:prstGeom prst="rect">
                <a:avLst/>
              </a:prstGeom>
              <a:noFill/>
              <a:ln>
                <a:noFill/>
              </a:ln>
            </p:spPr>
            <p:txBody>
              <a:bodyPr wrap="square" lIns="0" tIns="0" rIns="0" bIns="0">
                <a:spAutoFit/>
              </a:bodyPr>
              <a:lstStyle>
                <a:defPPr>
                  <a:defRPr lang="en-US"/>
                </a:defPPr>
                <a:lvl1pPr algn="ctr" rtl="0" fontAlgn="base">
                  <a:spcBef>
                    <a:spcPct val="0"/>
                  </a:spcBef>
                  <a:spcAft>
                    <a:spcPct val="0"/>
                  </a:spcAft>
                  <a:defRPr sz="1200" kern="1200">
                    <a:solidFill>
                      <a:srgbClr val="000000"/>
                    </a:solidFill>
                    <a:latin typeface="Arial" charset="0"/>
                    <a:ea typeface="+mn-ea"/>
                    <a:cs typeface="+mn-cs"/>
                  </a:defRPr>
                </a:lvl1pPr>
                <a:lvl2pPr marL="457146" algn="ctr" rtl="0" fontAlgn="base">
                  <a:spcBef>
                    <a:spcPct val="0"/>
                  </a:spcBef>
                  <a:spcAft>
                    <a:spcPct val="0"/>
                  </a:spcAft>
                  <a:defRPr sz="1200" kern="1200">
                    <a:solidFill>
                      <a:srgbClr val="000000"/>
                    </a:solidFill>
                    <a:latin typeface="Arial" charset="0"/>
                    <a:ea typeface="+mn-ea"/>
                    <a:cs typeface="+mn-cs"/>
                  </a:defRPr>
                </a:lvl2pPr>
                <a:lvl3pPr marL="914294" algn="ctr" rtl="0" fontAlgn="base">
                  <a:spcBef>
                    <a:spcPct val="0"/>
                  </a:spcBef>
                  <a:spcAft>
                    <a:spcPct val="0"/>
                  </a:spcAft>
                  <a:defRPr sz="1200" kern="1200">
                    <a:solidFill>
                      <a:srgbClr val="000000"/>
                    </a:solidFill>
                    <a:latin typeface="Arial" charset="0"/>
                    <a:ea typeface="+mn-ea"/>
                    <a:cs typeface="+mn-cs"/>
                  </a:defRPr>
                </a:lvl3pPr>
                <a:lvl4pPr marL="1371440" algn="ctr" rtl="0" fontAlgn="base">
                  <a:spcBef>
                    <a:spcPct val="0"/>
                  </a:spcBef>
                  <a:spcAft>
                    <a:spcPct val="0"/>
                  </a:spcAft>
                  <a:defRPr sz="1200" kern="1200">
                    <a:solidFill>
                      <a:srgbClr val="000000"/>
                    </a:solidFill>
                    <a:latin typeface="Arial" charset="0"/>
                    <a:ea typeface="+mn-ea"/>
                    <a:cs typeface="+mn-cs"/>
                  </a:defRPr>
                </a:lvl4pPr>
                <a:lvl5pPr marL="1828586" algn="ctr" rtl="0" fontAlgn="base">
                  <a:spcBef>
                    <a:spcPct val="0"/>
                  </a:spcBef>
                  <a:spcAft>
                    <a:spcPct val="0"/>
                  </a:spcAft>
                  <a:defRPr sz="1200" kern="1200">
                    <a:solidFill>
                      <a:srgbClr val="000000"/>
                    </a:solidFill>
                    <a:latin typeface="Arial" charset="0"/>
                    <a:ea typeface="+mn-ea"/>
                    <a:cs typeface="+mn-cs"/>
                  </a:defRPr>
                </a:lvl5pPr>
                <a:lvl6pPr marL="2285732" algn="l" defTabSz="914294" rtl="0" eaLnBrk="1" latinLnBrk="0" hangingPunct="1">
                  <a:defRPr sz="1200" kern="1200">
                    <a:solidFill>
                      <a:srgbClr val="000000"/>
                    </a:solidFill>
                    <a:latin typeface="Arial" charset="0"/>
                    <a:ea typeface="+mn-ea"/>
                    <a:cs typeface="+mn-cs"/>
                  </a:defRPr>
                </a:lvl6pPr>
                <a:lvl7pPr marL="2742880" algn="l" defTabSz="914294" rtl="0" eaLnBrk="1" latinLnBrk="0" hangingPunct="1">
                  <a:defRPr sz="1200" kern="1200">
                    <a:solidFill>
                      <a:srgbClr val="000000"/>
                    </a:solidFill>
                    <a:latin typeface="Arial" charset="0"/>
                    <a:ea typeface="+mn-ea"/>
                    <a:cs typeface="+mn-cs"/>
                  </a:defRPr>
                </a:lvl7pPr>
                <a:lvl8pPr marL="3200026" algn="l" defTabSz="914294" rtl="0" eaLnBrk="1" latinLnBrk="0" hangingPunct="1">
                  <a:defRPr sz="1200" kern="1200">
                    <a:solidFill>
                      <a:srgbClr val="000000"/>
                    </a:solidFill>
                    <a:latin typeface="Arial" charset="0"/>
                    <a:ea typeface="+mn-ea"/>
                    <a:cs typeface="+mn-cs"/>
                  </a:defRPr>
                </a:lvl8pPr>
                <a:lvl9pPr marL="3657172" algn="l" defTabSz="914294" rtl="0" eaLnBrk="1" latinLnBrk="0" hangingPunct="1">
                  <a:defRPr sz="1200" kern="1200">
                    <a:solidFill>
                      <a:srgbClr val="000000"/>
                    </a:solidFill>
                    <a:latin typeface="Arial"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First Ever Bought High Yield Deal in Canadian History</a:t>
                </a:r>
              </a:p>
            </p:txBody>
          </p:sp>
          <p:sp>
            <p:nvSpPr>
              <p:cNvPr id="1050" name="Rectangle 1049">
                <a:extLst>
                  <a:ext uri="{FF2B5EF4-FFF2-40B4-BE49-F238E27FC236}">
                    <a16:creationId xmlns:a16="http://schemas.microsoft.com/office/drawing/2014/main" id="{BAC05711-A108-4124-7E6E-1B92A3FB0029}"/>
                  </a:ext>
                </a:extLst>
              </p:cNvPr>
              <p:cNvSpPr/>
              <p:nvPr/>
            </p:nvSpPr>
            <p:spPr>
              <a:xfrm>
                <a:off x="562235" y="2920704"/>
                <a:ext cx="1025509" cy="733668"/>
              </a:xfrm>
              <a:prstGeom prst="rect">
                <a:avLst/>
              </a:prstGeom>
              <a:ln>
                <a:noFill/>
              </a:ln>
            </p:spPr>
            <p:txBody>
              <a:bodyPr wrap="square" lIns="99992" tIns="50003" rIns="99992" bIns="50003">
                <a:spAutoFit/>
              </a:bodyPr>
              <a:lstStyle/>
              <a:p>
                <a:pPr algn="ctr" defTabSz="997642" fontAlgn="base">
                  <a:lnSpc>
                    <a:spcPts val="2674"/>
                  </a:lnSpc>
                  <a:spcBef>
                    <a:spcPct val="0"/>
                  </a:spcBef>
                  <a:spcAft>
                    <a:spcPct val="0"/>
                  </a:spcAft>
                  <a:defRPr/>
                </a:pPr>
                <a:r>
                  <a:rPr lang="en-CA" sz="2000" b="1" noProof="0">
                    <a:solidFill>
                      <a:srgbClr val="6E8DB0"/>
                    </a:solidFill>
                    <a:latin typeface="Palatino Linotype" panose="02040502050505030304" pitchFamily="18" charset="0"/>
                    <a:cs typeface="Arial" panose="020B0604020202020204" pitchFamily="34" charset="0"/>
                  </a:rPr>
                  <a:t>~US$971MM</a:t>
                </a:r>
              </a:p>
            </p:txBody>
          </p:sp>
        </p:grpSp>
        <p:pic>
          <p:nvPicPr>
            <p:cNvPr id="5" name="Picture 4" descr="A black and white logo&#10;&#10;AI-generated content may be incorrect.">
              <a:extLst>
                <a:ext uri="{FF2B5EF4-FFF2-40B4-BE49-F238E27FC236}">
                  <a16:creationId xmlns:a16="http://schemas.microsoft.com/office/drawing/2014/main" id="{1A57AF79-4EA4-1AA1-F631-B52CBD8DB4A8}"/>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3741751" y="3444037"/>
              <a:ext cx="1660497" cy="313650"/>
            </a:xfrm>
            <a:prstGeom prst="rect">
              <a:avLst/>
            </a:prstGeom>
            <a:noFill/>
            <a:ln w="19050">
              <a:noFill/>
              <a:miter lim="800000"/>
              <a:headEnd/>
              <a:tailEnd/>
            </a:ln>
          </p:spPr>
        </p:pic>
      </p:grpSp>
      <p:grpSp>
        <p:nvGrpSpPr>
          <p:cNvPr id="24" name="Group 23">
            <a:extLst>
              <a:ext uri="{FF2B5EF4-FFF2-40B4-BE49-F238E27FC236}">
                <a16:creationId xmlns:a16="http://schemas.microsoft.com/office/drawing/2014/main" id="{55C4D80C-C5F8-524B-8814-16DB76EB0478}"/>
              </a:ext>
            </a:extLst>
          </p:cNvPr>
          <p:cNvGrpSpPr/>
          <p:nvPr/>
        </p:nvGrpSpPr>
        <p:grpSpPr>
          <a:xfrm>
            <a:off x="3184732" y="2958265"/>
            <a:ext cx="2774534" cy="1285194"/>
            <a:chOff x="6042684" y="2958265"/>
            <a:chExt cx="2774534" cy="1285194"/>
          </a:xfrm>
        </p:grpSpPr>
        <p:grpSp>
          <p:nvGrpSpPr>
            <p:cNvPr id="6" name="Group 5">
              <a:extLst>
                <a:ext uri="{FF2B5EF4-FFF2-40B4-BE49-F238E27FC236}">
                  <a16:creationId xmlns:a16="http://schemas.microsoft.com/office/drawing/2014/main" id="{8DDCFED0-D2D8-6DE5-AA19-2D966D84FB55}"/>
                </a:ext>
              </a:extLst>
            </p:cNvPr>
            <p:cNvGrpSpPr/>
            <p:nvPr/>
          </p:nvGrpSpPr>
          <p:grpSpPr>
            <a:xfrm>
              <a:off x="6042684" y="2958265"/>
              <a:ext cx="2774534" cy="1285194"/>
              <a:chOff x="368817" y="1456242"/>
              <a:chExt cx="1412344" cy="2198130"/>
            </a:xfrm>
          </p:grpSpPr>
          <p:sp>
            <p:nvSpPr>
              <p:cNvPr id="8" name="Rectangle 7">
                <a:extLst>
                  <a:ext uri="{FF2B5EF4-FFF2-40B4-BE49-F238E27FC236}">
                    <a16:creationId xmlns:a16="http://schemas.microsoft.com/office/drawing/2014/main" id="{AE70811F-D173-FC61-2040-35FE7A28AF60}"/>
                  </a:ext>
                </a:extLst>
              </p:cNvPr>
              <p:cNvSpPr/>
              <p:nvPr/>
            </p:nvSpPr>
            <p:spPr>
              <a:xfrm>
                <a:off x="368817" y="1456242"/>
                <a:ext cx="1412344" cy="211969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p>
            </p:txBody>
          </p:sp>
          <p:sp>
            <p:nvSpPr>
              <p:cNvPr id="10" name="TextBox 83">
                <a:extLst>
                  <a:ext uri="{FF2B5EF4-FFF2-40B4-BE49-F238E27FC236}">
                    <a16:creationId xmlns:a16="http://schemas.microsoft.com/office/drawing/2014/main" id="{DB151855-AF82-FC4D-1309-866206A4590B}"/>
                  </a:ext>
                </a:extLst>
              </p:cNvPr>
              <p:cNvSpPr txBox="1"/>
              <p:nvPr/>
            </p:nvSpPr>
            <p:spPr>
              <a:xfrm>
                <a:off x="405703" y="1512902"/>
                <a:ext cx="1338574" cy="579045"/>
              </a:xfrm>
              <a:prstGeom prst="rect">
                <a:avLst/>
              </a:prstGeom>
              <a:noFill/>
              <a:ln>
                <a:noFill/>
              </a:ln>
            </p:spPr>
            <p:txBody>
              <a:bodyPr wrap="square" lIns="0" tIns="0" rIns="0" bIns="0">
                <a:spAutoFit/>
              </a:bodyPr>
              <a:lstStyle>
                <a:defPPr>
                  <a:defRPr lang="en-US"/>
                </a:defPPr>
                <a:lvl1pPr algn="ctr" rtl="0" fontAlgn="base">
                  <a:spcBef>
                    <a:spcPct val="0"/>
                  </a:spcBef>
                  <a:spcAft>
                    <a:spcPct val="0"/>
                  </a:spcAft>
                  <a:defRPr sz="1200" kern="1200">
                    <a:solidFill>
                      <a:srgbClr val="000000"/>
                    </a:solidFill>
                    <a:latin typeface="Arial" charset="0"/>
                    <a:ea typeface="+mn-ea"/>
                    <a:cs typeface="+mn-cs"/>
                  </a:defRPr>
                </a:lvl1pPr>
                <a:lvl2pPr marL="457146" algn="ctr" rtl="0" fontAlgn="base">
                  <a:spcBef>
                    <a:spcPct val="0"/>
                  </a:spcBef>
                  <a:spcAft>
                    <a:spcPct val="0"/>
                  </a:spcAft>
                  <a:defRPr sz="1200" kern="1200">
                    <a:solidFill>
                      <a:srgbClr val="000000"/>
                    </a:solidFill>
                    <a:latin typeface="Arial" charset="0"/>
                    <a:ea typeface="+mn-ea"/>
                    <a:cs typeface="+mn-cs"/>
                  </a:defRPr>
                </a:lvl2pPr>
                <a:lvl3pPr marL="914294" algn="ctr" rtl="0" fontAlgn="base">
                  <a:spcBef>
                    <a:spcPct val="0"/>
                  </a:spcBef>
                  <a:spcAft>
                    <a:spcPct val="0"/>
                  </a:spcAft>
                  <a:defRPr sz="1200" kern="1200">
                    <a:solidFill>
                      <a:srgbClr val="000000"/>
                    </a:solidFill>
                    <a:latin typeface="Arial" charset="0"/>
                    <a:ea typeface="+mn-ea"/>
                    <a:cs typeface="+mn-cs"/>
                  </a:defRPr>
                </a:lvl3pPr>
                <a:lvl4pPr marL="1371440" algn="ctr" rtl="0" fontAlgn="base">
                  <a:spcBef>
                    <a:spcPct val="0"/>
                  </a:spcBef>
                  <a:spcAft>
                    <a:spcPct val="0"/>
                  </a:spcAft>
                  <a:defRPr sz="1200" kern="1200">
                    <a:solidFill>
                      <a:srgbClr val="000000"/>
                    </a:solidFill>
                    <a:latin typeface="Arial" charset="0"/>
                    <a:ea typeface="+mn-ea"/>
                    <a:cs typeface="+mn-cs"/>
                  </a:defRPr>
                </a:lvl4pPr>
                <a:lvl5pPr marL="1828586" algn="ctr" rtl="0" fontAlgn="base">
                  <a:spcBef>
                    <a:spcPct val="0"/>
                  </a:spcBef>
                  <a:spcAft>
                    <a:spcPct val="0"/>
                  </a:spcAft>
                  <a:defRPr sz="1200" kern="1200">
                    <a:solidFill>
                      <a:srgbClr val="000000"/>
                    </a:solidFill>
                    <a:latin typeface="Arial" charset="0"/>
                    <a:ea typeface="+mn-ea"/>
                    <a:cs typeface="+mn-cs"/>
                  </a:defRPr>
                </a:lvl5pPr>
                <a:lvl6pPr marL="2285732" algn="l" defTabSz="914294" rtl="0" eaLnBrk="1" latinLnBrk="0" hangingPunct="1">
                  <a:defRPr sz="1200" kern="1200">
                    <a:solidFill>
                      <a:srgbClr val="000000"/>
                    </a:solidFill>
                    <a:latin typeface="Arial" charset="0"/>
                    <a:ea typeface="+mn-ea"/>
                    <a:cs typeface="+mn-cs"/>
                  </a:defRPr>
                </a:lvl6pPr>
                <a:lvl7pPr marL="2742880" algn="l" defTabSz="914294" rtl="0" eaLnBrk="1" latinLnBrk="0" hangingPunct="1">
                  <a:defRPr sz="1200" kern="1200">
                    <a:solidFill>
                      <a:srgbClr val="000000"/>
                    </a:solidFill>
                    <a:latin typeface="Arial" charset="0"/>
                    <a:ea typeface="+mn-ea"/>
                    <a:cs typeface="+mn-cs"/>
                  </a:defRPr>
                </a:lvl7pPr>
                <a:lvl8pPr marL="3200026" algn="l" defTabSz="914294" rtl="0" eaLnBrk="1" latinLnBrk="0" hangingPunct="1">
                  <a:defRPr sz="1200" kern="1200">
                    <a:solidFill>
                      <a:srgbClr val="000000"/>
                    </a:solidFill>
                    <a:latin typeface="Arial" charset="0"/>
                    <a:ea typeface="+mn-ea"/>
                    <a:cs typeface="+mn-cs"/>
                  </a:defRPr>
                </a:lvl8pPr>
                <a:lvl9pPr marL="3657172" algn="l" defTabSz="914294" rtl="0" eaLnBrk="1" latinLnBrk="0" hangingPunct="1">
                  <a:defRPr sz="1200" kern="1200">
                    <a:solidFill>
                      <a:srgbClr val="000000"/>
                    </a:solidFill>
                    <a:latin typeface="Arial"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One of the Largest Consolidations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chemeClr val="accent1"/>
                    </a:solidFill>
                    <a:effectLst/>
                    <a:uLnTx/>
                    <a:uFillTx/>
                    <a:latin typeface="Palatino Linotype" panose="02040502050505030304" pitchFamily="18" charset="0"/>
                    <a:ea typeface="Arial Narrow" charset="0"/>
                    <a:cs typeface="Arial Narrow" charset="0"/>
                  </a:rPr>
                  <a:t>in the Montney Formation</a:t>
                </a:r>
              </a:p>
            </p:txBody>
          </p:sp>
          <p:sp>
            <p:nvSpPr>
              <p:cNvPr id="11" name="Rectangle 10">
                <a:extLst>
                  <a:ext uri="{FF2B5EF4-FFF2-40B4-BE49-F238E27FC236}">
                    <a16:creationId xmlns:a16="http://schemas.microsoft.com/office/drawing/2014/main" id="{3A3C61DA-9F4D-667A-1FCF-B6E2E342C6E4}"/>
                  </a:ext>
                </a:extLst>
              </p:cNvPr>
              <p:cNvSpPr/>
              <p:nvPr/>
            </p:nvSpPr>
            <p:spPr>
              <a:xfrm>
                <a:off x="562235" y="2920704"/>
                <a:ext cx="1025509" cy="733668"/>
              </a:xfrm>
              <a:prstGeom prst="rect">
                <a:avLst/>
              </a:prstGeom>
              <a:ln>
                <a:noFill/>
              </a:ln>
            </p:spPr>
            <p:txBody>
              <a:bodyPr wrap="square" lIns="99992" tIns="50003" rIns="99992" bIns="50003">
                <a:spAutoFit/>
              </a:bodyPr>
              <a:lstStyle/>
              <a:p>
                <a:pPr algn="ctr" defTabSz="997642" fontAlgn="base">
                  <a:lnSpc>
                    <a:spcPts val="2674"/>
                  </a:lnSpc>
                  <a:spcBef>
                    <a:spcPct val="0"/>
                  </a:spcBef>
                  <a:spcAft>
                    <a:spcPct val="0"/>
                  </a:spcAft>
                  <a:defRPr/>
                </a:pPr>
                <a:r>
                  <a:rPr lang="en-CA" sz="2000" b="1" noProof="0">
                    <a:solidFill>
                      <a:srgbClr val="6E8DB0"/>
                    </a:solidFill>
                    <a:latin typeface="Palatino Linotype" panose="02040502050505030304" pitchFamily="18" charset="0"/>
                    <a:cs typeface="Arial" panose="020B0604020202020204" pitchFamily="34" charset="0"/>
                  </a:rPr>
                  <a:t>~$1B</a:t>
                </a:r>
              </a:p>
            </p:txBody>
          </p:sp>
        </p:grpSp>
        <p:grpSp>
          <p:nvGrpSpPr>
            <p:cNvPr id="23" name="Group 22">
              <a:extLst>
                <a:ext uri="{FF2B5EF4-FFF2-40B4-BE49-F238E27FC236}">
                  <a16:creationId xmlns:a16="http://schemas.microsoft.com/office/drawing/2014/main" id="{623B5374-80F9-64E0-4391-DD8D9ACBD025}"/>
                </a:ext>
              </a:extLst>
            </p:cNvPr>
            <p:cNvGrpSpPr/>
            <p:nvPr/>
          </p:nvGrpSpPr>
          <p:grpSpPr>
            <a:xfrm>
              <a:off x="6531242" y="3376613"/>
              <a:ext cx="1797418" cy="531018"/>
              <a:chOff x="6531242" y="3376613"/>
              <a:chExt cx="1797418" cy="531018"/>
            </a:xfrm>
          </p:grpSpPr>
          <p:pic>
            <p:nvPicPr>
              <p:cNvPr id="16" name="Picture 4" descr="Trilogy Energy Corp. Logo Design | nonfiction studios">
                <a:extLst>
                  <a:ext uri="{FF2B5EF4-FFF2-40B4-BE49-F238E27FC236}">
                    <a16:creationId xmlns:a16="http://schemas.microsoft.com/office/drawing/2014/main" id="{1F9A14D6-4638-E25B-8314-3CB8387A8345}"/>
                  </a:ext>
                </a:extLst>
              </p:cNvPr>
              <p:cNvPicPr>
                <a:picLocks noChangeAspect="1" noChangeArrowheads="1"/>
              </p:cNvPicPr>
              <p:nvPr/>
            </p:nvPicPr>
            <p:blipFill rotWithShape="1">
              <a:blip r:embed="rId10">
                <a:clrChange>
                  <a:clrFrom>
                    <a:srgbClr val="F6F6F6"/>
                  </a:clrFrom>
                  <a:clrTo>
                    <a:srgbClr val="F6F6F6">
                      <a:alpha val="0"/>
                    </a:srgbClr>
                  </a:clrTo>
                </a:clrChange>
                <a:extLst>
                  <a:ext uri="{28A0092B-C50C-407E-A947-70E740481C1C}">
                    <a14:useLocalDpi xmlns:a14="http://schemas.microsoft.com/office/drawing/2010/main" val="0"/>
                  </a:ext>
                </a:extLst>
              </a:blip>
              <a:srcRect l="24032" t="25176" r="21427" b="27991"/>
              <a:stretch>
                <a:fillRect/>
              </a:stretch>
            </p:blipFill>
            <p:spPr bwMode="auto">
              <a:xfrm>
                <a:off x="6531242" y="3376613"/>
                <a:ext cx="802258" cy="53101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47C73232-8D64-64AA-4E22-5521F700F030}"/>
                  </a:ext>
                </a:extLst>
              </p:cNvPr>
              <p:cNvPicPr>
                <a:picLocks noChangeAspect="1"/>
              </p:cNvPicPr>
              <p:nvPr/>
            </p:nvPicPr>
            <p:blipFill>
              <a:blip r:embed="rId11"/>
              <a:stretch>
                <a:fillRect/>
              </a:stretch>
            </p:blipFill>
            <p:spPr>
              <a:xfrm>
                <a:off x="7460571" y="3433309"/>
                <a:ext cx="868089" cy="417626"/>
              </a:xfrm>
              <a:prstGeom prst="rect">
                <a:avLst/>
              </a:prstGeom>
            </p:spPr>
          </p:pic>
        </p:grpSp>
      </p:grpSp>
    </p:spTree>
    <p:extLst>
      <p:ext uri="{BB962C8B-B14F-4D97-AF65-F5344CB8AC3E}">
        <p14:creationId xmlns:p14="http://schemas.microsoft.com/office/powerpoint/2010/main" val="1685744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CF342B-0337-48D2-81EE-47611BE82C3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CA"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p:txBody>
      </p:sp>
      <p:sp>
        <p:nvSpPr>
          <p:cNvPr id="4" name="Text Placeholder 3">
            <a:extLst>
              <a:ext uri="{FF2B5EF4-FFF2-40B4-BE49-F238E27FC236}">
                <a16:creationId xmlns:a16="http://schemas.microsoft.com/office/drawing/2014/main" id="{ACCED25A-B0C6-8358-2FF8-460D395597BC}"/>
              </a:ext>
            </a:extLst>
          </p:cNvPr>
          <p:cNvSpPr>
            <a:spLocks noGrp="1"/>
          </p:cNvSpPr>
          <p:nvPr>
            <p:ph type="body" sz="quarter" idx="13"/>
          </p:nvPr>
        </p:nvSpPr>
        <p:spPr/>
        <p:txBody>
          <a:bodyPr/>
          <a:lstStyle/>
          <a:p>
            <a:endParaRPr lang="en-US"/>
          </a:p>
        </p:txBody>
      </p:sp>
      <p:sp>
        <p:nvSpPr>
          <p:cNvPr id="6" name="Rounded Rectangle 19">
            <a:extLst>
              <a:ext uri="{FF2B5EF4-FFF2-40B4-BE49-F238E27FC236}">
                <a16:creationId xmlns:a16="http://schemas.microsoft.com/office/drawing/2014/main" id="{FD45F4D9-2E91-0CF5-9FF4-277C68C70239}"/>
              </a:ext>
            </a:extLst>
          </p:cNvPr>
          <p:cNvSpPr/>
          <p:nvPr/>
        </p:nvSpPr>
        <p:spPr>
          <a:xfrm>
            <a:off x="1691220" y="2663562"/>
            <a:ext cx="5761560" cy="38372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dirty="0">
                <a:ln>
                  <a:noFill/>
                </a:ln>
                <a:solidFill>
                  <a:prstClr val="white"/>
                </a:solidFill>
                <a:effectLst/>
                <a:uLnTx/>
                <a:uFillTx/>
                <a:latin typeface="Palatino Linotype" panose="02040502050505030304" pitchFamily="18" charset="0"/>
                <a:ea typeface="+mn-ea"/>
                <a:cs typeface="+mn-cs"/>
              </a:rPr>
              <a:t>Overview</a:t>
            </a:r>
          </a:p>
        </p:txBody>
      </p:sp>
      <p:sp>
        <p:nvSpPr>
          <p:cNvPr id="7" name="Rounded Rectangle 19">
            <a:extLst>
              <a:ext uri="{FF2B5EF4-FFF2-40B4-BE49-F238E27FC236}">
                <a16:creationId xmlns:a16="http://schemas.microsoft.com/office/drawing/2014/main" id="{0B1503B3-C17C-9996-24DA-DED5E12E8A80}"/>
              </a:ext>
            </a:extLst>
          </p:cNvPr>
          <p:cNvSpPr/>
          <p:nvPr/>
        </p:nvSpPr>
        <p:spPr>
          <a:xfrm>
            <a:off x="1691220" y="3664244"/>
            <a:ext cx="5761560" cy="3837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1B2759"/>
                </a:solidFill>
                <a:effectLst/>
                <a:uLnTx/>
                <a:uFillTx/>
                <a:latin typeface="Palatino Linotype" panose="02040502050505030304" pitchFamily="18" charset="0"/>
                <a:ea typeface="+mn-ea"/>
                <a:cs typeface="+mn-cs"/>
              </a:rPr>
              <a:t>Financial Summary</a:t>
            </a:r>
          </a:p>
        </p:txBody>
      </p:sp>
      <p:sp>
        <p:nvSpPr>
          <p:cNvPr id="8" name="Rounded Rectangle 19">
            <a:extLst>
              <a:ext uri="{FF2B5EF4-FFF2-40B4-BE49-F238E27FC236}">
                <a16:creationId xmlns:a16="http://schemas.microsoft.com/office/drawing/2014/main" id="{8D93159A-F65F-D627-A15E-596C972F430E}"/>
              </a:ext>
            </a:extLst>
          </p:cNvPr>
          <p:cNvSpPr/>
          <p:nvPr/>
        </p:nvSpPr>
        <p:spPr>
          <a:xfrm>
            <a:off x="1691220" y="3163903"/>
            <a:ext cx="5761560" cy="3837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1B2759"/>
                </a:solidFill>
                <a:effectLst/>
                <a:uLnTx/>
                <a:uFillTx/>
                <a:latin typeface="Palatino Linotype" panose="02040502050505030304" pitchFamily="18" charset="0"/>
                <a:ea typeface="+mn-ea"/>
                <a:cs typeface="+mn-cs"/>
              </a:rPr>
              <a:t>Valuation</a:t>
            </a:r>
          </a:p>
        </p:txBody>
      </p:sp>
      <p:sp>
        <p:nvSpPr>
          <p:cNvPr id="9" name="Rounded Rectangle 19">
            <a:extLst>
              <a:ext uri="{FF2B5EF4-FFF2-40B4-BE49-F238E27FC236}">
                <a16:creationId xmlns:a16="http://schemas.microsoft.com/office/drawing/2014/main" id="{E49D0158-455A-0D9C-16DE-6F07B9B9C016}"/>
              </a:ext>
            </a:extLst>
          </p:cNvPr>
          <p:cNvSpPr/>
          <p:nvPr/>
        </p:nvSpPr>
        <p:spPr>
          <a:xfrm>
            <a:off x="1691220" y="4164584"/>
            <a:ext cx="5761560" cy="3837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1B2759"/>
                </a:solidFill>
                <a:effectLst/>
                <a:uLnTx/>
                <a:uFillTx/>
                <a:latin typeface="Palatino Linotype" panose="02040502050505030304" pitchFamily="18" charset="0"/>
                <a:ea typeface="+mn-ea"/>
                <a:cs typeface="+mn-cs"/>
              </a:rPr>
              <a:t>Process</a:t>
            </a:r>
          </a:p>
        </p:txBody>
      </p:sp>
    </p:spTree>
    <p:custDataLst>
      <p:tags r:id="rId1"/>
    </p:custDataLst>
    <p:extLst>
      <p:ext uri="{BB962C8B-B14F-4D97-AF65-F5344CB8AC3E}">
        <p14:creationId xmlns:p14="http://schemas.microsoft.com/office/powerpoint/2010/main" val="678158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4657DC8-6BF9-3A95-3AD3-77AF93FAFED0}"/>
              </a:ext>
            </a:extLst>
          </p:cNvPr>
          <p:cNvSpPr/>
          <p:nvPr/>
        </p:nvSpPr>
        <p:spPr>
          <a:xfrm>
            <a:off x="333369" y="4341067"/>
            <a:ext cx="4140000" cy="311616"/>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white"/>
                </a:solidFill>
                <a:effectLst/>
                <a:uLnTx/>
                <a:uFillTx/>
                <a:latin typeface="Palatino Linotype"/>
                <a:ea typeface="+mn-ea"/>
                <a:cs typeface="+mn-cs"/>
              </a:rPr>
              <a:t>LTM Revenue Breakdown</a:t>
            </a:r>
            <a:endParaRPr kumimoji="0" lang="en-CA" sz="1400" b="1" i="0" u="none" strike="noStrike" kern="0" cap="none" spc="0" normalizeH="0" baseline="0" noProof="0">
              <a:ln>
                <a:noFill/>
              </a:ln>
              <a:solidFill>
                <a:prstClr val="white"/>
              </a:solidFill>
              <a:effectLst/>
              <a:uLnTx/>
              <a:uFillTx/>
              <a:latin typeface="Palatino Linotype"/>
              <a:ea typeface="+mn-ea"/>
              <a:cs typeface="+mn-cs"/>
            </a:endParaRPr>
          </a:p>
        </p:txBody>
      </p:sp>
      <p:sp>
        <p:nvSpPr>
          <p:cNvPr id="7" name="Title 6"/>
          <p:cNvSpPr>
            <a:spLocks noGrp="1"/>
          </p:cNvSpPr>
          <p:nvPr>
            <p:ph type="title"/>
          </p:nvPr>
        </p:nvSpPr>
        <p:spPr/>
        <p:txBody>
          <a:bodyPr/>
          <a:lstStyle/>
          <a:p>
            <a:r>
              <a:rPr lang="en-CA" dirty="0"/>
              <a:t>Introduction to Propel Holdings Inc.</a:t>
            </a:r>
          </a:p>
        </p:txBody>
      </p:sp>
      <p:sp>
        <p:nvSpPr>
          <p:cNvPr id="11" name="Slide Number Placeholder 3">
            <a:extLst>
              <a:ext uri="{FF2B5EF4-FFF2-40B4-BE49-F238E27FC236}">
                <a16:creationId xmlns:a16="http://schemas.microsoft.com/office/drawing/2014/main" id="{0F3B92E3-EC76-4193-B557-E9779AA327B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CA" sz="12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endParaRPr>
          </a:p>
        </p:txBody>
      </p:sp>
      <p:sp>
        <p:nvSpPr>
          <p:cNvPr id="2" name="Text Placeholder 1"/>
          <p:cNvSpPr>
            <a:spLocks noGrp="1"/>
          </p:cNvSpPr>
          <p:nvPr>
            <p:ph type="body" sz="quarter" idx="13"/>
          </p:nvPr>
        </p:nvSpPr>
        <p:spPr>
          <a:xfrm>
            <a:off x="1570011" y="6426533"/>
            <a:ext cx="8012528" cy="409085"/>
          </a:xfrm>
        </p:spPr>
        <p:txBody>
          <a:bodyPr numCol="2"/>
          <a:lstStyle/>
          <a:p>
            <a:r>
              <a:rPr lang="en-US" dirty="0"/>
              <a:t>Source: Company filings, S&amp;P Capital IQ</a:t>
            </a:r>
          </a:p>
          <a:p>
            <a:r>
              <a:rPr lang="en-US" dirty="0"/>
              <a:t>Note: All figures in C$MM, except per share figures and where indicated otherwise</a:t>
            </a:r>
          </a:p>
        </p:txBody>
      </p:sp>
      <p:sp>
        <p:nvSpPr>
          <p:cNvPr id="8" name="Rectangle 7">
            <a:extLst>
              <a:ext uri="{FF2B5EF4-FFF2-40B4-BE49-F238E27FC236}">
                <a16:creationId xmlns:a16="http://schemas.microsoft.com/office/drawing/2014/main" id="{D1431F0D-3455-49D4-9E68-C205A528EE2B}"/>
              </a:ext>
            </a:extLst>
          </p:cNvPr>
          <p:cNvSpPr/>
          <p:nvPr/>
        </p:nvSpPr>
        <p:spPr>
          <a:xfrm>
            <a:off x="4680000" y="1034568"/>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ea typeface="+mn-ea"/>
                <a:cs typeface="+mn-cs"/>
              </a:rPr>
              <a:t>Capitalization Summary</a:t>
            </a:r>
            <a:endParaRPr kumimoji="0" lang="en-CA" sz="1400" b="1" i="0" u="none" strike="noStrike" kern="0" cap="none" spc="0" normalizeH="0" baseline="30000" noProof="0" dirty="0">
              <a:ln>
                <a:noFill/>
              </a:ln>
              <a:solidFill>
                <a:prstClr val="white"/>
              </a:solidFill>
              <a:effectLst/>
              <a:uLnTx/>
              <a:uFillTx/>
              <a:latin typeface="Palatino Linotype" panose="02040502050505030304" pitchFamily="18" charset="0"/>
              <a:ea typeface="+mn-ea"/>
              <a:cs typeface="+mn-cs"/>
            </a:endParaRPr>
          </a:p>
        </p:txBody>
      </p:sp>
      <p:sp>
        <p:nvSpPr>
          <p:cNvPr id="10" name="TextBox 9">
            <a:extLst>
              <a:ext uri="{FF2B5EF4-FFF2-40B4-BE49-F238E27FC236}">
                <a16:creationId xmlns:a16="http://schemas.microsoft.com/office/drawing/2014/main" id="{CA7C8506-5C16-46A9-8B7D-9249112829E8}"/>
              </a:ext>
            </a:extLst>
          </p:cNvPr>
          <p:cNvSpPr txBox="1">
            <a:spLocks/>
          </p:cNvSpPr>
          <p:nvPr/>
        </p:nvSpPr>
        <p:spPr>
          <a:xfrm>
            <a:off x="342899" y="1345241"/>
            <a:ext cx="4121102" cy="2886098"/>
          </a:xfrm>
          <a:prstGeom prst="rect">
            <a:avLst/>
          </a:prstGeom>
          <a:noFill/>
        </p:spPr>
        <p:txBody>
          <a:bodyPr wrap="square" lIns="0" rIns="0" rtlCol="0">
            <a:normAutofit fontScale="95000" lnSpcReduction="8000"/>
          </a:bodyPr>
          <a:lstStyle/>
          <a:p>
            <a:pPr marL="180000" marR="0" lvl="1" indent="-1800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Toronto-based fintech (TSX: PRL) facilitating access to credit for US, Canadian and UK consumers underserved by traditional financial institutions</a:t>
            </a:r>
          </a:p>
          <a:p>
            <a:pPr marL="180000" marR="0" lvl="1" indent="-1800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AI-powered platform evaluates thousands of applicant attributes beyond traditional credit scores, powering installment loans and lines of credit</a:t>
            </a:r>
          </a:p>
          <a:p>
            <a:pPr marL="180000" marR="0" lvl="1" indent="-1800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Operates MoneyKey and CreditFresh in the US, Fora Credit in Canada and QuidMarket in the UK, plus a white-label Lending-as-a-Service (LaaS) line</a:t>
            </a:r>
          </a:p>
          <a:p>
            <a:pPr marL="180000" marR="0" lvl="1" indent="-1800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Propel Bank, a Puerto Rico IFE-licensed subsidiary launched in December 2025, adds regulated banking infrastructure and flexibility</a:t>
            </a:r>
          </a:p>
          <a:p>
            <a:pPr marL="180000" marR="0" lvl="1" indent="-1800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Serves 46 US states, 6 Canadian provinces and all UK countries as of Q1 2026</a:t>
            </a:r>
          </a:p>
          <a:p>
            <a:pPr marL="180000" marR="0" lvl="1" indent="-1800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05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FY2025 revenue of US$589.8MM (+31% YoY); record Q1 2026 revenue of US$166.1MM and Adjusted EBITDA of US$42.0MM</a:t>
            </a:r>
          </a:p>
        </p:txBody>
      </p:sp>
      <p:sp>
        <p:nvSpPr>
          <p:cNvPr id="15" name="Rectangle 14">
            <a:extLst>
              <a:ext uri="{FF2B5EF4-FFF2-40B4-BE49-F238E27FC236}">
                <a16:creationId xmlns:a16="http://schemas.microsoft.com/office/drawing/2014/main" id="{9A45D7A2-D433-4946-ADA1-546C1387DB0D}"/>
              </a:ext>
            </a:extLst>
          </p:cNvPr>
          <p:cNvSpPr/>
          <p:nvPr/>
        </p:nvSpPr>
        <p:spPr>
          <a:xfrm>
            <a:off x="333369" y="1034568"/>
            <a:ext cx="4140000" cy="311616"/>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a:ea typeface="+mn-ea"/>
                <a:cs typeface="+mn-cs"/>
              </a:rPr>
              <a:t>Company Overview</a:t>
            </a:r>
            <a:endParaRPr kumimoji="0" lang="en-CA" sz="1400" b="1" i="0" u="none" strike="noStrike" kern="0" cap="none" spc="0" normalizeH="0" baseline="0" noProof="0" dirty="0">
              <a:ln>
                <a:noFill/>
              </a:ln>
              <a:solidFill>
                <a:prstClr val="white"/>
              </a:solidFill>
              <a:effectLst/>
              <a:uLnTx/>
              <a:uFillTx/>
              <a:latin typeface="Palatino Linotype"/>
              <a:ea typeface="+mn-ea"/>
              <a:cs typeface="+mn-cs"/>
            </a:endParaRPr>
          </a:p>
        </p:txBody>
      </p:sp>
      <p:pic>
        <p:nvPicPr>
          <p:cNvPr id="17" name="Picture 16" descr="image.png"/>
          <p:cNvPicPr>
            <a:picLocks noChangeAspect="1"/>
          </p:cNvPicPr>
          <p:nvPr/>
        </p:nvPicPr>
        <p:blipFill>
          <a:blip r:embed="rId4"/>
          <a:stretch>
            <a:fillRect/>
          </a:stretch>
        </p:blipFill>
        <p:spPr>
          <a:xfrm>
            <a:off x="4680000" y="1385387"/>
            <a:ext cx="4137218" cy="4923973"/>
          </a:xfrm>
          <a:prstGeom prst="rect">
            <a:avLst/>
          </a:prstGeom>
        </p:spPr>
      </p:pic>
      <p:pic>
        <p:nvPicPr>
          <p:cNvPr id="18" name="Picture 17" descr="image.png"/>
          <p:cNvPicPr>
            <a:picLocks noChangeAspect="1"/>
          </p:cNvPicPr>
          <p:nvPr/>
        </p:nvPicPr>
        <p:blipFill>
          <a:blip r:embed="rId5"/>
          <a:stretch>
            <a:fillRect/>
          </a:stretch>
        </p:blipFill>
        <p:spPr>
          <a:xfrm>
            <a:off x="342900" y="4691063"/>
            <a:ext cx="4121102" cy="1618297"/>
          </a:xfrm>
          <a:prstGeom prst="rect">
            <a:avLst/>
          </a:prstGeom>
        </p:spPr>
      </p:pic>
    </p:spTree>
    <p:custDataLst>
      <p:tags r:id="rId1"/>
    </p:custDataLst>
    <p:extLst>
      <p:ext uri="{BB962C8B-B14F-4D97-AF65-F5344CB8AC3E}">
        <p14:creationId xmlns:p14="http://schemas.microsoft.com/office/powerpoint/2010/main" val="2957093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00ED0-09D0-1E2D-49C7-792A0CE6C0F9}"/>
            </a:ext>
          </a:extLst>
        </p:cNvPr>
        <p:cNvGrpSpPr/>
        <p:nvPr/>
      </p:nvGrpSpPr>
      <p:grpSpPr>
        <a:xfrm>
          <a:off x="0" y="0"/>
          <a:ext cx="0" cy="0"/>
          <a:chOff x="0" y="0"/>
          <a:chExt cx="0" cy="0"/>
        </a:xfrm>
      </p:grpSpPr>
      <p:sp>
        <p:nvSpPr>
          <p:cNvPr id="5" name="Title 6">
            <a:extLst>
              <a:ext uri="{FF2B5EF4-FFF2-40B4-BE49-F238E27FC236}">
                <a16:creationId xmlns:a16="http://schemas.microsoft.com/office/drawing/2014/main" id="{B251D395-DF2C-B9FC-CCDD-E4A223C12F37}"/>
              </a:ext>
            </a:extLst>
          </p:cNvPr>
          <p:cNvSpPr txBox="1">
            <a:spLocks/>
          </p:cNvSpPr>
          <p:nvPr/>
        </p:nvSpPr>
        <p:spPr>
          <a:xfrm>
            <a:off x="239832" y="116475"/>
            <a:ext cx="8577386" cy="87889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CA" sz="2200" b="1" kern="1200" baseline="0" dirty="0">
                <a:solidFill>
                  <a:schemeClr val="tx1"/>
                </a:solidFill>
                <a:latin typeface="Palatino Linotype" panose="02040502050505030304" pitchFamily="18" charset="0"/>
                <a:ea typeface="+mj-ea"/>
                <a:cs typeface="+mj-cs"/>
              </a:defRPr>
            </a:lvl1pPr>
          </a:lstStyle>
          <a:p>
            <a:r>
              <a:rPr lang="en-CA" noProof="0"/>
              <a:t>Financial Summary</a:t>
            </a:r>
          </a:p>
        </p:txBody>
      </p:sp>
      <p:sp>
        <p:nvSpPr>
          <p:cNvPr id="7" name="Text Placeholder 1">
            <a:extLst>
              <a:ext uri="{FF2B5EF4-FFF2-40B4-BE49-F238E27FC236}">
                <a16:creationId xmlns:a16="http://schemas.microsoft.com/office/drawing/2014/main" id="{D2C7E012-9AF6-D698-57FE-C511A4D73CF2}"/>
              </a:ext>
            </a:extLst>
          </p:cNvPr>
          <p:cNvSpPr txBox="1">
            <a:spLocks/>
          </p:cNvSpPr>
          <p:nvPr/>
        </p:nvSpPr>
        <p:spPr>
          <a:xfrm>
            <a:off x="1570011" y="6426533"/>
            <a:ext cx="7144619" cy="409085"/>
          </a:xfrm>
          <a:prstGeom prst="rect">
            <a:avLst/>
          </a:prstGeom>
        </p:spPr>
        <p:txBody>
          <a:bodyPr numCol="2" anchor="ctr">
            <a:noAutofit/>
          </a:bodyPr>
          <a:lstStyle>
            <a:lvl1pPr marL="0" indent="0" algn="l" defTabSz="914400" rtl="0" eaLnBrk="1" latinLnBrk="0" hangingPunct="1">
              <a:lnSpc>
                <a:spcPct val="85000"/>
              </a:lnSpc>
              <a:spcBef>
                <a:spcPct val="0"/>
              </a:spcBef>
              <a:buFont typeface="Arial" panose="020B0604020202020204" pitchFamily="34" charset="0"/>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Clr>
                <a:srgbClr val="960000"/>
              </a:buClr>
              <a:buFont typeface="Wingdings" panose="05000000000000000000" pitchFamily="2" charset="2"/>
              <a:buNone/>
              <a:defRPr lang="en-US" sz="1100" b="1" kern="1200" baseline="0" smtClean="0">
                <a:solidFill>
                  <a:srgbClr val="1B2759"/>
                </a:solidFill>
                <a:latin typeface="Palatino Linotype" panose="02040502050505030304" pitchFamily="18" charset="0"/>
                <a:ea typeface="+mj-ea"/>
                <a:cs typeface="+mj-cs"/>
              </a:defRPr>
            </a:lvl2pPr>
            <a:lvl3pPr marL="914400" indent="0" algn="l" defTabSz="914400" rtl="0" eaLnBrk="1" latinLnBrk="0" hangingPunct="1">
              <a:lnSpc>
                <a:spcPct val="90000"/>
              </a:lnSpc>
              <a:spcBef>
                <a:spcPct val="0"/>
              </a:spcBef>
              <a:buFont typeface="Arial" panose="020B0604020202020204" pitchFamily="34" charset="0"/>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Font typeface="Arial" panose="020B0604020202020204" pitchFamily="34" charset="0"/>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Font typeface="Arial" panose="020B0604020202020204" pitchFamily="34" charset="0"/>
              <a:buNone/>
              <a:defRPr lang="en-CA" sz="1100" b="1" kern="1200" baseline="0">
                <a:solidFill>
                  <a:srgbClr val="1B2759"/>
                </a:solidFill>
                <a:latin typeface="Palatino Linotype" panose="02040502050505030304" pitchFamily="18" charset="0"/>
                <a:ea typeface="+mj-ea"/>
                <a:cs typeface="+mj-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CA" noProof="0"/>
          </a:p>
        </p:txBody>
      </p:sp>
      <p:sp>
        <p:nvSpPr>
          <p:cNvPr id="9" name="Slide Number Placeholder 3">
            <a:extLst>
              <a:ext uri="{FF2B5EF4-FFF2-40B4-BE49-F238E27FC236}">
                <a16:creationId xmlns:a16="http://schemas.microsoft.com/office/drawing/2014/main" id="{06F78D5A-A5C5-B7FC-C50A-25DCE635920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CA" sz="12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endParaRPr>
          </a:p>
        </p:txBody>
      </p:sp>
      <p:sp>
        <p:nvSpPr>
          <p:cNvPr id="12" name="Text Placeholder 11">
            <a:extLst>
              <a:ext uri="{FF2B5EF4-FFF2-40B4-BE49-F238E27FC236}">
                <a16:creationId xmlns:a16="http://schemas.microsoft.com/office/drawing/2014/main" id="{56D4B355-464B-A424-BD6F-CE920270ECEA}"/>
              </a:ext>
            </a:extLst>
          </p:cNvPr>
          <p:cNvSpPr>
            <a:spLocks noGrp="1"/>
          </p:cNvSpPr>
          <p:nvPr>
            <p:ph type="body" sz="quarter" idx="13"/>
          </p:nvPr>
        </p:nvSpPr>
        <p:spPr/>
        <p:txBody>
          <a:bodyPr/>
          <a:lstStyle/>
          <a:p>
            <a:r>
              <a:rPr lang="en-CA" dirty="0"/>
              <a:t>Sources: Company </a:t>
            </a:r>
            <a:r>
              <a:rPr lang="en-US" dirty="0"/>
              <a:t>filings</a:t>
            </a:r>
            <a:endParaRPr lang="en-CA" noProof="0" dirty="0"/>
          </a:p>
        </p:txBody>
      </p:sp>
      <p:sp>
        <p:nvSpPr>
          <p:cNvPr id="13" name="Rectangle 12">
            <a:extLst>
              <a:ext uri="{FF2B5EF4-FFF2-40B4-BE49-F238E27FC236}">
                <a16:creationId xmlns:a16="http://schemas.microsoft.com/office/drawing/2014/main" id="{8951852E-D9DF-245E-88BE-4170D215A0E0}"/>
              </a:ext>
            </a:extLst>
          </p:cNvPr>
          <p:cNvSpPr/>
          <p:nvPr/>
        </p:nvSpPr>
        <p:spPr>
          <a:xfrm>
            <a:off x="4677218" y="1052880"/>
            <a:ext cx="4140000" cy="311616"/>
          </a:xfrm>
          <a:prstGeom prst="rect">
            <a:avLst/>
          </a:prstGeom>
          <a:solidFill>
            <a:srgbClr val="0E213F"/>
          </a:solidFill>
          <a:ln w="12700" cap="flat" cmpd="sng" algn="ctr">
            <a:noFill/>
            <a:prstDash val="solid"/>
            <a:miter lim="800000"/>
          </a:ln>
          <a:effectLst/>
        </p:spPr>
        <p:txBody>
          <a:bodyPr rtlCol="0" anchor="ctr"/>
          <a:lstStyle/>
          <a:p>
            <a:pPr algn="ctr">
              <a:defRPr/>
            </a:pPr>
            <a:r>
              <a:rPr lang="en-CA" sz="1400" b="1" kern="0" dirty="0">
                <a:solidFill>
                  <a:prstClr val="white"/>
                </a:solidFill>
                <a:latin typeface="Palatino Linotype"/>
              </a:rPr>
              <a:t>Adjusted EBITDA</a:t>
            </a:r>
            <a:endParaRPr lang="en-CA" sz="1400" b="1" kern="0" baseline="30000" dirty="0">
              <a:solidFill>
                <a:prstClr val="white"/>
              </a:solidFill>
              <a:latin typeface="Palatino Linotype"/>
            </a:endParaRPr>
          </a:p>
        </p:txBody>
      </p:sp>
      <p:sp>
        <p:nvSpPr>
          <p:cNvPr id="14" name="Rectangle 13">
            <a:extLst>
              <a:ext uri="{FF2B5EF4-FFF2-40B4-BE49-F238E27FC236}">
                <a16:creationId xmlns:a16="http://schemas.microsoft.com/office/drawing/2014/main" id="{2618FB19-729A-B0F7-9697-BBA0F2DA3942}"/>
              </a:ext>
            </a:extLst>
          </p:cNvPr>
          <p:cNvSpPr/>
          <p:nvPr/>
        </p:nvSpPr>
        <p:spPr>
          <a:xfrm>
            <a:off x="323850" y="1052880"/>
            <a:ext cx="4140000" cy="311616"/>
          </a:xfrm>
          <a:prstGeom prst="rect">
            <a:avLst/>
          </a:prstGeom>
          <a:solidFill>
            <a:schemeClr val="accent1"/>
          </a:solidFill>
          <a:ln w="12700" cap="flat" cmpd="sng" algn="ctr">
            <a:noFill/>
            <a:prstDash val="solid"/>
            <a:miter lim="800000"/>
          </a:ln>
          <a:effectLst/>
        </p:spPr>
        <p:txBody>
          <a:bodyPr rtlCol="0" anchor="ctr"/>
          <a:lstStyle/>
          <a:p>
            <a:pPr algn="ctr">
              <a:defRPr/>
            </a:pPr>
            <a:r>
              <a:rPr lang="en-CA" sz="1400" b="1" kern="0" noProof="0" dirty="0">
                <a:solidFill>
                  <a:prstClr val="white"/>
                </a:solidFill>
                <a:latin typeface="Palatino Linotype"/>
              </a:rPr>
              <a:t>Revenue</a:t>
            </a:r>
            <a:endParaRPr lang="en-CA" sz="1400" b="1" kern="0" baseline="30000" noProof="0" dirty="0">
              <a:solidFill>
                <a:prstClr val="white"/>
              </a:solidFill>
              <a:latin typeface="Palatino Linotype"/>
            </a:endParaRPr>
          </a:p>
        </p:txBody>
      </p:sp>
      <p:sp>
        <p:nvSpPr>
          <p:cNvPr id="15" name="Rectangle 14">
            <a:extLst>
              <a:ext uri="{FF2B5EF4-FFF2-40B4-BE49-F238E27FC236}">
                <a16:creationId xmlns:a16="http://schemas.microsoft.com/office/drawing/2014/main" id="{147AF6CB-D1FE-E8A1-D27A-5710411013C5}"/>
              </a:ext>
            </a:extLst>
          </p:cNvPr>
          <p:cNvSpPr/>
          <p:nvPr/>
        </p:nvSpPr>
        <p:spPr>
          <a:xfrm>
            <a:off x="4677218" y="3707341"/>
            <a:ext cx="4140000" cy="311616"/>
          </a:xfrm>
          <a:prstGeom prst="rect">
            <a:avLst/>
          </a:prstGeom>
          <a:solidFill>
            <a:srgbClr val="0E213F"/>
          </a:solidFill>
          <a:ln w="12700" cap="flat" cmpd="sng" algn="ctr">
            <a:noFill/>
            <a:prstDash val="solid"/>
            <a:miter lim="800000"/>
          </a:ln>
          <a:effectLst/>
        </p:spPr>
        <p:txBody>
          <a:bodyPr rtlCol="0" anchor="ctr"/>
          <a:lstStyle/>
          <a:p>
            <a:pPr algn="ctr">
              <a:defRPr/>
            </a:pPr>
            <a:r>
              <a:rPr lang="en-CA" sz="1400" b="1" kern="0" dirty="0">
                <a:solidFill>
                  <a:prstClr val="white"/>
                </a:solidFill>
                <a:latin typeface="Palatino Linotype"/>
              </a:rPr>
              <a:t>Ending Combined Loan &amp; Advance Balances</a:t>
            </a:r>
            <a:endParaRPr lang="en-CA" sz="1400" b="1" kern="0" baseline="30000" dirty="0">
              <a:solidFill>
                <a:prstClr val="white"/>
              </a:solidFill>
              <a:latin typeface="Palatino Linotype"/>
            </a:endParaRPr>
          </a:p>
        </p:txBody>
      </p:sp>
      <p:sp>
        <p:nvSpPr>
          <p:cNvPr id="16" name="Rectangle 15">
            <a:extLst>
              <a:ext uri="{FF2B5EF4-FFF2-40B4-BE49-F238E27FC236}">
                <a16:creationId xmlns:a16="http://schemas.microsoft.com/office/drawing/2014/main" id="{DE36990D-B899-12EE-9AD8-00F7979103E0}"/>
              </a:ext>
            </a:extLst>
          </p:cNvPr>
          <p:cNvSpPr/>
          <p:nvPr/>
        </p:nvSpPr>
        <p:spPr>
          <a:xfrm>
            <a:off x="323850" y="3707341"/>
            <a:ext cx="4140000" cy="311616"/>
          </a:xfrm>
          <a:prstGeom prst="rect">
            <a:avLst/>
          </a:prstGeom>
          <a:solidFill>
            <a:schemeClr val="accent1"/>
          </a:solidFill>
          <a:ln w="12700" cap="flat" cmpd="sng" algn="ctr">
            <a:noFill/>
            <a:prstDash val="solid"/>
            <a:miter lim="800000"/>
          </a:ln>
          <a:effectLst/>
        </p:spPr>
        <p:txBody>
          <a:bodyPr rtlCol="0" anchor="ctr"/>
          <a:lstStyle/>
          <a:p>
            <a:pPr algn="ctr">
              <a:defRPr/>
            </a:pPr>
            <a:r>
              <a:rPr lang="en-CA" sz="1400" b="1" kern="0" dirty="0">
                <a:solidFill>
                  <a:prstClr val="white"/>
                </a:solidFill>
                <a:latin typeface="Palatino Linotype"/>
              </a:rPr>
              <a:t>Net Income</a:t>
            </a:r>
            <a:endParaRPr lang="en-CA" sz="1400" b="1" kern="0" baseline="30000" dirty="0">
              <a:solidFill>
                <a:prstClr val="white"/>
              </a:solidFill>
              <a:latin typeface="Palatino Linotype"/>
            </a:endParaRPr>
          </a:p>
        </p:txBody>
      </p:sp>
      <p:pic>
        <p:nvPicPr>
          <p:cNvPr id="21" name="Picture 20" descr="image.png"/>
          <p:cNvPicPr>
            <a:picLocks noChangeAspect="1"/>
          </p:cNvPicPr>
          <p:nvPr/>
        </p:nvPicPr>
        <p:blipFill>
          <a:blip r:embed="rId2"/>
          <a:stretch>
            <a:fillRect/>
          </a:stretch>
        </p:blipFill>
        <p:spPr>
          <a:xfrm>
            <a:off x="323850" y="1380366"/>
            <a:ext cx="4140000" cy="2292094"/>
          </a:xfrm>
          <a:prstGeom prst="rect">
            <a:avLst/>
          </a:prstGeom>
        </p:spPr>
      </p:pic>
      <p:pic>
        <p:nvPicPr>
          <p:cNvPr id="22" name="Picture 21" descr="image.png"/>
          <p:cNvPicPr>
            <a:picLocks noChangeAspect="1"/>
          </p:cNvPicPr>
          <p:nvPr/>
        </p:nvPicPr>
        <p:blipFill>
          <a:blip r:embed="rId3"/>
          <a:stretch>
            <a:fillRect/>
          </a:stretch>
        </p:blipFill>
        <p:spPr>
          <a:xfrm>
            <a:off x="4677218" y="1380366"/>
            <a:ext cx="4140000" cy="2292094"/>
          </a:xfrm>
          <a:prstGeom prst="rect">
            <a:avLst/>
          </a:prstGeom>
        </p:spPr>
      </p:pic>
      <p:pic>
        <p:nvPicPr>
          <p:cNvPr id="23" name="Picture 22" descr="image.png"/>
          <p:cNvPicPr>
            <a:picLocks noChangeAspect="1"/>
          </p:cNvPicPr>
          <p:nvPr/>
        </p:nvPicPr>
        <p:blipFill>
          <a:blip r:embed="rId4"/>
          <a:stretch>
            <a:fillRect/>
          </a:stretch>
        </p:blipFill>
        <p:spPr>
          <a:xfrm>
            <a:off x="323850" y="4042408"/>
            <a:ext cx="4140000" cy="2292094"/>
          </a:xfrm>
          <a:prstGeom prst="rect">
            <a:avLst/>
          </a:prstGeom>
        </p:spPr>
      </p:pic>
      <p:pic>
        <p:nvPicPr>
          <p:cNvPr id="24" name="Picture 23" descr="image.png"/>
          <p:cNvPicPr>
            <a:picLocks noChangeAspect="1"/>
          </p:cNvPicPr>
          <p:nvPr/>
        </p:nvPicPr>
        <p:blipFill>
          <a:blip r:embed="rId5"/>
          <a:stretch>
            <a:fillRect/>
          </a:stretch>
        </p:blipFill>
        <p:spPr>
          <a:xfrm>
            <a:off x="4677218" y="4042408"/>
            <a:ext cx="4140000" cy="2292094"/>
          </a:xfrm>
          <a:prstGeom prst="rect">
            <a:avLst/>
          </a:prstGeom>
        </p:spPr>
      </p:pic>
    </p:spTree>
    <p:extLst>
      <p:ext uri="{BB962C8B-B14F-4D97-AF65-F5344CB8AC3E}">
        <p14:creationId xmlns:p14="http://schemas.microsoft.com/office/powerpoint/2010/main" val="2689732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CA" dirty="0"/>
              <a:t>Ownership</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961EF2-D691-475A-8925-921775980BFF}" type="slidenum">
              <a:rPr kumimoji="0" lang="en-US"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p:txBody>
      </p:sp>
      <p:sp>
        <p:nvSpPr>
          <p:cNvPr id="15" name="Text Placeholder 14">
            <a:extLst>
              <a:ext uri="{FF2B5EF4-FFF2-40B4-BE49-F238E27FC236}">
                <a16:creationId xmlns:a16="http://schemas.microsoft.com/office/drawing/2014/main" id="{8D36FBFB-0BC0-4A4C-B382-B0D361DF317E}"/>
              </a:ext>
            </a:extLst>
          </p:cNvPr>
          <p:cNvSpPr>
            <a:spLocks noGrp="1"/>
          </p:cNvSpPr>
          <p:nvPr>
            <p:ph type="body" sz="quarter" idx="13"/>
          </p:nvPr>
        </p:nvSpPr>
        <p:spPr/>
        <p:txBody>
          <a:bodyPr/>
          <a:lstStyle/>
          <a:p>
            <a:r>
              <a:rPr lang="en-US" dirty="0"/>
              <a:t>Source: Bloomberg</a:t>
            </a:r>
          </a:p>
        </p:txBody>
      </p:sp>
      <p:sp>
        <p:nvSpPr>
          <p:cNvPr id="5" name="Text Placeholder 4">
            <a:extLst>
              <a:ext uri="{FF2B5EF4-FFF2-40B4-BE49-F238E27FC236}">
                <a16:creationId xmlns:a16="http://schemas.microsoft.com/office/drawing/2014/main" id="{768AD244-3A20-57B2-4ADA-71A9B6863829}"/>
              </a:ext>
            </a:extLst>
          </p:cNvPr>
          <p:cNvSpPr>
            <a:spLocks noGrp="1"/>
          </p:cNvSpPr>
          <p:nvPr>
            <p:ph type="body" sz="quarter" idx="15"/>
          </p:nvPr>
        </p:nvSpPr>
        <p:spPr/>
        <p:txBody>
          <a:bodyPr/>
          <a:lstStyle/>
          <a:p>
            <a:r>
              <a:rPr lang="en-US" dirty="0"/>
              <a:t>[x]</a:t>
            </a:r>
          </a:p>
        </p:txBody>
      </p:sp>
      <p:sp>
        <p:nvSpPr>
          <p:cNvPr id="20" name="Rectangle 19">
            <a:extLst>
              <a:ext uri="{FF2B5EF4-FFF2-40B4-BE49-F238E27FC236}">
                <a16:creationId xmlns:a16="http://schemas.microsoft.com/office/drawing/2014/main" id="{BB02DF0F-FC1B-41E7-A69B-47F98CBCD7D6}"/>
              </a:ext>
            </a:extLst>
          </p:cNvPr>
          <p:cNvSpPr/>
          <p:nvPr/>
        </p:nvSpPr>
        <p:spPr>
          <a:xfrm>
            <a:off x="4688681" y="1034568"/>
            <a:ext cx="4140000" cy="311616"/>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a:ea typeface="+mn-ea"/>
                <a:cs typeface="+mn-cs"/>
              </a:rPr>
              <a:t>Institutions</a:t>
            </a:r>
            <a:endParaRPr kumimoji="0" lang="en-CA" sz="1400" b="1" i="0" u="none" strike="noStrike" kern="0" cap="none" spc="0" normalizeH="0" baseline="30000" noProof="0" dirty="0">
              <a:ln>
                <a:noFill/>
              </a:ln>
              <a:solidFill>
                <a:prstClr val="white"/>
              </a:solidFill>
              <a:effectLst/>
              <a:uLnTx/>
              <a:uFillTx/>
              <a:latin typeface="Palatino Linotype"/>
              <a:ea typeface="+mn-ea"/>
              <a:cs typeface="+mn-cs"/>
            </a:endParaRPr>
          </a:p>
        </p:txBody>
      </p:sp>
      <p:sp>
        <p:nvSpPr>
          <p:cNvPr id="25" name="Rectangle 24">
            <a:extLst>
              <a:ext uri="{FF2B5EF4-FFF2-40B4-BE49-F238E27FC236}">
                <a16:creationId xmlns:a16="http://schemas.microsoft.com/office/drawing/2014/main" id="{75E6EB81-7049-43E7-BDFB-7E69B8326032}"/>
              </a:ext>
            </a:extLst>
          </p:cNvPr>
          <p:cNvSpPr/>
          <p:nvPr/>
        </p:nvSpPr>
        <p:spPr>
          <a:xfrm>
            <a:off x="333369" y="1034568"/>
            <a:ext cx="4140000" cy="311616"/>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0" cap="none" spc="0" normalizeH="0" baseline="0" noProof="0" dirty="0">
                <a:ln>
                  <a:noFill/>
                </a:ln>
                <a:solidFill>
                  <a:prstClr val="white"/>
                </a:solidFill>
                <a:effectLst/>
                <a:uLnTx/>
                <a:uFillTx/>
                <a:latin typeface="Palatino Linotype"/>
                <a:ea typeface="+mn-ea"/>
                <a:cs typeface="+mn-cs"/>
              </a:rPr>
              <a:t>Insiders</a:t>
            </a:r>
          </a:p>
        </p:txBody>
      </p:sp>
      <p:pic>
        <p:nvPicPr>
          <p:cNvPr id="26" name="Picture 25" descr="image.png"/>
          <p:cNvPicPr>
            <a:picLocks noChangeAspect="1"/>
          </p:cNvPicPr>
          <p:nvPr/>
        </p:nvPicPr>
        <p:blipFill>
          <a:blip r:embed="rId4"/>
          <a:stretch>
            <a:fillRect/>
          </a:stretch>
        </p:blipFill>
        <p:spPr>
          <a:xfrm>
            <a:off x="333369" y="1385387"/>
            <a:ext cx="4121952" cy="3075777"/>
          </a:xfrm>
          <a:prstGeom prst="rect">
            <a:avLst/>
          </a:prstGeom>
        </p:spPr>
      </p:pic>
      <p:pic>
        <p:nvPicPr>
          <p:cNvPr id="27" name="Picture 26" descr="image.png"/>
          <p:cNvPicPr>
            <a:picLocks noChangeAspect="1"/>
          </p:cNvPicPr>
          <p:nvPr/>
        </p:nvPicPr>
        <p:blipFill>
          <a:blip r:embed="rId5"/>
          <a:stretch>
            <a:fillRect/>
          </a:stretch>
        </p:blipFill>
        <p:spPr>
          <a:xfrm>
            <a:off x="4688679" y="1385387"/>
            <a:ext cx="4121952" cy="3374566"/>
          </a:xfrm>
          <a:prstGeom prst="rect">
            <a:avLst/>
          </a:prstGeom>
        </p:spPr>
      </p:pic>
    </p:spTree>
    <p:custDataLst>
      <p:tags r:id="rId1"/>
    </p:custDataLst>
    <p:extLst>
      <p:ext uri="{BB962C8B-B14F-4D97-AF65-F5344CB8AC3E}">
        <p14:creationId xmlns:p14="http://schemas.microsoft.com/office/powerpoint/2010/main" val="1740364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ACC36-8070-34BC-7737-A9FEC2D653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92A2827-59F5-1988-A148-ED05BECC8CFF}"/>
              </a:ext>
            </a:extLst>
          </p:cNvPr>
          <p:cNvSpPr>
            <a:spLocks noGrp="1"/>
          </p:cNvSpPr>
          <p:nvPr>
            <p:ph type="title"/>
          </p:nvPr>
        </p:nvSpPr>
        <p:spPr/>
        <p:txBody>
          <a:bodyPr>
            <a:normAutofit/>
          </a:bodyPr>
          <a:lstStyle/>
          <a:p>
            <a:r>
              <a:rPr lang="en-CA" noProof="0"/>
              <a:t>Potential Perceived Acquiror Considerations and Mitigants</a:t>
            </a:r>
          </a:p>
        </p:txBody>
      </p:sp>
      <p:sp>
        <p:nvSpPr>
          <p:cNvPr id="4" name="Slide Number Placeholder 3">
            <a:extLst>
              <a:ext uri="{FF2B5EF4-FFF2-40B4-BE49-F238E27FC236}">
                <a16:creationId xmlns:a16="http://schemas.microsoft.com/office/drawing/2014/main" id="{82160B28-B7D9-7C9A-39A6-F93004E64E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CA" sz="1200" b="0" i="0" u="none" strike="noStrike" kern="1200" cap="none" spc="0" normalizeH="0" baseline="0" noProof="0">
              <a:ln>
                <a:noFill/>
              </a:ln>
              <a:solidFill>
                <a:prstClr val="black"/>
              </a:solidFill>
              <a:effectLst/>
              <a:uLnTx/>
              <a:uFillTx/>
              <a:latin typeface="Palatino Linotype" panose="02040502050505030304" pitchFamily="18" charset="0"/>
              <a:ea typeface="+mn-ea"/>
              <a:cs typeface="+mn-cs"/>
            </a:endParaRPr>
          </a:p>
        </p:txBody>
      </p:sp>
      <p:sp>
        <p:nvSpPr>
          <p:cNvPr id="2" name="Text Placeholder 1">
            <a:extLst>
              <a:ext uri="{FF2B5EF4-FFF2-40B4-BE49-F238E27FC236}">
                <a16:creationId xmlns:a16="http://schemas.microsoft.com/office/drawing/2014/main" id="{117EE55C-4619-2DD7-BD08-0D2A21177E4C}"/>
              </a:ext>
            </a:extLst>
          </p:cNvPr>
          <p:cNvSpPr>
            <a:spLocks noGrp="1"/>
          </p:cNvSpPr>
          <p:nvPr>
            <p:ph type="body" sz="quarter" idx="13"/>
          </p:nvPr>
        </p:nvSpPr>
        <p:spPr/>
        <p:txBody>
          <a:bodyPr/>
          <a:lstStyle/>
          <a:p>
            <a:endParaRPr lang="en-CA" noProof="0"/>
          </a:p>
        </p:txBody>
      </p:sp>
      <p:sp>
        <p:nvSpPr>
          <p:cNvPr id="7" name="Text Placeholder 6">
            <a:extLst>
              <a:ext uri="{FF2B5EF4-FFF2-40B4-BE49-F238E27FC236}">
                <a16:creationId xmlns:a16="http://schemas.microsoft.com/office/drawing/2014/main" id="{1C2AF783-5D80-A5E8-526E-CB9581D5B86E}"/>
              </a:ext>
            </a:extLst>
          </p:cNvPr>
          <p:cNvSpPr>
            <a:spLocks noGrp="1"/>
          </p:cNvSpPr>
          <p:nvPr>
            <p:ph type="body" sz="quarter" idx="15"/>
          </p:nvPr>
        </p:nvSpPr>
        <p:spPr/>
        <p:txBody>
          <a:bodyPr/>
          <a:lstStyle/>
          <a:p>
            <a:r>
              <a:rPr lang="en-CA" noProof="0" dirty="0"/>
              <a:t>INFOR believes each perceived consideration is addressable with data — proactively framing the story ahead of any process mitigates valuation friction</a:t>
            </a:r>
          </a:p>
        </p:txBody>
      </p:sp>
      <p:graphicFrame>
        <p:nvGraphicFramePr>
          <p:cNvPr id="5" name="Table 4">
            <a:extLst>
              <a:ext uri="{FF2B5EF4-FFF2-40B4-BE49-F238E27FC236}">
                <a16:creationId xmlns:a16="http://schemas.microsoft.com/office/drawing/2014/main" id="{1D0C48F9-AD52-56D3-A8BB-0CA7D1CB118A}"/>
              </a:ext>
            </a:extLst>
          </p:cNvPr>
          <p:cNvGraphicFramePr>
            <a:graphicFrameLocks noGrp="1"/>
          </p:cNvGraphicFramePr>
          <p:nvPr>
            <p:extLst>
              <p:ext uri="{D42A27DB-BD31-4B8C-83A1-F6EECF244321}">
                <p14:modId xmlns:p14="http://schemas.microsoft.com/office/powerpoint/2010/main" val="3719661829"/>
              </p:ext>
            </p:extLst>
          </p:nvPr>
        </p:nvGraphicFramePr>
        <p:xfrm>
          <a:off x="330539" y="1021262"/>
          <a:ext cx="8482922" cy="4728860"/>
        </p:xfrm>
        <a:graphic>
          <a:graphicData uri="http://schemas.openxmlformats.org/drawingml/2006/table">
            <a:tbl>
              <a:tblPr firstRow="1" bandRow="1">
                <a:tableStyleId>{5C22544A-7EE6-4342-B048-85BDC9FD1C3A}</a:tableStyleId>
              </a:tblPr>
              <a:tblGrid>
                <a:gridCol w="2585231">
                  <a:extLst>
                    <a:ext uri="{9D8B030D-6E8A-4147-A177-3AD203B41FA5}">
                      <a16:colId xmlns:a16="http://schemas.microsoft.com/office/drawing/2014/main" val="2800225439"/>
                    </a:ext>
                  </a:extLst>
                </a:gridCol>
                <a:gridCol w="5897691">
                  <a:extLst>
                    <a:ext uri="{9D8B030D-6E8A-4147-A177-3AD203B41FA5}">
                      <a16:colId xmlns:a16="http://schemas.microsoft.com/office/drawing/2014/main" val="2613517522"/>
                    </a:ext>
                  </a:extLst>
                </a:gridCol>
              </a:tblGrid>
              <a:tr h="360157">
                <a:tc>
                  <a:txBody>
                    <a:bodyPr/>
                    <a:lstStyle/>
                    <a:p>
                      <a:pPr algn="ctr"/>
                      <a:r>
                        <a:rPr sz="1200">
                          <a:latin typeface="Palatino Linotype"/>
                        </a:rPr>
                        <a:t>Considerations</a:t>
                      </a:r>
                    </a:p>
                  </a:txBody>
                  <a:tcPr anchor="ctr">
                    <a:lnB w="38100" cmpd="sng">
                      <a:noFill/>
                    </a:lnB>
                  </a:tcPr>
                </a:tc>
                <a:tc>
                  <a:txBody>
                    <a:bodyPr/>
                    <a:lstStyle/>
                    <a:p>
                      <a:pPr algn="ctr"/>
                      <a:r>
                        <a:rPr sz="1200">
                          <a:latin typeface="Palatino Linotype"/>
                        </a:rPr>
                        <a:t>Mitigants</a:t>
                      </a:r>
                    </a:p>
                  </a:txBody>
                  <a:tcPr anchor="ctr">
                    <a:lnB w="38100" cmpd="sng">
                      <a:noFill/>
                    </a:lnB>
                  </a:tcPr>
                </a:tc>
                <a:extLst>
                  <a:ext uri="{0D108BD9-81ED-4DB2-BD59-A6C34878D82A}">
                    <a16:rowId xmlns:a16="http://schemas.microsoft.com/office/drawing/2014/main" val="2408322318"/>
                  </a:ext>
                </a:extLst>
              </a:tr>
              <a:tr h="820357">
                <a:tc>
                  <a:txBody>
                    <a:bodyPr/>
                    <a:lstStyle/>
                    <a:p>
                      <a:pPr marL="171450" indent="-171450">
                        <a:spcBef>
                          <a:spcPts val="100"/>
                        </a:spcBef>
                        <a:spcAft>
                          <a:spcPts val="200"/>
                        </a:spcAft>
                        <a:buFont typeface="Wingdings" panose="05000000000000000000" pitchFamily="2" charset="2"/>
                        <a:buChar char="§"/>
                      </a:pPr>
                      <a:r>
                        <a:rPr sz="1000">
                          <a:latin typeface="Palatino Linotype"/>
                        </a:rPr>
                        <a:t>Regulatory scrutiny of non-prime consumer lending (CFPB, state rate caps, UK FCA)</a:t>
                      </a:r>
                    </a:p>
                  </a:txBody>
                  <a:tcPr anchor="ctr">
                    <a:lnL w="12700" cmpd="sng">
                      <a:noFill/>
                    </a:lnL>
                    <a:lnR w="12700" cap="flat" cmpd="sng" algn="ctr">
                      <a:solidFill>
                        <a:schemeClr val="bg1">
                          <a:lumMod val="65000"/>
                        </a:schemeClr>
                      </a:solidFill>
                      <a:prstDash val="sysDot"/>
                      <a:round/>
                      <a:headEnd type="none" w="med" len="med"/>
                      <a:tailEnd type="none" w="med" len="med"/>
                    </a:lnR>
                    <a:lnT w="38100" cmpd="sng">
                      <a:noFill/>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sz="1000">
                          <a:latin typeface="Palatino Linotype"/>
                        </a:rPr>
                        <a:t>Compliance-first platform adhering to all federal, state, provincial and FCA rules
Bank Partner, LaaS and direct programs diversify exposure across regulatory regimes
Propel Bank adds regulated infrastructure and long-term operational flexibility</a:t>
                      </a:r>
                    </a:p>
                  </a:txBody>
                  <a:tcPr anchor="ctr">
                    <a:lnL w="12700" cap="flat" cmpd="sng" algn="ctr">
                      <a:solidFill>
                        <a:schemeClr val="bg1">
                          <a:lumMod val="65000"/>
                        </a:schemeClr>
                      </a:solidFill>
                      <a:prstDash val="sysDot"/>
                      <a:round/>
                      <a:headEnd type="none" w="med" len="med"/>
                      <a:tailEnd type="none" w="med" len="med"/>
                    </a:lnL>
                    <a:lnR w="12700" cap="flat" cmpd="sng" algn="ctr">
                      <a:noFill/>
                      <a:prstDash val="solid"/>
                      <a:round/>
                      <a:headEnd type="none" w="med" len="med"/>
                      <a:tailEnd type="none" w="med" len="med"/>
                    </a:lnR>
                    <a:lnT w="38100" cmpd="sng">
                      <a:noFill/>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4694652"/>
                  </a:ext>
                </a:extLst>
              </a:tr>
              <a:tr h="820357">
                <a:tc>
                  <a:txBody>
                    <a:bodyPr/>
                    <a:lstStyle/>
                    <a:p>
                      <a:pPr marL="171450" indent="-171450">
                        <a:spcBef>
                          <a:spcPts val="100"/>
                        </a:spcBef>
                        <a:spcAft>
                          <a:spcPts val="200"/>
                        </a:spcAft>
                        <a:buFont typeface="Wingdings" panose="05000000000000000000" pitchFamily="2" charset="2"/>
                        <a:buChar char="§"/>
                      </a:pPr>
                      <a:r>
                        <a:rPr sz="1000">
                          <a:latin typeface="Palatino Linotype"/>
                        </a:rPr>
                        <a:t>Credit losses could rise in a weaker macro environment for non-prime consumers</a:t>
                      </a:r>
                    </a:p>
                  </a:txBody>
                  <a:tcPr anchor="ctr">
                    <a:lnL w="12700" cmpd="sng">
                      <a:noFill/>
                    </a:lnL>
                    <a:lnR w="12700" cap="flat" cmpd="sng" algn="ctr">
                      <a:solidFill>
                        <a:schemeClr val="bg1">
                          <a:lumMod val="65000"/>
                        </a:schemeClr>
                      </a:solidFill>
                      <a:prstDash val="sysDot"/>
                      <a:round/>
                      <a:headEnd type="none" w="med" len="med"/>
                      <a:tailEnd type="none" w="med" len="med"/>
                    </a:ln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sz="1000">
                          <a:latin typeface="Palatino Linotype"/>
                        </a:rPr>
                        <a:t>AI underwriting recalibrates in real time to macro and credit conditions
2025 tightening shifted mix toward higher-quality, returning customers
Target consumers are resilient, with steady essential-sector employment</a:t>
                      </a:r>
                    </a:p>
                  </a:txBody>
                  <a:tcPr anchor="ctr">
                    <a:lnL w="12700" cap="flat" cmpd="sng" algn="ctr">
                      <a:solidFill>
                        <a:schemeClr val="bg1">
                          <a:lumMod val="65000"/>
                        </a:schemeClr>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376479087"/>
                  </a:ext>
                </a:extLst>
              </a:tr>
              <a:tr h="1087275">
                <a:tc>
                  <a:txBody>
                    <a:bodyPr/>
                    <a:lstStyle/>
                    <a:p>
                      <a:pPr marL="171450" indent="-171450">
                        <a:spcBef>
                          <a:spcPts val="100"/>
                        </a:spcBef>
                        <a:spcAft>
                          <a:spcPts val="200"/>
                        </a:spcAft>
                        <a:buFont typeface="Wingdings" panose="05000000000000000000" pitchFamily="2" charset="2"/>
                        <a:buChar char="§"/>
                      </a:pPr>
                      <a:r>
                        <a:rPr sz="1000">
                          <a:latin typeface="Palatino Linotype"/>
                        </a:rPr>
                        <a:t>Reliance on Bank Partners and third-party forward-flow purchasers</a:t>
                      </a:r>
                    </a:p>
                  </a:txBody>
                  <a:tcPr anchor="ctr">
                    <a:lnL w="12700" cmpd="sng">
                      <a:noFill/>
                    </a:lnL>
                    <a:lnR w="12700" cap="flat" cmpd="sng" algn="ctr">
                      <a:solidFill>
                        <a:schemeClr val="bg1">
                          <a:lumMod val="65000"/>
                        </a:schemeClr>
                      </a:solidFill>
                      <a:prstDash val="sysDot"/>
                      <a:round/>
                      <a:headEnd type="none" w="med" len="med"/>
                      <a:tailEnd type="none" w="med" len="med"/>
                    </a:ln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sz="1000">
                          <a:latin typeface="Palatino Linotype"/>
                        </a:rPr>
                        <a:t>Multiple FDIC-insured partners plus Pathward and Column limit concentration
Propel Bank provides an owned lending channel independent of partners
US$210MM of committed forward-flow capital anchors the LaaS pipeline</a:t>
                      </a:r>
                    </a:p>
                  </a:txBody>
                  <a:tcPr anchor="ctr">
                    <a:lnL w="12700" cap="flat" cmpd="sng" algn="ctr">
                      <a:solidFill>
                        <a:schemeClr val="bg1">
                          <a:lumMod val="65000"/>
                        </a:schemeClr>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2454779"/>
                  </a:ext>
                </a:extLst>
              </a:tr>
              <a:tr h="820357">
                <a:tc>
                  <a:txBody>
                    <a:bodyPr/>
                    <a:lstStyle/>
                    <a:p>
                      <a:pPr marL="171450" indent="-171450">
                        <a:spcBef>
                          <a:spcPts val="100"/>
                        </a:spcBef>
                        <a:spcAft>
                          <a:spcPts val="200"/>
                        </a:spcAft>
                        <a:buFont typeface="Wingdings" panose="05000000000000000000" pitchFamily="2" charset="2"/>
                        <a:buChar char="§"/>
                      </a:pPr>
                      <a:r>
                        <a:rPr sz="1000">
                          <a:latin typeface="Palatino Linotype"/>
                        </a:rPr>
                        <a:t>Access to debt capital underpins receivables growth</a:t>
                      </a:r>
                    </a:p>
                  </a:txBody>
                  <a:tcPr anchor="ctr">
                    <a:lnL w="12700" cmpd="sng">
                      <a:noFill/>
                    </a:lnL>
                    <a:lnR w="12700" cap="flat" cmpd="sng" algn="ctr">
                      <a:solidFill>
                        <a:schemeClr val="bg1">
                          <a:lumMod val="65000"/>
                        </a:schemeClr>
                      </a:solidFill>
                      <a:prstDash val="sysDot"/>
                      <a:round/>
                      <a:headEnd type="none" w="med" len="med"/>
                      <a:tailEnd type="none" w="med" len="med"/>
                    </a:ln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sz="1000">
                          <a:latin typeface="Palatino Linotype"/>
                        </a:rPr>
                        <a:t>US$415MM of US revolver capacity plus an upsized C$40MM Fora facility
MoneyKey facility repaid and terminated in April 2026, reducing leverage
Strong operating cash flow; QuidMarket self-funds from retained earnings</a:t>
                      </a:r>
                    </a:p>
                  </a:txBody>
                  <a:tcPr anchor="ctr">
                    <a:lnL w="12700" cap="flat" cmpd="sng" algn="ctr">
                      <a:solidFill>
                        <a:schemeClr val="bg1">
                          <a:lumMod val="65000"/>
                        </a:schemeClr>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ysDot"/>
                      <a:round/>
                      <a:headEnd type="none" w="med" len="med"/>
                      <a:tailEnd type="none" w="med" len="med"/>
                    </a:lnT>
                    <a:lnB w="12700" cap="flat" cmpd="sng" algn="ctr">
                      <a:solidFill>
                        <a:schemeClr val="bg1">
                          <a:lumMod val="65000"/>
                        </a:schemeClr>
                      </a:solidFill>
                      <a:prstDash val="sysDot"/>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2884480978"/>
                  </a:ext>
                </a:extLst>
              </a:tr>
              <a:tr h="820357">
                <a:tc>
                  <a:txBody>
                    <a:bodyPr/>
                    <a:lstStyle/>
                    <a:p>
                      <a:pPr marL="171450" indent="-171450">
                        <a:spcBef>
                          <a:spcPts val="100"/>
                        </a:spcBef>
                        <a:spcAft>
                          <a:spcPts val="200"/>
                        </a:spcAft>
                        <a:buFont typeface="Wingdings" panose="05000000000000000000" pitchFamily="2" charset="2"/>
                        <a:buChar char="§"/>
                      </a:pPr>
                      <a:r>
                        <a:rPr sz="1000">
                          <a:latin typeface="Palatino Linotype"/>
                        </a:rPr>
                        <a:t>Earnings volatility from upfront IFRS 9 provisioning on rapid portfolio growth</a:t>
                      </a:r>
                    </a:p>
                  </a:txBody>
                  <a:tcPr anchor="ctr">
                    <a:lnL w="12700" cmpd="sng">
                      <a:noFill/>
                    </a:lnL>
                    <a:lnR w="12700" cap="flat" cmpd="sng" algn="ctr">
                      <a:solidFill>
                        <a:schemeClr val="bg1">
                          <a:lumMod val="65000"/>
                        </a:schemeClr>
                      </a:solidFill>
                      <a:prstDash val="sysDot"/>
                      <a:round/>
                      <a:headEnd type="none" w="med" len="med"/>
                      <a:tailEnd type="none" w="med" len="med"/>
                    </a:lnR>
                    <a:lnT w="12700" cap="flat" cmpd="sng" algn="ctr">
                      <a:solidFill>
                        <a:schemeClr val="bg1">
                          <a:lumMod val="65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100"/>
                        </a:spcBef>
                        <a:spcAft>
                          <a:spcPts val="200"/>
                        </a:spcAft>
                        <a:buClrTx/>
                        <a:buSzTx/>
                        <a:buFont typeface="Wingdings" panose="05000000000000000000" pitchFamily="2" charset="2"/>
                        <a:buChar char="§"/>
                        <a:tabLst/>
                        <a:defRPr/>
                      </a:pPr>
                      <a:r>
                        <a:rPr sz="1000">
                          <a:latin typeface="Palatino Linotype"/>
                        </a:rPr>
                        <a:t>Provisions front-run revenue; record balances seed 2026 earnings
2026 targets of US$725–775MM revenue and US$152.5–177.5MM Adjusted EBITDA
Q1 2026 delivered record revenue and Adjusted EBITDA with stable credit</a:t>
                      </a:r>
                    </a:p>
                  </a:txBody>
                  <a:tcPr anchor="ctr">
                    <a:lnL w="12700" cap="flat" cmpd="sng" algn="ctr">
                      <a:solidFill>
                        <a:schemeClr val="bg1">
                          <a:lumMod val="65000"/>
                        </a:schemeClr>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ys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517365"/>
                  </a:ext>
                </a:extLst>
              </a:tr>
            </a:tbl>
          </a:graphicData>
        </a:graphic>
      </p:graphicFrame>
    </p:spTree>
    <p:extLst>
      <p:ext uri="{BB962C8B-B14F-4D97-AF65-F5344CB8AC3E}">
        <p14:creationId xmlns:p14="http://schemas.microsoft.com/office/powerpoint/2010/main" val="3670395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CA" sz="2200" dirty="0"/>
              <a:t>Comparable</a:t>
            </a:r>
            <a:r>
              <a:rPr lang="en-CA" dirty="0"/>
              <a:t> Companies Analysis</a:t>
            </a:r>
          </a:p>
        </p:txBody>
      </p:sp>
      <p:sp>
        <p:nvSpPr>
          <p:cNvPr id="11" name="Slide Number Placeholder 3">
            <a:extLst>
              <a:ext uri="{FF2B5EF4-FFF2-40B4-BE49-F238E27FC236}">
                <a16:creationId xmlns:a16="http://schemas.microsoft.com/office/drawing/2014/main" id="{0F3B92E3-EC76-4193-B557-E9779AA327B7}"/>
              </a:ext>
            </a:extLst>
          </p:cNvPr>
          <p:cNvSpPr>
            <a:spLocks noGrp="1"/>
          </p:cNvSpPr>
          <p:nvPr>
            <p:ph type="sldNum" sz="quarter" idx="12"/>
          </p:nvPr>
        </p:nvSpPr>
        <p:spPr/>
        <p:txBody>
          <a:bodyPr/>
          <a:lstStyle/>
          <a:p>
            <a:fld id="{B0BBF262-6B1A-47DC-B7A7-A92B0DCA2A1B}" type="slidenum">
              <a:rPr lang="en-CA" smtClean="0"/>
              <a:pPr/>
              <a:t>10</a:t>
            </a:fld>
            <a:endParaRPr lang="en-CA"/>
          </a:p>
        </p:txBody>
      </p:sp>
      <p:sp>
        <p:nvSpPr>
          <p:cNvPr id="2" name="Text Placeholder 1"/>
          <p:cNvSpPr>
            <a:spLocks noGrp="1"/>
          </p:cNvSpPr>
          <p:nvPr>
            <p:ph type="body" sz="quarter" idx="13"/>
          </p:nvPr>
        </p:nvSpPr>
        <p:spPr/>
        <p:txBody>
          <a:bodyPr numCol="1"/>
          <a:lstStyle/>
          <a:p>
            <a:r>
              <a:rPr lang="fr-FR" dirty="0"/>
              <a:t>Sources: S&amp;P Capital IQ</a:t>
            </a:r>
          </a:p>
          <a:p>
            <a:r>
              <a:rPr lang="en-US" dirty="0"/>
              <a:t>Note: All figures in [x]$MM, except where indicated otherwise</a:t>
            </a:r>
            <a:endParaRPr lang="en-CA" dirty="0"/>
          </a:p>
        </p:txBody>
      </p:sp>
      <p:sp>
        <p:nvSpPr>
          <p:cNvPr id="6" name="Text Placeholder 5">
            <a:extLst>
              <a:ext uri="{FF2B5EF4-FFF2-40B4-BE49-F238E27FC236}">
                <a16:creationId xmlns:a16="http://schemas.microsoft.com/office/drawing/2014/main" id="{D337A2E9-B6A9-608E-EC83-4FA7F3CC04C0}"/>
              </a:ext>
            </a:extLst>
          </p:cNvPr>
          <p:cNvSpPr>
            <a:spLocks noGrp="1"/>
          </p:cNvSpPr>
          <p:nvPr>
            <p:ph type="body" sz="quarter" idx="15"/>
          </p:nvPr>
        </p:nvSpPr>
        <p:spPr/>
        <p:txBody>
          <a:bodyPr lIns="36000" tIns="36000" rIns="36000" bIns="36000"/>
          <a:lstStyle/>
          <a:p>
            <a:r>
              <a:rPr lang="en-US" dirty="0"/>
              <a:t>Propel's growth and profitability screen at the top of the non-prime lending peer set, supporting a valuation toward the high end of the peer multiple range.</a:t>
            </a:r>
          </a:p>
        </p:txBody>
      </p:sp>
      <p:sp>
        <p:nvSpPr>
          <p:cNvPr id="4" name="Rectangle 3">
            <a:extLst>
              <a:ext uri="{FF2B5EF4-FFF2-40B4-BE49-F238E27FC236}">
                <a16:creationId xmlns:a16="http://schemas.microsoft.com/office/drawing/2014/main" id="{BF491425-9373-AF0C-EE39-F89EE40C43F3}"/>
              </a:ext>
            </a:extLst>
          </p:cNvPr>
          <p:cNvSpPr/>
          <p:nvPr/>
        </p:nvSpPr>
        <p:spPr>
          <a:xfrm>
            <a:off x="348074" y="1074142"/>
            <a:ext cx="8447852" cy="4618044"/>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Palatino Linotype" panose="02040502050505030304" pitchFamily="18" charset="0"/>
              </a:rPr>
              <a:t>[Placeholder for Comps Chart]</a:t>
            </a:r>
          </a:p>
        </p:txBody>
      </p:sp>
    </p:spTree>
    <p:extLst>
      <p:ext uri="{BB962C8B-B14F-4D97-AF65-F5344CB8AC3E}">
        <p14:creationId xmlns:p14="http://schemas.microsoft.com/office/powerpoint/2010/main" val="2209922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74B68-3B15-4AD6-B7AC-C019CCAC1B5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DDBE004-61F1-B422-1777-E6FCC613A43E}"/>
              </a:ext>
            </a:extLst>
          </p:cNvPr>
          <p:cNvSpPr>
            <a:spLocks noGrp="1"/>
          </p:cNvSpPr>
          <p:nvPr>
            <p:ph type="title"/>
          </p:nvPr>
        </p:nvSpPr>
        <p:spPr/>
        <p:txBody>
          <a:bodyPr/>
          <a:lstStyle/>
          <a:p>
            <a:r>
              <a:rPr lang="en-CA" sz="2200" dirty="0"/>
              <a:t>Precedent Transactions</a:t>
            </a:r>
            <a:r>
              <a:rPr lang="en-CA" dirty="0"/>
              <a:t> Analysis</a:t>
            </a:r>
          </a:p>
        </p:txBody>
      </p:sp>
      <p:sp>
        <p:nvSpPr>
          <p:cNvPr id="11" name="Slide Number Placeholder 3">
            <a:extLst>
              <a:ext uri="{FF2B5EF4-FFF2-40B4-BE49-F238E27FC236}">
                <a16:creationId xmlns:a16="http://schemas.microsoft.com/office/drawing/2014/main" id="{A6DDFB8D-CA6E-3EC0-D052-240454A8E422}"/>
              </a:ext>
            </a:extLst>
          </p:cNvPr>
          <p:cNvSpPr>
            <a:spLocks noGrp="1"/>
          </p:cNvSpPr>
          <p:nvPr>
            <p:ph type="sldNum" sz="quarter" idx="12"/>
          </p:nvPr>
        </p:nvSpPr>
        <p:spPr/>
        <p:txBody>
          <a:bodyPr/>
          <a:lstStyle/>
          <a:p>
            <a:fld id="{B0BBF262-6B1A-47DC-B7A7-A92B0DCA2A1B}" type="slidenum">
              <a:rPr lang="en-CA" smtClean="0"/>
              <a:pPr/>
              <a:t>11</a:t>
            </a:fld>
            <a:endParaRPr lang="en-CA"/>
          </a:p>
        </p:txBody>
      </p:sp>
      <p:sp>
        <p:nvSpPr>
          <p:cNvPr id="2" name="Text Placeholder 1">
            <a:extLst>
              <a:ext uri="{FF2B5EF4-FFF2-40B4-BE49-F238E27FC236}">
                <a16:creationId xmlns:a16="http://schemas.microsoft.com/office/drawing/2014/main" id="{532CB2D2-E3C0-0FED-3E7F-948E3F7E33C9}"/>
              </a:ext>
            </a:extLst>
          </p:cNvPr>
          <p:cNvSpPr>
            <a:spLocks noGrp="1"/>
          </p:cNvSpPr>
          <p:nvPr>
            <p:ph type="body" sz="quarter" idx="13"/>
          </p:nvPr>
        </p:nvSpPr>
        <p:spPr/>
        <p:txBody>
          <a:bodyPr numCol="1"/>
          <a:lstStyle/>
          <a:p>
            <a:r>
              <a:rPr lang="fr-FR" dirty="0"/>
              <a:t>Sources: S&amp;P Capital IQ</a:t>
            </a:r>
          </a:p>
          <a:p>
            <a:r>
              <a:rPr lang="en-US" dirty="0"/>
              <a:t>Note: All figures in [x]$MM, except where indicated otherwise</a:t>
            </a:r>
            <a:endParaRPr lang="en-CA" dirty="0"/>
          </a:p>
        </p:txBody>
      </p:sp>
      <p:sp>
        <p:nvSpPr>
          <p:cNvPr id="6" name="Text Placeholder 5">
            <a:extLst>
              <a:ext uri="{FF2B5EF4-FFF2-40B4-BE49-F238E27FC236}">
                <a16:creationId xmlns:a16="http://schemas.microsoft.com/office/drawing/2014/main" id="{98FE1515-9D0C-B194-C042-32BC719130F5}"/>
              </a:ext>
            </a:extLst>
          </p:cNvPr>
          <p:cNvSpPr>
            <a:spLocks noGrp="1"/>
          </p:cNvSpPr>
          <p:nvPr>
            <p:ph type="body" sz="quarter" idx="15"/>
          </p:nvPr>
        </p:nvSpPr>
        <p:spPr/>
        <p:txBody>
          <a:bodyPr lIns="36000" tIns="36000" rIns="36000" bIns="36000"/>
          <a:lstStyle/>
          <a:p>
            <a:r>
              <a:rPr lang="en-US" dirty="0"/>
              <a:t>Precedent non-prime lending and Canadian specialty finance transactions evidence control premiums for scaled, profitable platforms — supportive of value above trading levels.</a:t>
            </a:r>
          </a:p>
        </p:txBody>
      </p:sp>
      <p:sp>
        <p:nvSpPr>
          <p:cNvPr id="4" name="Rectangle 3">
            <a:extLst>
              <a:ext uri="{FF2B5EF4-FFF2-40B4-BE49-F238E27FC236}">
                <a16:creationId xmlns:a16="http://schemas.microsoft.com/office/drawing/2014/main" id="{78C1EEF6-3FF8-1E0F-9E55-44B30EBF81B0}"/>
              </a:ext>
            </a:extLst>
          </p:cNvPr>
          <p:cNvSpPr/>
          <p:nvPr/>
        </p:nvSpPr>
        <p:spPr>
          <a:xfrm>
            <a:off x="348074" y="1074142"/>
            <a:ext cx="8447852" cy="4618044"/>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Palatino Linotype" panose="02040502050505030304" pitchFamily="18" charset="0"/>
              </a:rPr>
              <a:t>[Placeholder for Precedents Chart]</a:t>
            </a:r>
          </a:p>
        </p:txBody>
      </p:sp>
    </p:spTree>
    <p:extLst>
      <p:ext uri="{BB962C8B-B14F-4D97-AF65-F5344CB8AC3E}">
        <p14:creationId xmlns:p14="http://schemas.microsoft.com/office/powerpoint/2010/main" val="474708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75E22-0210-7536-0B5B-811756024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1CFA3F-7234-C715-7BAE-0F44F1648BE0}"/>
              </a:ext>
            </a:extLst>
          </p:cNvPr>
          <p:cNvSpPr>
            <a:spLocks noGrp="1"/>
          </p:cNvSpPr>
          <p:nvPr>
            <p:ph type="title"/>
          </p:nvPr>
        </p:nvSpPr>
        <p:spPr/>
        <p:txBody>
          <a:bodyPr>
            <a:normAutofit/>
          </a:bodyPr>
          <a:lstStyle/>
          <a:p>
            <a:r>
              <a:rPr lang="en-US"/>
              <a:t>Key Investment Highlights</a:t>
            </a:r>
            <a:endParaRPr lang="en-CA"/>
          </a:p>
        </p:txBody>
      </p:sp>
      <p:sp>
        <p:nvSpPr>
          <p:cNvPr id="5" name="Slide Number Placeholder 4">
            <a:extLst>
              <a:ext uri="{FF2B5EF4-FFF2-40B4-BE49-F238E27FC236}">
                <a16:creationId xmlns:a16="http://schemas.microsoft.com/office/drawing/2014/main" id="{6C45219E-9729-308D-4FE5-1598C27A5B82}"/>
              </a:ext>
            </a:extLst>
          </p:cNvPr>
          <p:cNvSpPr>
            <a:spLocks noGrp="1"/>
          </p:cNvSpPr>
          <p:nvPr>
            <p:ph type="sldNum" sz="quarter" idx="12"/>
          </p:nvPr>
        </p:nvSpPr>
        <p:spPr/>
        <p:txBody>
          <a:bodyPr/>
          <a:lstStyle/>
          <a:p>
            <a:fld id="{B0BBF262-6B1A-47DC-B7A7-A92B0DCA2A1B}" type="slidenum">
              <a:rPr lang="en-CA" smtClean="0"/>
              <a:t>12</a:t>
            </a:fld>
            <a:endParaRPr lang="en-CA"/>
          </a:p>
        </p:txBody>
      </p:sp>
      <p:sp>
        <p:nvSpPr>
          <p:cNvPr id="14" name="Text Placeholder 13">
            <a:extLst>
              <a:ext uri="{FF2B5EF4-FFF2-40B4-BE49-F238E27FC236}">
                <a16:creationId xmlns:a16="http://schemas.microsoft.com/office/drawing/2014/main" id="{C268EA0E-B4EE-E373-B01D-5A8296A5B1E8}"/>
              </a:ext>
            </a:extLst>
          </p:cNvPr>
          <p:cNvSpPr>
            <a:spLocks noGrp="1"/>
          </p:cNvSpPr>
          <p:nvPr>
            <p:ph type="body" sz="quarter" idx="13"/>
          </p:nvPr>
        </p:nvSpPr>
        <p:spPr/>
        <p:txBody>
          <a:bodyPr/>
          <a:lstStyle/>
          <a:p>
            <a:r>
              <a:rPr lang="en-US" dirty="0"/>
              <a:t>Note: All figures in C$MM unless indicated otherwise</a:t>
            </a:r>
          </a:p>
        </p:txBody>
      </p:sp>
      <p:sp>
        <p:nvSpPr>
          <p:cNvPr id="3" name="Text Placeholder 2">
            <a:extLst>
              <a:ext uri="{FF2B5EF4-FFF2-40B4-BE49-F238E27FC236}">
                <a16:creationId xmlns:a16="http://schemas.microsoft.com/office/drawing/2014/main" id="{8E570E2B-A521-20E2-0FEB-D22E4136A735}"/>
              </a:ext>
            </a:extLst>
          </p:cNvPr>
          <p:cNvSpPr>
            <a:spLocks noGrp="1"/>
          </p:cNvSpPr>
          <p:nvPr>
            <p:ph type="body" sz="quarter" idx="15"/>
          </p:nvPr>
        </p:nvSpPr>
        <p:spPr/>
        <p:txBody>
          <a:bodyPr/>
          <a:lstStyle/>
          <a:p>
            <a:r>
              <a:rPr lang="en-US" dirty="0"/>
              <a:t>A scaled, profitable and diversifying fintech compounder in underserved consumer credit</a:t>
            </a:r>
          </a:p>
        </p:txBody>
      </p:sp>
      <p:grpSp>
        <p:nvGrpSpPr>
          <p:cNvPr id="2243" name="Group 2242">
            <a:extLst>
              <a:ext uri="{FF2B5EF4-FFF2-40B4-BE49-F238E27FC236}">
                <a16:creationId xmlns:a16="http://schemas.microsoft.com/office/drawing/2014/main" id="{6C6B3A7A-3C08-4A6F-6375-07D6EDE0F566}"/>
              </a:ext>
            </a:extLst>
          </p:cNvPr>
          <p:cNvGrpSpPr/>
          <p:nvPr/>
        </p:nvGrpSpPr>
        <p:grpSpPr>
          <a:xfrm>
            <a:off x="235910" y="1049085"/>
            <a:ext cx="8588180" cy="1155939"/>
            <a:chOff x="235910" y="1049085"/>
            <a:chExt cx="8588180" cy="1155939"/>
          </a:xfrm>
        </p:grpSpPr>
        <p:grpSp>
          <p:nvGrpSpPr>
            <p:cNvPr id="11" name="Group 10">
              <a:extLst>
                <a:ext uri="{FF2B5EF4-FFF2-40B4-BE49-F238E27FC236}">
                  <a16:creationId xmlns:a16="http://schemas.microsoft.com/office/drawing/2014/main" id="{F7E87DBC-6D20-4210-B9E6-FC3CA7597909}"/>
                </a:ext>
              </a:extLst>
            </p:cNvPr>
            <p:cNvGrpSpPr/>
            <p:nvPr/>
          </p:nvGrpSpPr>
          <p:grpSpPr>
            <a:xfrm>
              <a:off x="510415" y="1049085"/>
              <a:ext cx="8313675" cy="1155939"/>
              <a:chOff x="510415" y="1045462"/>
              <a:chExt cx="8313675" cy="955964"/>
            </a:xfrm>
          </p:grpSpPr>
          <p:sp>
            <p:nvSpPr>
              <p:cNvPr id="20" name="Rectangle 19">
                <a:extLst>
                  <a:ext uri="{FF2B5EF4-FFF2-40B4-BE49-F238E27FC236}">
                    <a16:creationId xmlns:a16="http://schemas.microsoft.com/office/drawing/2014/main" id="{95A00408-F9EF-B62B-1361-74CD49EAE5F1}"/>
                  </a:ext>
                </a:extLst>
              </p:cNvPr>
              <p:cNvSpPr/>
              <p:nvPr/>
            </p:nvSpPr>
            <p:spPr>
              <a:xfrm>
                <a:off x="575294" y="1045670"/>
                <a:ext cx="8229600" cy="9555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alatino Linotype" panose="02040502050505030304" pitchFamily="18" charset="0"/>
                  <a:cs typeface="Arial" panose="020B0604020202020204" pitchFamily="34" charset="0"/>
                </a:endParaRPr>
              </a:p>
            </p:txBody>
          </p:sp>
          <p:sp>
            <p:nvSpPr>
              <p:cNvPr id="25" name="Arrow: Pentagon 24">
                <a:extLst>
                  <a:ext uri="{FF2B5EF4-FFF2-40B4-BE49-F238E27FC236}">
                    <a16:creationId xmlns:a16="http://schemas.microsoft.com/office/drawing/2014/main" id="{8D0F7FC0-295D-3E2C-EEC5-6583FA43407C}"/>
                  </a:ext>
                </a:extLst>
              </p:cNvPr>
              <p:cNvSpPr/>
              <p:nvPr/>
            </p:nvSpPr>
            <p:spPr>
              <a:xfrm>
                <a:off x="510415" y="1045462"/>
                <a:ext cx="2260213" cy="955964"/>
              </a:xfrm>
              <a:prstGeom prst="homePlate">
                <a:avLst>
                  <a:gd name="adj" fmla="val 29380"/>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288000" rIns="216000" rtlCol="0" anchor="ctr"/>
              <a:lstStyle/>
              <a:p>
                <a:pPr algn="ctr"/>
                <a:r>
                  <a:rPr lang="en-US" sz="1400" b="1" dirty="0">
                    <a:solidFill>
                      <a:schemeClr val="bg1"/>
                    </a:solidFill>
                    <a:latin typeface="Palatino Linotype" panose="02040502050505030304" pitchFamily="18" charset="0"/>
                    <a:cs typeface="Arial" panose="020B0604020202020204" pitchFamily="34" charset="0"/>
                  </a:rPr>
                  <a:t>Scaled, Profitable Growth</a:t>
                </a:r>
              </a:p>
            </p:txBody>
          </p:sp>
          <p:sp>
            <p:nvSpPr>
              <p:cNvPr id="18" name="Rectangle 17">
                <a:extLst>
                  <a:ext uri="{FF2B5EF4-FFF2-40B4-BE49-F238E27FC236}">
                    <a16:creationId xmlns:a16="http://schemas.microsoft.com/office/drawing/2014/main" id="{560BF95E-74ED-E3A7-6168-0680555F2F9F}"/>
                  </a:ext>
                </a:extLst>
              </p:cNvPr>
              <p:cNvSpPr/>
              <p:nvPr/>
            </p:nvSpPr>
            <p:spPr>
              <a:xfrm>
                <a:off x="2770762" y="1045462"/>
                <a:ext cx="6053328" cy="934980"/>
              </a:xfrm>
              <a:prstGeom prst="rect">
                <a:avLst/>
              </a:prstGeom>
            </p:spPr>
            <p:txBody>
              <a:bodyPr wrap="square" anchor="ctr">
                <a:noAutofit/>
              </a:bodyPr>
              <a:lstStyle/>
              <a:p>
                <a:pPr marL="171450" indent="-171450">
                  <a:spcBef>
                    <a:spcPts val="300"/>
                  </a:spcBef>
                  <a:spcAft>
                    <a:spcPts val="300"/>
                  </a:spcAft>
                  <a:buFont typeface="Wingdings" panose="05000000000000000000" pitchFamily="2" charset="2"/>
                  <a:buChar char="§"/>
                </a:pPr>
                <a:r>
                  <a:rPr lang="en-US" sz="1100" dirty="0">
                    <a:latin typeface="Palatino Linotype" panose="02040502050505030304" pitchFamily="18" charset="0"/>
                    <a:cs typeface="Arial" panose="020B0604020202020204" pitchFamily="34" charset="0"/>
                  </a:rPr>
                  <a:t>Revenue grew from US$129.6MM (FY2021) to US$589.8MM (FY2025), a ~46% CAGR, with FY2025 net income of US$59.5MM</a:t>
                </a:r>
              </a:p>
              <a:p>
                <a:pPr marL="171450" indent="-171450">
                  <a:spcBef>
                    <a:spcPts val="300"/>
                  </a:spcBef>
                  <a:spcAft>
                    <a:spcPts val="300"/>
                  </a:spcAft>
                  <a:buFont typeface="Wingdings" panose="05000000000000000000" pitchFamily="2" charset="2"/>
                  <a:buChar char="§"/>
                </a:pPr>
                <a:r>
                  <a:rPr lang="en-US" sz="1100" dirty="0">
                    <a:latin typeface="Palatino Linotype" panose="02040502050505030304" pitchFamily="18" charset="0"/>
                    <a:cs typeface="Arial" panose="020B0604020202020204" pitchFamily="34" charset="0"/>
                  </a:rPr>
                  <a:t>Record Q1 2026 revenue of US$166.1MM and Adjusted EBITDA of US$42.0MM</a:t>
                </a:r>
              </a:p>
            </p:txBody>
          </p:sp>
        </p:grpSp>
        <p:sp>
          <p:nvSpPr>
            <p:cNvPr id="43" name="Oval 42">
              <a:extLst>
                <a:ext uri="{FF2B5EF4-FFF2-40B4-BE49-F238E27FC236}">
                  <a16:creationId xmlns:a16="http://schemas.microsoft.com/office/drawing/2014/main" id="{A5BDFC9B-5F2B-42BA-043F-8C2197497F34}"/>
                </a:ext>
              </a:extLst>
            </p:cNvPr>
            <p:cNvSpPr/>
            <p:nvPr/>
          </p:nvSpPr>
          <p:spPr>
            <a:xfrm>
              <a:off x="235910" y="1352548"/>
              <a:ext cx="549012" cy="549012"/>
            </a:xfrm>
            <a:prstGeom prst="ellips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2000" b="1">
                  <a:solidFill>
                    <a:schemeClr val="tx1"/>
                  </a:solidFill>
                  <a:latin typeface="Palatino Linotype" panose="02040502050505030304" pitchFamily="18" charset="0"/>
                  <a:cs typeface="Arial" panose="020B0604020202020204" pitchFamily="34" charset="0"/>
                </a:rPr>
                <a:t>1</a:t>
              </a:r>
            </a:p>
          </p:txBody>
        </p:sp>
      </p:grpSp>
      <p:grpSp>
        <p:nvGrpSpPr>
          <p:cNvPr id="2246" name="Group 2245">
            <a:extLst>
              <a:ext uri="{FF2B5EF4-FFF2-40B4-BE49-F238E27FC236}">
                <a16:creationId xmlns:a16="http://schemas.microsoft.com/office/drawing/2014/main" id="{EC258830-0970-35D4-16E6-59F114AE6C76}"/>
              </a:ext>
            </a:extLst>
          </p:cNvPr>
          <p:cNvGrpSpPr/>
          <p:nvPr/>
        </p:nvGrpSpPr>
        <p:grpSpPr>
          <a:xfrm>
            <a:off x="235910" y="4632373"/>
            <a:ext cx="8588180" cy="1155939"/>
            <a:chOff x="235910" y="4632373"/>
            <a:chExt cx="8588180" cy="1155939"/>
          </a:xfrm>
        </p:grpSpPr>
        <p:grpSp>
          <p:nvGrpSpPr>
            <p:cNvPr id="53" name="Group 52">
              <a:extLst>
                <a:ext uri="{FF2B5EF4-FFF2-40B4-BE49-F238E27FC236}">
                  <a16:creationId xmlns:a16="http://schemas.microsoft.com/office/drawing/2014/main" id="{537826DA-D22A-1FD1-B444-43AD503B14AB}"/>
                </a:ext>
              </a:extLst>
            </p:cNvPr>
            <p:cNvGrpSpPr/>
            <p:nvPr/>
          </p:nvGrpSpPr>
          <p:grpSpPr>
            <a:xfrm>
              <a:off x="510415" y="4632373"/>
              <a:ext cx="8313675" cy="1155939"/>
              <a:chOff x="510415" y="1045462"/>
              <a:chExt cx="8313675" cy="955964"/>
            </a:xfrm>
          </p:grpSpPr>
          <p:sp>
            <p:nvSpPr>
              <p:cNvPr id="56" name="Rectangle 55">
                <a:extLst>
                  <a:ext uri="{FF2B5EF4-FFF2-40B4-BE49-F238E27FC236}">
                    <a16:creationId xmlns:a16="http://schemas.microsoft.com/office/drawing/2014/main" id="{AA5FC770-3994-7C60-93A2-E19E0C90CBC6}"/>
                  </a:ext>
                </a:extLst>
              </p:cNvPr>
              <p:cNvSpPr/>
              <p:nvPr/>
            </p:nvSpPr>
            <p:spPr>
              <a:xfrm>
                <a:off x="575294" y="1045670"/>
                <a:ext cx="8229600" cy="9555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alatino Linotype" panose="02040502050505030304" pitchFamily="18" charset="0"/>
                  <a:cs typeface="Arial" panose="020B0604020202020204" pitchFamily="34" charset="0"/>
                </a:endParaRPr>
              </a:p>
            </p:txBody>
          </p:sp>
          <p:sp>
            <p:nvSpPr>
              <p:cNvPr id="57" name="Arrow: Pentagon 56">
                <a:extLst>
                  <a:ext uri="{FF2B5EF4-FFF2-40B4-BE49-F238E27FC236}">
                    <a16:creationId xmlns:a16="http://schemas.microsoft.com/office/drawing/2014/main" id="{F77FA99E-D651-D394-9816-7782F9EC7E72}"/>
                  </a:ext>
                </a:extLst>
              </p:cNvPr>
              <p:cNvSpPr/>
              <p:nvPr/>
            </p:nvSpPr>
            <p:spPr>
              <a:xfrm>
                <a:off x="510415" y="1045462"/>
                <a:ext cx="2260213" cy="955964"/>
              </a:xfrm>
              <a:prstGeom prst="homePlate">
                <a:avLst>
                  <a:gd name="adj" fmla="val 28556"/>
                </a:avLst>
              </a:prstGeom>
              <a:solidFill>
                <a:schemeClr val="accent5"/>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288000" rIns="216000" rtlCol="0" anchor="ctr"/>
              <a:lstStyle/>
              <a:p>
                <a:pPr algn="ctr"/>
                <a:r>
                  <a:rPr lang="en-US" sz="1400" b="1" dirty="0">
                    <a:solidFill>
                      <a:schemeClr val="bg1"/>
                    </a:solidFill>
                    <a:latin typeface="Palatino Linotype" panose="02040502050505030304" pitchFamily="18" charset="0"/>
                    <a:cs typeface="Arial" panose="020B0604020202020204" pitchFamily="34" charset="0"/>
                  </a:rPr>
                  <a:t>Large, Underserved Market</a:t>
                </a:r>
              </a:p>
            </p:txBody>
          </p:sp>
          <p:sp>
            <p:nvSpPr>
              <p:cNvPr id="2240" name="Rectangle 2239">
                <a:extLst>
                  <a:ext uri="{FF2B5EF4-FFF2-40B4-BE49-F238E27FC236}">
                    <a16:creationId xmlns:a16="http://schemas.microsoft.com/office/drawing/2014/main" id="{77345182-53F9-59E0-DC80-DC71CCDB9033}"/>
                  </a:ext>
                </a:extLst>
              </p:cNvPr>
              <p:cNvSpPr/>
              <p:nvPr/>
            </p:nvSpPr>
            <p:spPr>
              <a:xfrm>
                <a:off x="2770762" y="1052940"/>
                <a:ext cx="6053328" cy="934980"/>
              </a:xfrm>
              <a:prstGeom prst="rect">
                <a:avLst/>
              </a:prstGeom>
            </p:spPr>
            <p:txBody>
              <a:bodyPr wrap="square" anchor="ctr">
                <a:noAutofit/>
              </a:bodyPr>
              <a:lstStyle/>
              <a:p>
                <a:pPr marL="171450" indent="-171450">
                  <a:spcBef>
                    <a:spcPts val="300"/>
                  </a:spcBef>
                  <a:spcAft>
                    <a:spcPts val="300"/>
                  </a:spcAft>
                  <a:buFont typeface="Wingdings" panose="05000000000000000000" pitchFamily="2" charset="2"/>
                  <a:buChar char="§"/>
                </a:pPr>
                <a:r>
                  <a:rPr lang="en-US" sz="1100" dirty="0">
                    <a:latin typeface="Palatino Linotype" panose="02040502050505030304" pitchFamily="18" charset="0"/>
                    <a:cs typeface="Arial" panose="020B0604020202020204" pitchFamily="34" charset="0"/>
                  </a:rPr>
                  <a:t>Millions of non-prime consumers underserved by traditional banks across three operating countries</a:t>
                </a:r>
              </a:p>
              <a:p>
                <a:pPr marL="171450" indent="-171450">
                  <a:spcBef>
                    <a:spcPts val="300"/>
                  </a:spcBef>
                  <a:spcAft>
                    <a:spcPts val="300"/>
                  </a:spcAft>
                  <a:buFont typeface="Wingdings" panose="05000000000000000000" pitchFamily="2" charset="2"/>
                  <a:buChar char="§"/>
                </a:pPr>
                <a:r>
                  <a:rPr lang="en-US" sz="1100" dirty="0">
                    <a:latin typeface="Palatino Linotype" panose="02040502050505030304" pitchFamily="18" charset="0"/>
                    <a:cs typeface="Arial" panose="020B0604020202020204" pitchFamily="34" charset="0"/>
                  </a:rPr>
                  <a:t>QuidMarket provides a foothold in the UK's ~20MM-consumer underserved market and a template for further expansion</a:t>
                </a:r>
              </a:p>
            </p:txBody>
          </p:sp>
        </p:grpSp>
        <p:sp>
          <p:nvSpPr>
            <p:cNvPr id="61" name="Oval 60">
              <a:extLst>
                <a:ext uri="{FF2B5EF4-FFF2-40B4-BE49-F238E27FC236}">
                  <a16:creationId xmlns:a16="http://schemas.microsoft.com/office/drawing/2014/main" id="{04859513-945D-682F-CBB8-D03A84FBE2A4}"/>
                </a:ext>
              </a:extLst>
            </p:cNvPr>
            <p:cNvSpPr/>
            <p:nvPr/>
          </p:nvSpPr>
          <p:spPr>
            <a:xfrm>
              <a:off x="235910" y="4935836"/>
              <a:ext cx="549012" cy="549012"/>
            </a:xfrm>
            <a:prstGeom prst="ellipse">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2000" b="1">
                  <a:solidFill>
                    <a:schemeClr val="tx1"/>
                  </a:solidFill>
                  <a:latin typeface="Palatino Linotype" panose="02040502050505030304" pitchFamily="18" charset="0"/>
                  <a:cs typeface="Arial" panose="020B0604020202020204" pitchFamily="34" charset="0"/>
                </a:rPr>
                <a:t>4</a:t>
              </a:r>
            </a:p>
          </p:txBody>
        </p:sp>
      </p:grpSp>
      <p:grpSp>
        <p:nvGrpSpPr>
          <p:cNvPr id="2245" name="Group 2244">
            <a:extLst>
              <a:ext uri="{FF2B5EF4-FFF2-40B4-BE49-F238E27FC236}">
                <a16:creationId xmlns:a16="http://schemas.microsoft.com/office/drawing/2014/main" id="{2C560181-05C8-1A06-F9E2-C7C347320323}"/>
              </a:ext>
            </a:extLst>
          </p:cNvPr>
          <p:cNvGrpSpPr/>
          <p:nvPr/>
        </p:nvGrpSpPr>
        <p:grpSpPr>
          <a:xfrm>
            <a:off x="235910" y="3437943"/>
            <a:ext cx="8588180" cy="1155939"/>
            <a:chOff x="235910" y="3437943"/>
            <a:chExt cx="8588180" cy="1155939"/>
          </a:xfrm>
        </p:grpSpPr>
        <p:grpSp>
          <p:nvGrpSpPr>
            <p:cNvPr id="48" name="Group 47">
              <a:extLst>
                <a:ext uri="{FF2B5EF4-FFF2-40B4-BE49-F238E27FC236}">
                  <a16:creationId xmlns:a16="http://schemas.microsoft.com/office/drawing/2014/main" id="{70A286B5-4310-5EDB-AE06-EC035D37FABF}"/>
                </a:ext>
              </a:extLst>
            </p:cNvPr>
            <p:cNvGrpSpPr/>
            <p:nvPr/>
          </p:nvGrpSpPr>
          <p:grpSpPr>
            <a:xfrm>
              <a:off x="510415" y="3437943"/>
              <a:ext cx="8313675" cy="1155939"/>
              <a:chOff x="510415" y="1045462"/>
              <a:chExt cx="8313675" cy="955964"/>
            </a:xfrm>
          </p:grpSpPr>
          <p:sp>
            <p:nvSpPr>
              <p:cNvPr id="49" name="Rectangle 48">
                <a:extLst>
                  <a:ext uri="{FF2B5EF4-FFF2-40B4-BE49-F238E27FC236}">
                    <a16:creationId xmlns:a16="http://schemas.microsoft.com/office/drawing/2014/main" id="{6A7B9090-538D-6637-108F-4C027FD91686}"/>
                  </a:ext>
                </a:extLst>
              </p:cNvPr>
              <p:cNvSpPr/>
              <p:nvPr/>
            </p:nvSpPr>
            <p:spPr>
              <a:xfrm>
                <a:off x="575294" y="1045670"/>
                <a:ext cx="8229600" cy="9555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alatino Linotype" panose="02040502050505030304" pitchFamily="18" charset="0"/>
                  <a:cs typeface="Arial" panose="020B0604020202020204" pitchFamily="34" charset="0"/>
                </a:endParaRPr>
              </a:p>
            </p:txBody>
          </p:sp>
          <p:sp>
            <p:nvSpPr>
              <p:cNvPr id="50" name="Arrow: Pentagon 49">
                <a:extLst>
                  <a:ext uri="{FF2B5EF4-FFF2-40B4-BE49-F238E27FC236}">
                    <a16:creationId xmlns:a16="http://schemas.microsoft.com/office/drawing/2014/main" id="{DA9E7EB5-2D37-AC69-4261-81B5A24DE58A}"/>
                  </a:ext>
                </a:extLst>
              </p:cNvPr>
              <p:cNvSpPr/>
              <p:nvPr/>
            </p:nvSpPr>
            <p:spPr>
              <a:xfrm>
                <a:off x="510415" y="1045462"/>
                <a:ext cx="2260213" cy="955964"/>
              </a:xfrm>
              <a:prstGeom prst="homePlate">
                <a:avLst>
                  <a:gd name="adj" fmla="val 28556"/>
                </a:avLst>
              </a:prstGeom>
              <a:solidFill>
                <a:schemeClr val="accent3"/>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288000" rIns="216000" rtlCol="0" anchor="ctr"/>
              <a:lstStyle/>
              <a:p>
                <a:pPr algn="ctr"/>
                <a:r>
                  <a:rPr lang="en-US" sz="1400" b="1" dirty="0">
                    <a:solidFill>
                      <a:schemeClr val="bg1"/>
                    </a:solidFill>
                    <a:latin typeface="Palatino Linotype" panose="02040502050505030304" pitchFamily="18" charset="0"/>
                    <a:cs typeface="Arial" panose="020B0604020202020204" pitchFamily="34" charset="0"/>
                  </a:rPr>
                  <a:t>Diversified, Capital-Light Platform</a:t>
                </a:r>
              </a:p>
            </p:txBody>
          </p:sp>
          <p:sp>
            <p:nvSpPr>
              <p:cNvPr id="52" name="Rectangle 51">
                <a:extLst>
                  <a:ext uri="{FF2B5EF4-FFF2-40B4-BE49-F238E27FC236}">
                    <a16:creationId xmlns:a16="http://schemas.microsoft.com/office/drawing/2014/main" id="{95101C11-8CD3-53BF-BDC7-C81866CC4352}"/>
                  </a:ext>
                </a:extLst>
              </p:cNvPr>
              <p:cNvSpPr/>
              <p:nvPr/>
            </p:nvSpPr>
            <p:spPr>
              <a:xfrm>
                <a:off x="2770762" y="1052942"/>
                <a:ext cx="6053328" cy="934980"/>
              </a:xfrm>
              <a:prstGeom prst="rect">
                <a:avLst/>
              </a:prstGeom>
            </p:spPr>
            <p:txBody>
              <a:bodyPr wrap="square" anchor="ctr">
                <a:noAutofit/>
              </a:bodyPr>
              <a:lstStyle/>
              <a:p>
                <a:pPr marL="171450" indent="-171450">
                  <a:spcBef>
                    <a:spcPts val="300"/>
                  </a:spcBef>
                  <a:spcAft>
                    <a:spcPts val="300"/>
                  </a:spcAft>
                  <a:buFont typeface="Wingdings" panose="05000000000000000000" pitchFamily="2" charset="2"/>
                  <a:buChar char="§"/>
                </a:pPr>
                <a:r>
                  <a:rPr lang="en-US" sz="1100" dirty="0">
                    <a:latin typeface="Palatino Linotype" panose="02040502050505030304" pitchFamily="18" charset="0"/>
                    <a:cs typeface="Arial" panose="020B0604020202020204" pitchFamily="34" charset="0"/>
                  </a:rPr>
                  <a:t>Four consumer brands across the US, Canada and UK plus fee-based LaaS with US$210MM of committed forward-flow capital</a:t>
                </a:r>
              </a:p>
              <a:p>
                <a:pPr marL="171450" indent="-171450">
                  <a:spcBef>
                    <a:spcPts val="300"/>
                  </a:spcBef>
                  <a:spcAft>
                    <a:spcPts val="300"/>
                  </a:spcAft>
                  <a:buFont typeface="Wingdings" panose="05000000000000000000" pitchFamily="2" charset="2"/>
                  <a:buChar char="§"/>
                </a:pPr>
                <a:r>
                  <a:rPr lang="en-US" sz="1100" dirty="0">
                    <a:latin typeface="Palatino Linotype" panose="02040502050505030304" pitchFamily="18" charset="0"/>
                    <a:cs typeface="Arial" panose="020B0604020202020204" pitchFamily="34" charset="0"/>
                  </a:rPr>
                  <a:t>Propel Bank (December 2025) adds regulated infrastructure for new products and geographies</a:t>
                </a:r>
              </a:p>
            </p:txBody>
          </p:sp>
        </p:grpSp>
        <p:sp>
          <p:nvSpPr>
            <p:cNvPr id="2290" name="Oval 2289">
              <a:extLst>
                <a:ext uri="{FF2B5EF4-FFF2-40B4-BE49-F238E27FC236}">
                  <a16:creationId xmlns:a16="http://schemas.microsoft.com/office/drawing/2014/main" id="{E88DEFC3-A1FE-152C-BA64-27D885B5CE67}"/>
                </a:ext>
              </a:extLst>
            </p:cNvPr>
            <p:cNvSpPr/>
            <p:nvPr/>
          </p:nvSpPr>
          <p:spPr>
            <a:xfrm>
              <a:off x="235910" y="3741406"/>
              <a:ext cx="549012" cy="549012"/>
            </a:xfrm>
            <a:prstGeom prst="ellips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2000" b="1">
                  <a:solidFill>
                    <a:schemeClr val="tx1"/>
                  </a:solidFill>
                  <a:latin typeface="Palatino Linotype" panose="02040502050505030304" pitchFamily="18" charset="0"/>
                  <a:cs typeface="Arial" panose="020B0604020202020204" pitchFamily="34" charset="0"/>
                </a:rPr>
                <a:t>3</a:t>
              </a:r>
            </a:p>
          </p:txBody>
        </p:sp>
      </p:grpSp>
      <p:grpSp>
        <p:nvGrpSpPr>
          <p:cNvPr id="2244" name="Group 2243">
            <a:extLst>
              <a:ext uri="{FF2B5EF4-FFF2-40B4-BE49-F238E27FC236}">
                <a16:creationId xmlns:a16="http://schemas.microsoft.com/office/drawing/2014/main" id="{72763FA1-C61E-F3FA-73F7-6B94CBCDFC7D}"/>
              </a:ext>
            </a:extLst>
          </p:cNvPr>
          <p:cNvGrpSpPr/>
          <p:nvPr/>
        </p:nvGrpSpPr>
        <p:grpSpPr>
          <a:xfrm>
            <a:off x="235910" y="2243514"/>
            <a:ext cx="8588180" cy="1155939"/>
            <a:chOff x="235910" y="2243514"/>
            <a:chExt cx="8588180" cy="1155939"/>
          </a:xfrm>
        </p:grpSpPr>
        <p:grpSp>
          <p:nvGrpSpPr>
            <p:cNvPr id="34" name="Group 33">
              <a:extLst>
                <a:ext uri="{FF2B5EF4-FFF2-40B4-BE49-F238E27FC236}">
                  <a16:creationId xmlns:a16="http://schemas.microsoft.com/office/drawing/2014/main" id="{478AF046-445A-B59F-4E72-C48D8D071E00}"/>
                </a:ext>
              </a:extLst>
            </p:cNvPr>
            <p:cNvGrpSpPr/>
            <p:nvPr/>
          </p:nvGrpSpPr>
          <p:grpSpPr>
            <a:xfrm>
              <a:off x="510415" y="2243514"/>
              <a:ext cx="8313675" cy="1155939"/>
              <a:chOff x="510415" y="1045462"/>
              <a:chExt cx="8313675" cy="955964"/>
            </a:xfrm>
          </p:grpSpPr>
          <p:sp>
            <p:nvSpPr>
              <p:cNvPr id="35" name="Rectangle 34">
                <a:extLst>
                  <a:ext uri="{FF2B5EF4-FFF2-40B4-BE49-F238E27FC236}">
                    <a16:creationId xmlns:a16="http://schemas.microsoft.com/office/drawing/2014/main" id="{01011192-395F-91FA-6693-E5BC3B277B7E}"/>
                  </a:ext>
                </a:extLst>
              </p:cNvPr>
              <p:cNvSpPr/>
              <p:nvPr/>
            </p:nvSpPr>
            <p:spPr>
              <a:xfrm>
                <a:off x="575294" y="1045670"/>
                <a:ext cx="8229600" cy="9555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alatino Linotype" panose="02040502050505030304" pitchFamily="18" charset="0"/>
                  <a:cs typeface="Arial" panose="020B0604020202020204" pitchFamily="34" charset="0"/>
                </a:endParaRPr>
              </a:p>
            </p:txBody>
          </p:sp>
          <p:sp>
            <p:nvSpPr>
              <p:cNvPr id="36" name="Arrow: Pentagon 35">
                <a:extLst>
                  <a:ext uri="{FF2B5EF4-FFF2-40B4-BE49-F238E27FC236}">
                    <a16:creationId xmlns:a16="http://schemas.microsoft.com/office/drawing/2014/main" id="{18D8D718-3AC8-6B61-A6C8-BDD537B588CD}"/>
                  </a:ext>
                </a:extLst>
              </p:cNvPr>
              <p:cNvSpPr/>
              <p:nvPr/>
            </p:nvSpPr>
            <p:spPr>
              <a:xfrm>
                <a:off x="510415" y="1045462"/>
                <a:ext cx="2260213" cy="955964"/>
              </a:xfrm>
              <a:prstGeom prst="homePlate">
                <a:avLst>
                  <a:gd name="adj" fmla="val 29380"/>
                </a:avLst>
              </a:prstGeom>
              <a:solidFill>
                <a:schemeClr val="accent2"/>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288000" rIns="216000" rtlCol="0" anchor="ctr"/>
              <a:lstStyle/>
              <a:p>
                <a:pPr algn="ctr"/>
                <a:r>
                  <a:rPr lang="en-US" sz="1400" b="1" dirty="0">
                    <a:solidFill>
                      <a:schemeClr val="bg1"/>
                    </a:solidFill>
                    <a:latin typeface="Palatino Linotype" panose="02040502050505030304" pitchFamily="18" charset="0"/>
                    <a:cs typeface="Arial" panose="020B0604020202020204" pitchFamily="34" charset="0"/>
                  </a:rPr>
                  <a:t>AI-Powered Underwriting Moat</a:t>
                </a:r>
              </a:p>
            </p:txBody>
          </p:sp>
          <p:sp>
            <p:nvSpPr>
              <p:cNvPr id="44" name="Rectangle 43">
                <a:extLst>
                  <a:ext uri="{FF2B5EF4-FFF2-40B4-BE49-F238E27FC236}">
                    <a16:creationId xmlns:a16="http://schemas.microsoft.com/office/drawing/2014/main" id="{A1B40AEA-3012-F2E5-FC92-41A5A7E9191F}"/>
                  </a:ext>
                </a:extLst>
              </p:cNvPr>
              <p:cNvSpPr/>
              <p:nvPr/>
            </p:nvSpPr>
            <p:spPr>
              <a:xfrm>
                <a:off x="2770762" y="1052943"/>
                <a:ext cx="6053328" cy="934980"/>
              </a:xfrm>
              <a:prstGeom prst="rect">
                <a:avLst/>
              </a:prstGeom>
            </p:spPr>
            <p:txBody>
              <a:bodyPr wrap="square" anchor="ctr">
                <a:noAutofit/>
              </a:bodyPr>
              <a:lstStyle/>
              <a:p>
                <a:pPr marL="171450" indent="-171450">
                  <a:spcBef>
                    <a:spcPts val="300"/>
                  </a:spcBef>
                  <a:spcAft>
                    <a:spcPts val="300"/>
                  </a:spcAft>
                  <a:buFont typeface="Wingdings" panose="05000000000000000000" pitchFamily="2" charset="2"/>
                  <a:buChar char="§"/>
                </a:pPr>
                <a:r>
                  <a:rPr lang="en-US" sz="1100" dirty="0">
                    <a:latin typeface="Palatino Linotype" panose="02040502050505030304" pitchFamily="18" charset="0"/>
                    <a:cs typeface="Arial" panose="020B0604020202020204" pitchFamily="34" charset="0"/>
                  </a:rPr>
                  <a:t>Proprietary AI/ML decisioning evaluates thousands of attributes beyond traditional credit scores</a:t>
                </a:r>
              </a:p>
              <a:p>
                <a:pPr marL="171450" indent="-171450">
                  <a:spcBef>
                    <a:spcPts val="300"/>
                  </a:spcBef>
                  <a:spcAft>
                    <a:spcPts val="300"/>
                  </a:spcAft>
                  <a:buFont typeface="Wingdings" panose="05000000000000000000" pitchFamily="2" charset="2"/>
                  <a:buChar char="§"/>
                </a:pPr>
                <a:r>
                  <a:rPr lang="en-US" sz="1100" dirty="0">
                    <a:latin typeface="Palatino Linotype" panose="02040502050505030304" pitchFamily="18" charset="0"/>
                    <a:cs typeface="Arial" panose="020B0604020202020204" pitchFamily="34" charset="0"/>
                  </a:rPr>
                  <a:t>Automation across acquisition, underwriting, servicing and collections drives operating leverage</a:t>
                </a:r>
              </a:p>
            </p:txBody>
          </p:sp>
        </p:grpSp>
        <p:sp>
          <p:nvSpPr>
            <p:cNvPr id="55" name="Oval 54">
              <a:extLst>
                <a:ext uri="{FF2B5EF4-FFF2-40B4-BE49-F238E27FC236}">
                  <a16:creationId xmlns:a16="http://schemas.microsoft.com/office/drawing/2014/main" id="{E5E02658-EAF7-4DAF-78A6-42A3051D7A04}"/>
                </a:ext>
              </a:extLst>
            </p:cNvPr>
            <p:cNvSpPr/>
            <p:nvPr/>
          </p:nvSpPr>
          <p:spPr>
            <a:xfrm>
              <a:off x="235910" y="2546977"/>
              <a:ext cx="549012" cy="549012"/>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2000" b="1">
                  <a:solidFill>
                    <a:schemeClr val="tx1"/>
                  </a:solidFill>
                  <a:latin typeface="Palatino Linotype" panose="02040502050505030304" pitchFamily="18" charset="0"/>
                  <a:cs typeface="Arial" panose="020B0604020202020204" pitchFamily="34" charset="0"/>
                </a:rPr>
                <a:t>2</a:t>
              </a:r>
            </a:p>
          </p:txBody>
        </p:sp>
      </p:grpSp>
    </p:spTree>
    <p:extLst>
      <p:ext uri="{BB962C8B-B14F-4D97-AF65-F5344CB8AC3E}">
        <p14:creationId xmlns:p14="http://schemas.microsoft.com/office/powerpoint/2010/main" val="159724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0F75E-E01E-A520-7648-BE2123D03351}"/>
            </a:ext>
          </a:extLst>
        </p:cNvPr>
        <p:cNvGrpSpPr/>
        <p:nvPr/>
      </p:nvGrpSpPr>
      <p:grpSpPr>
        <a:xfrm>
          <a:off x="0" y="0"/>
          <a:ext cx="0" cy="0"/>
          <a:chOff x="0" y="0"/>
          <a:chExt cx="0" cy="0"/>
        </a:xfrm>
      </p:grpSpPr>
      <p:graphicFrame>
        <p:nvGraphicFramePr>
          <p:cNvPr id="1216" name="Table 1215">
            <a:extLst>
              <a:ext uri="{FF2B5EF4-FFF2-40B4-BE49-F238E27FC236}">
                <a16:creationId xmlns:a16="http://schemas.microsoft.com/office/drawing/2014/main" id="{F27B3196-583A-F888-B016-C3D764D21276}"/>
              </a:ext>
            </a:extLst>
          </p:cNvPr>
          <p:cNvGraphicFramePr>
            <a:graphicFrameLocks noGrp="1"/>
          </p:cNvGraphicFramePr>
          <p:nvPr>
            <p:extLst>
              <p:ext uri="{D42A27DB-BD31-4B8C-83A1-F6EECF244321}">
                <p14:modId xmlns:p14="http://schemas.microsoft.com/office/powerpoint/2010/main" val="1637623852"/>
              </p:ext>
            </p:extLst>
          </p:nvPr>
        </p:nvGraphicFramePr>
        <p:xfrm>
          <a:off x="326782" y="1097280"/>
          <a:ext cx="8496934" cy="5221224"/>
        </p:xfrm>
        <a:graphic>
          <a:graphicData uri="http://schemas.openxmlformats.org/drawingml/2006/table">
            <a:tbl>
              <a:tblPr firstRow="1" bandRow="1">
                <a:tableStyleId>{5C22544A-7EE6-4342-B048-85BDC9FD1C3A}</a:tableStyleId>
              </a:tblPr>
              <a:tblGrid>
                <a:gridCol w="1515334">
                  <a:extLst>
                    <a:ext uri="{9D8B030D-6E8A-4147-A177-3AD203B41FA5}">
                      <a16:colId xmlns:a16="http://schemas.microsoft.com/office/drawing/2014/main" val="2612546772"/>
                    </a:ext>
                  </a:extLst>
                </a:gridCol>
                <a:gridCol w="3490800">
                  <a:extLst>
                    <a:ext uri="{9D8B030D-6E8A-4147-A177-3AD203B41FA5}">
                      <a16:colId xmlns:a16="http://schemas.microsoft.com/office/drawing/2014/main" val="1050933617"/>
                    </a:ext>
                  </a:extLst>
                </a:gridCol>
                <a:gridCol w="3490800">
                  <a:extLst>
                    <a:ext uri="{9D8B030D-6E8A-4147-A177-3AD203B41FA5}">
                      <a16:colId xmlns:a16="http://schemas.microsoft.com/office/drawing/2014/main" val="593983270"/>
                    </a:ext>
                  </a:extLst>
                </a:gridCol>
              </a:tblGrid>
              <a:tr h="259080">
                <a:tc>
                  <a:txBody>
                    <a:bodyPr/>
                    <a:lstStyle/>
                    <a:p>
                      <a:endParaRPr lang="en-US" sz="1100">
                        <a:latin typeface="Palatino Linotype" panose="0204050205050503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endParaRPr lang="en-US" sz="1000" dirty="0">
                        <a:latin typeface="Palatino Linotype" panose="02040502050505030304" pitchFamily="18" charset="0"/>
                      </a:endParaRPr>
                    </a:p>
                  </a:txBody>
                  <a:tcP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100">
                        <a:latin typeface="Palatino Linotype" panose="02040502050505030304" pitchFamily="18" charset="0"/>
                      </a:endParaRPr>
                    </a:p>
                  </a:txBody>
                  <a:tcPr>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21403807"/>
                  </a:ext>
                </a:extLst>
              </a:tr>
              <a:tr h="841548">
                <a:tc>
                  <a:txBody>
                    <a:bodyPr/>
                    <a:lstStyle/>
                    <a:p>
                      <a:pPr algn="ctr"/>
                      <a:r>
                        <a:rPr sz="1100">
                          <a:solidFill>
                            <a:srgbClr val="FFFFFF"/>
                          </a:solidFill>
                          <a:latin typeface="Palatino Linotype"/>
                        </a:rPr>
                        <a:t>Overview</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171450" indent="-171450" algn="l">
                        <a:buFont typeface="Wingdings" panose="05000000000000000000" pitchFamily="2" charset="2"/>
                        <a:buChar char="§"/>
                      </a:pPr>
                      <a:r>
                        <a:rPr sz="900">
                          <a:latin typeface="Palatino Linotype"/>
                        </a:rPr>
                        <a:t>Leading Mexican online consumer lender and BNPL platform</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
                      </a:pPr>
                      <a:r>
                        <a:rPr sz="900">
                          <a:latin typeface="Palatino Linotype"/>
                        </a:rPr>
                        <a:t>Mexican digital credit card and deposits platform for the underbanked</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8588912"/>
                  </a:ext>
                </a:extLst>
              </a:tr>
              <a:tr h="259080">
                <a:tc>
                  <a:txBody>
                    <a:bodyPr/>
                    <a:lstStyle/>
                    <a:p>
                      <a:pPr algn="ctr"/>
                      <a:r>
                        <a:rPr sz="1100">
                          <a:solidFill>
                            <a:srgbClr val="FFFFFF"/>
                          </a:solidFill>
                          <a:latin typeface="Palatino Linotype"/>
                        </a:rPr>
                        <a:t>Headquarters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sz="900">
                          <a:latin typeface="Palatino Linotype"/>
                        </a:rPr>
                        <a:t>Guadalajara, Mexico</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Mexico City, Mexico</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2239830"/>
                  </a:ext>
                </a:extLst>
              </a:tr>
              <a:tr h="259080">
                <a:tc>
                  <a:txBody>
                    <a:bodyPr/>
                    <a:lstStyle/>
                    <a:p>
                      <a:pPr algn="ctr"/>
                      <a:r>
                        <a:rPr sz="1100">
                          <a:solidFill>
                            <a:srgbClr val="FFFFFF"/>
                          </a:solidFill>
                          <a:latin typeface="Palatino Linotype"/>
                        </a:rPr>
                        <a:t>Year Founded</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sz="900">
                          <a:latin typeface="Palatino Linotype"/>
                        </a:rPr>
                        <a:t>2012</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2018</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4930638"/>
                  </a:ext>
                </a:extLst>
              </a:tr>
              <a:tr h="390719">
                <a:tc>
                  <a:txBody>
                    <a:bodyPr/>
                    <a:lstStyle/>
                    <a:p>
                      <a:pPr algn="ctr"/>
                      <a:r>
                        <a:rPr sz="1100">
                          <a:solidFill>
                            <a:srgbClr val="FFFFFF"/>
                          </a:solidFill>
                          <a:latin typeface="Palatino Linotype"/>
                        </a:rPr>
                        <a:t>Products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sz="900">
                          <a:latin typeface="Palatino Linotype"/>
                        </a:rPr>
                        <a:t>BNPL (Kueski Pay); personal loans (Kueski Cash)</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Credit cards; deposits (SOFIPO licence)</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075465"/>
                  </a:ext>
                </a:extLst>
              </a:tr>
              <a:tr h="390719">
                <a:tc>
                  <a:txBody>
                    <a:bodyPr/>
                    <a:lstStyle/>
                    <a:p>
                      <a:pPr algn="ctr"/>
                      <a:r>
                        <a:rPr sz="1100">
                          <a:solidFill>
                            <a:srgbClr val="FFFFFF"/>
                          </a:solidFill>
                          <a:latin typeface="Palatino Linotype"/>
                        </a:rPr>
                        <a:t>Geography</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171450" indent="-171450" algn="l">
                        <a:buFont typeface="Wingdings" panose="05000000000000000000" pitchFamily="2" charset="2"/>
                        <a:buChar char="§"/>
                      </a:pPr>
                      <a:r>
                        <a:rPr sz="900">
                          <a:latin typeface="Palatino Linotype"/>
                        </a:rPr>
                        <a:t>Mexico</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
                      </a:pPr>
                      <a:r>
                        <a:rPr sz="900">
                          <a:latin typeface="Palatino Linotype"/>
                        </a:rPr>
                        <a:t>Mexico</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0866258"/>
                  </a:ext>
                </a:extLst>
              </a:tr>
              <a:tr h="259080">
                <a:tc>
                  <a:txBody>
                    <a:bodyPr/>
                    <a:lstStyle/>
                    <a:p>
                      <a:pPr algn="ctr"/>
                      <a:r>
                        <a:rPr sz="1100">
                          <a:solidFill>
                            <a:srgbClr val="FFFFFF"/>
                          </a:solidFill>
                          <a:latin typeface="Palatino Linotype"/>
                        </a:rPr>
                        <a:t>Business Model</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Direct balance-sheet lender</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Direct issuer; deposit-funded</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1368760"/>
                  </a:ext>
                </a:extLst>
              </a:tr>
              <a:tr h="390719">
                <a:tc>
                  <a:txBody>
                    <a:bodyPr/>
                    <a:lstStyle/>
                    <a:p>
                      <a:pPr algn="ctr"/>
                      <a:r>
                        <a:rPr sz="1100">
                          <a:solidFill>
                            <a:srgbClr val="FFFFFF"/>
                          </a:solidFill>
                          <a:latin typeface="Palatino Linotype"/>
                        </a:rPr>
                        <a:t>Credit Segment</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Non-prime / thin-file</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Underbanked / new-to-credit</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3503752"/>
                  </a:ext>
                </a:extLst>
              </a:tr>
              <a:tr h="259080">
                <a:tc>
                  <a:txBody>
                    <a:bodyPr/>
                    <a:lstStyle/>
                    <a:p>
                      <a:pPr algn="ctr"/>
                      <a:r>
                        <a:rPr sz="1100">
                          <a:solidFill>
                            <a:srgbClr val="FFFFFF"/>
                          </a:solidFill>
                          <a:latin typeface="Palatino Linotype"/>
                        </a:rPr>
                        <a:t>Customers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2MM+ customers</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3.7MM+ customers</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7442278"/>
                  </a:ext>
                </a:extLst>
              </a:tr>
              <a:tr h="420774">
                <a:tc>
                  <a:txBody>
                    <a:bodyPr/>
                    <a:lstStyle/>
                    <a:p>
                      <a:pPr algn="ctr"/>
                      <a:r>
                        <a:rPr sz="1100">
                          <a:solidFill>
                            <a:srgbClr val="FFFFFF"/>
                          </a:solidFill>
                          <a:latin typeface="Palatino Linotype"/>
                        </a:rPr>
                        <a:t>Capital Raised</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US$300MM+ equity and debt</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US$650MM+ equity and debt</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9379732"/>
                  </a:ext>
                </a:extLst>
              </a:tr>
              <a:tr h="259080">
                <a:tc>
                  <a:txBody>
                    <a:bodyPr/>
                    <a:lstStyle/>
                    <a:p>
                      <a:pPr algn="ctr"/>
                      <a:r>
                        <a:rPr sz="1100">
                          <a:solidFill>
                            <a:srgbClr val="FFFFFF"/>
                          </a:solidFill>
                          <a:latin typeface="Palatino Linotype"/>
                        </a:rPr>
                        <a:t>Key Investors</a:t>
                      </a:r>
                      <a:endParaRPr lang="en-US" sz="1100" b="1" dirty="0">
                        <a:solidFill>
                          <a:schemeClr val="bg1"/>
                        </a:solidFill>
                        <a:latin typeface="Palatino Linotype" panose="02040502050505030304" pitchFamily="18" charset="0"/>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171450" indent="-171450" algn="l">
                        <a:buFont typeface="Wingdings" panose="05000000000000000000" pitchFamily="2" charset="2"/>
                        <a:buChar char="§"/>
                      </a:pPr>
                      <a:r>
                        <a:rPr sz="900">
                          <a:latin typeface="Palatino Linotype"/>
                        </a:rPr>
                        <a:t>StepStone, Kaszek, Altos Ventures, Victory Park</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
                      </a:pPr>
                      <a:r>
                        <a:rPr sz="900">
                          <a:latin typeface="Palatino Linotype"/>
                        </a:rPr>
                        <a:t>Lightspeed, GIC, Granite Asia, BAI Capital</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8282326"/>
                  </a:ext>
                </a:extLst>
              </a:tr>
              <a:tr h="540995">
                <a:tc>
                  <a:txBody>
                    <a:bodyPr/>
                    <a:lstStyle/>
                    <a:p>
                      <a:pPr algn="ctr"/>
                      <a:r>
                        <a:rPr sz="1100">
                          <a:solidFill>
                            <a:srgbClr val="FFFFFF"/>
                          </a:solidFill>
                          <a:latin typeface="Palatino Linotype"/>
                        </a:rPr>
                        <a:t>Scale KPIs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171450" marR="0" lvl="0" indent="-171450" algn="l"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sz="900">
                          <a:latin typeface="Palatino Linotype"/>
                        </a:rPr>
                        <a:t>20MM+ loans disbursed</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sz="900">
                          <a:latin typeface="Palatino Linotype"/>
                        </a:rPr>
                        <a:t>~US$300MM annualized revenue; profitable</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8166535"/>
                  </a:ext>
                </a:extLst>
              </a:tr>
              <a:tr h="691270">
                <a:tc>
                  <a:txBody>
                    <a:bodyPr/>
                    <a:lstStyle/>
                    <a:p>
                      <a:pPr algn="ctr"/>
                      <a:r>
                        <a:rPr sz="1100">
                          <a:solidFill>
                            <a:srgbClr val="FFFFFF"/>
                          </a:solidFill>
                          <a:latin typeface="Palatino Linotype"/>
                        </a:rPr>
                        <a:t>Strategic Rationale</a:t>
                      </a: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pPr marL="0" indent="0" algn="ctr">
                        <a:buFont typeface="Wingdings" panose="05000000000000000000" pitchFamily="2" charset="2"/>
                        <a:buNone/>
                      </a:pPr>
                      <a:r>
                        <a:rPr sz="900">
                          <a:latin typeface="Palatino Linotype"/>
                        </a:rPr>
                        <a:t>Anchor entry into Mexico's large underserved market via a scaled AI-driven lender</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marL="0" indent="0" algn="ctr" defTabSz="914400" rtl="0" eaLnBrk="1" latinLnBrk="0" hangingPunct="1">
                        <a:buFont typeface="Wingdings" panose="05000000000000000000" pitchFamily="2" charset="2"/>
                        <a:buNone/>
                      </a:pPr>
                      <a:r>
                        <a:rPr sz="900">
                          <a:latin typeface="Palatino Linotype"/>
                        </a:rPr>
                        <a:t>Adds card and deposit capabilities; graduation path for underbanked customers</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4127259398"/>
                  </a:ext>
                </a:extLst>
              </a:tr>
            </a:tbl>
          </a:graphicData>
        </a:graphic>
      </p:graphicFrame>
      <p:sp>
        <p:nvSpPr>
          <p:cNvPr id="2" name="Title 1">
            <a:extLst>
              <a:ext uri="{FF2B5EF4-FFF2-40B4-BE49-F238E27FC236}">
                <a16:creationId xmlns:a16="http://schemas.microsoft.com/office/drawing/2014/main" id="{860B30F6-63CD-737D-9688-147C4361CF30}"/>
              </a:ext>
            </a:extLst>
          </p:cNvPr>
          <p:cNvSpPr>
            <a:spLocks noGrp="1"/>
          </p:cNvSpPr>
          <p:nvPr>
            <p:ph type="title"/>
          </p:nvPr>
        </p:nvSpPr>
        <p:spPr/>
        <p:txBody>
          <a:bodyPr/>
          <a:lstStyle/>
          <a:p>
            <a:r>
              <a:rPr lang="en-US" dirty="0"/>
              <a:t>Potential Latin American Market Entry Targets (1 of 3)</a:t>
            </a:r>
            <a:endParaRPr lang="en-CA" dirty="0">
              <a:solidFill>
                <a:srgbClr val="FF0000"/>
              </a:solidFill>
            </a:endParaRPr>
          </a:p>
        </p:txBody>
      </p:sp>
      <p:sp>
        <p:nvSpPr>
          <p:cNvPr id="5" name="Slide Number Placeholder 4">
            <a:extLst>
              <a:ext uri="{FF2B5EF4-FFF2-40B4-BE49-F238E27FC236}">
                <a16:creationId xmlns:a16="http://schemas.microsoft.com/office/drawing/2014/main" id="{9AECB8E7-E38A-9230-C552-E8B1B4B46F24}"/>
              </a:ext>
            </a:extLst>
          </p:cNvPr>
          <p:cNvSpPr>
            <a:spLocks noGrp="1"/>
          </p:cNvSpPr>
          <p:nvPr>
            <p:ph type="sldNum" sz="quarter" idx="12"/>
          </p:nvPr>
        </p:nvSpPr>
        <p:spPr/>
        <p:txBody>
          <a:bodyPr/>
          <a:lstStyle/>
          <a:p>
            <a:fld id="{B0BBF262-6B1A-47DC-B7A7-A92B0DCA2A1B}" type="slidenum">
              <a:rPr lang="en-CA" smtClean="0"/>
              <a:t>13</a:t>
            </a:fld>
            <a:endParaRPr lang="en-CA"/>
          </a:p>
        </p:txBody>
      </p:sp>
      <p:sp>
        <p:nvSpPr>
          <p:cNvPr id="4" name="Text Placeholder 3">
            <a:extLst>
              <a:ext uri="{FF2B5EF4-FFF2-40B4-BE49-F238E27FC236}">
                <a16:creationId xmlns:a16="http://schemas.microsoft.com/office/drawing/2014/main" id="{6866552C-3098-F8EA-958A-E384C5F8FF91}"/>
              </a:ext>
            </a:extLst>
          </p:cNvPr>
          <p:cNvSpPr>
            <a:spLocks noGrp="1"/>
          </p:cNvSpPr>
          <p:nvPr>
            <p:ph type="body" sz="quarter" idx="13"/>
          </p:nvPr>
        </p:nvSpPr>
        <p:spPr/>
        <p:txBody>
          <a:bodyPr/>
          <a:lstStyle/>
          <a:p>
            <a:r>
              <a:rPr lang="en-US" dirty="0"/>
              <a:t>Note: All figures in C$MM unless indicated otherwise</a:t>
            </a:r>
          </a:p>
          <a:p>
            <a:r>
              <a:rPr lang="en-US" dirty="0"/>
              <a:t>Source: Public sources</a:t>
            </a:r>
          </a:p>
        </p:txBody>
      </p:sp>
      <p:sp>
        <p:nvSpPr>
          <p:cNvPr id="6" name="Rectangle 5">
            <a:extLst>
              <a:ext uri="{FF2B5EF4-FFF2-40B4-BE49-F238E27FC236}">
                <a16:creationId xmlns:a16="http://schemas.microsoft.com/office/drawing/2014/main" id="{53AAE883-B8DA-DE71-9571-DC5AD48E5C63}"/>
              </a:ext>
            </a:extLst>
          </p:cNvPr>
          <p:cNvSpPr/>
          <p:nvPr/>
        </p:nvSpPr>
        <p:spPr>
          <a:xfrm>
            <a:off x="6159067" y="1019807"/>
            <a:ext cx="1838499" cy="30631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Palatino Linotype" panose="02040502050505030304" pitchFamily="18" charset="0"/>
              </a:rPr>
              <a:t>[Stori Logo]</a:t>
            </a:r>
          </a:p>
        </p:txBody>
      </p:sp>
      <p:sp>
        <p:nvSpPr>
          <p:cNvPr id="8" name="Rectangle 7">
            <a:extLst>
              <a:ext uri="{FF2B5EF4-FFF2-40B4-BE49-F238E27FC236}">
                <a16:creationId xmlns:a16="http://schemas.microsoft.com/office/drawing/2014/main" id="{B786E451-AD97-4581-2A71-A3B38A55D816}"/>
              </a:ext>
            </a:extLst>
          </p:cNvPr>
          <p:cNvSpPr/>
          <p:nvPr/>
        </p:nvSpPr>
        <p:spPr>
          <a:xfrm>
            <a:off x="2668267" y="1019807"/>
            <a:ext cx="1838499" cy="30631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Palatino Linotype" panose="02040502050505030304" pitchFamily="18" charset="0"/>
              </a:rPr>
              <a:t>[Kueski Logo]</a:t>
            </a:r>
          </a:p>
        </p:txBody>
      </p:sp>
    </p:spTree>
    <p:extLst>
      <p:ext uri="{BB962C8B-B14F-4D97-AF65-F5344CB8AC3E}">
        <p14:creationId xmlns:p14="http://schemas.microsoft.com/office/powerpoint/2010/main" val="3224510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16" name="Table 1215">
            <a:extLst>
              <a:ext uri="{FF2B5EF4-FFF2-40B4-BE49-F238E27FC236}">
                <a16:creationId xmlns:a16="http://schemas.microsoft.com/office/drawing/2014/main" id="{F27B3196-583A-F888-B016-C3D764D21276}"/>
              </a:ext>
            </a:extLst>
          </p:cNvPr>
          <p:cNvGraphicFramePr>
            <a:graphicFrameLocks noGrp="1"/>
          </p:cNvGraphicFramePr>
          <p:nvPr>
            <p:extLst>
              <p:ext uri="{D42A27DB-BD31-4B8C-83A1-F6EECF244321}">
                <p14:modId xmlns:p14="http://schemas.microsoft.com/office/powerpoint/2010/main" val="1637623852"/>
              </p:ext>
            </p:extLst>
          </p:nvPr>
        </p:nvGraphicFramePr>
        <p:xfrm>
          <a:off x="326782" y="1097280"/>
          <a:ext cx="8496934" cy="5221224"/>
        </p:xfrm>
        <a:graphic>
          <a:graphicData uri="http://schemas.openxmlformats.org/drawingml/2006/table">
            <a:tbl>
              <a:tblPr firstRow="1" bandRow="1">
                <a:tableStyleId>{5C22544A-7EE6-4342-B048-85BDC9FD1C3A}</a:tableStyleId>
              </a:tblPr>
              <a:tblGrid>
                <a:gridCol w="1515334">
                  <a:extLst>
                    <a:ext uri="{9D8B030D-6E8A-4147-A177-3AD203B41FA5}">
                      <a16:colId xmlns:a16="http://schemas.microsoft.com/office/drawing/2014/main" val="2612546772"/>
                    </a:ext>
                  </a:extLst>
                </a:gridCol>
                <a:gridCol w="3490800">
                  <a:extLst>
                    <a:ext uri="{9D8B030D-6E8A-4147-A177-3AD203B41FA5}">
                      <a16:colId xmlns:a16="http://schemas.microsoft.com/office/drawing/2014/main" val="1050933617"/>
                    </a:ext>
                  </a:extLst>
                </a:gridCol>
                <a:gridCol w="3490800">
                  <a:extLst>
                    <a:ext uri="{9D8B030D-6E8A-4147-A177-3AD203B41FA5}">
                      <a16:colId xmlns:a16="http://schemas.microsoft.com/office/drawing/2014/main" val="593983270"/>
                    </a:ext>
                  </a:extLst>
                </a:gridCol>
              </a:tblGrid>
              <a:tr h="259080">
                <a:tc>
                  <a:txBody>
                    <a:bodyPr/>
                    <a:lstStyle/>
                    <a:p>
                      <a:endParaRPr lang="en-US" sz="1100">
                        <a:latin typeface="Palatino Linotype" panose="0204050205050503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endParaRPr lang="en-US" sz="1000" dirty="0">
                        <a:latin typeface="Palatino Linotype" panose="02040502050505030304" pitchFamily="18" charset="0"/>
                      </a:endParaRPr>
                    </a:p>
                  </a:txBody>
                  <a:tcP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100">
                        <a:latin typeface="Palatino Linotype" panose="02040502050505030304" pitchFamily="18" charset="0"/>
                      </a:endParaRPr>
                    </a:p>
                  </a:txBody>
                  <a:tcPr>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21403807"/>
                  </a:ext>
                </a:extLst>
              </a:tr>
              <a:tr h="841548">
                <a:tc>
                  <a:txBody>
                    <a:bodyPr/>
                    <a:lstStyle/>
                    <a:p>
                      <a:pPr algn="ctr"/>
                      <a:r>
                        <a:rPr sz="1100">
                          <a:solidFill>
                            <a:srgbClr val="FFFFFF"/>
                          </a:solidFill>
                          <a:latin typeface="Palatino Linotype"/>
                        </a:rPr>
                        <a:t>Overview</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171450" indent="-171450" algn="l">
                        <a:buFont typeface="Wingdings" panose="05000000000000000000" pitchFamily="2" charset="2"/>
                        <a:buChar char="§"/>
                      </a:pPr>
                      <a:r>
                        <a:rPr sz="900">
                          <a:latin typeface="Palatino Linotype"/>
                        </a:rPr>
                        <a:t>App-based Mexican microlender with fully automated underwriting</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
                      </a:pPr>
                      <a:r>
                        <a:rPr sz="900">
                          <a:latin typeface="Palatino Linotype"/>
                        </a:rPr>
                        <a:t>Mexican BNPL provider embedded at online and offline retail checkout</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8588912"/>
                  </a:ext>
                </a:extLst>
              </a:tr>
              <a:tr h="259080">
                <a:tc>
                  <a:txBody>
                    <a:bodyPr/>
                    <a:lstStyle/>
                    <a:p>
                      <a:pPr algn="ctr"/>
                      <a:r>
                        <a:rPr sz="1100">
                          <a:solidFill>
                            <a:srgbClr val="FFFFFF"/>
                          </a:solidFill>
                          <a:latin typeface="Palatino Linotype"/>
                        </a:rPr>
                        <a:t>Headquarters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sz="900">
                          <a:latin typeface="Palatino Linotype"/>
                        </a:rPr>
                        <a:t>Mexico City, Mexico</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Mexico City, Mexico</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2239830"/>
                  </a:ext>
                </a:extLst>
              </a:tr>
              <a:tr h="259080">
                <a:tc>
                  <a:txBody>
                    <a:bodyPr/>
                    <a:lstStyle/>
                    <a:p>
                      <a:pPr algn="ctr"/>
                      <a:r>
                        <a:rPr sz="1100">
                          <a:solidFill>
                            <a:srgbClr val="FFFFFF"/>
                          </a:solidFill>
                          <a:latin typeface="Palatino Linotype"/>
                        </a:rPr>
                        <a:t>Year Founded</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sz="900">
                          <a:latin typeface="Palatino Linotype"/>
                        </a:rPr>
                        <a:t>2018</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2020</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4930638"/>
                  </a:ext>
                </a:extLst>
              </a:tr>
              <a:tr h="390719">
                <a:tc>
                  <a:txBody>
                    <a:bodyPr/>
                    <a:lstStyle/>
                    <a:p>
                      <a:pPr algn="ctr"/>
                      <a:r>
                        <a:rPr sz="1100">
                          <a:solidFill>
                            <a:srgbClr val="FFFFFF"/>
                          </a:solidFill>
                          <a:latin typeface="Palatino Linotype"/>
                        </a:rPr>
                        <a:t>Products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sz="900">
                          <a:latin typeface="Palatino Linotype"/>
                        </a:rPr>
                        <a:t>Instant personal microloans</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BNPL installments; payment card</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075465"/>
                  </a:ext>
                </a:extLst>
              </a:tr>
              <a:tr h="390719">
                <a:tc>
                  <a:txBody>
                    <a:bodyPr/>
                    <a:lstStyle/>
                    <a:p>
                      <a:pPr algn="ctr"/>
                      <a:r>
                        <a:rPr sz="1100">
                          <a:solidFill>
                            <a:srgbClr val="FFFFFF"/>
                          </a:solidFill>
                          <a:latin typeface="Palatino Linotype"/>
                        </a:rPr>
                        <a:t>Geography</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171450" indent="-171450" algn="l">
                        <a:buFont typeface="Wingdings" panose="05000000000000000000" pitchFamily="2" charset="2"/>
                        <a:buChar char="§"/>
                      </a:pPr>
                      <a:r>
                        <a:rPr sz="900">
                          <a:latin typeface="Palatino Linotype"/>
                        </a:rPr>
                        <a:t>Mexico</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
                      </a:pPr>
                      <a:r>
                        <a:rPr sz="900">
                          <a:latin typeface="Palatino Linotype"/>
                        </a:rPr>
                        <a:t>Mexico</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0866258"/>
                  </a:ext>
                </a:extLst>
              </a:tr>
              <a:tr h="259080">
                <a:tc>
                  <a:txBody>
                    <a:bodyPr/>
                    <a:lstStyle/>
                    <a:p>
                      <a:pPr algn="ctr"/>
                      <a:r>
                        <a:rPr sz="1100">
                          <a:solidFill>
                            <a:srgbClr val="FFFFFF"/>
                          </a:solidFill>
                          <a:latin typeface="Palatino Linotype"/>
                        </a:rPr>
                        <a:t>Business Model</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Direct mobile-first lender</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Merchant-embedded BNPL</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1368760"/>
                  </a:ext>
                </a:extLst>
              </a:tr>
              <a:tr h="390719">
                <a:tc>
                  <a:txBody>
                    <a:bodyPr/>
                    <a:lstStyle/>
                    <a:p>
                      <a:pPr algn="ctr"/>
                      <a:r>
                        <a:rPr sz="1100">
                          <a:solidFill>
                            <a:srgbClr val="FFFFFF"/>
                          </a:solidFill>
                          <a:latin typeface="Palatino Linotype"/>
                        </a:rPr>
                        <a:t>Credit Segment</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Thin-file / no credit history</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No-card / thin-file</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3503752"/>
                  </a:ext>
                </a:extLst>
              </a:tr>
              <a:tr h="259080">
                <a:tc>
                  <a:txBody>
                    <a:bodyPr/>
                    <a:lstStyle/>
                    <a:p>
                      <a:pPr algn="ctr"/>
                      <a:r>
                        <a:rPr sz="1100">
                          <a:solidFill>
                            <a:srgbClr val="FFFFFF"/>
                          </a:solidFill>
                          <a:latin typeface="Palatino Linotype"/>
                        </a:rPr>
                        <a:t>Customers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1MM+ borrowers</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Millions of shoppers</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7442278"/>
                  </a:ext>
                </a:extLst>
              </a:tr>
              <a:tr h="420774">
                <a:tc>
                  <a:txBody>
                    <a:bodyPr/>
                    <a:lstStyle/>
                    <a:p>
                      <a:pPr algn="ctr"/>
                      <a:r>
                        <a:rPr sz="1100">
                          <a:solidFill>
                            <a:srgbClr val="FFFFFF"/>
                          </a:solidFill>
                          <a:latin typeface="Palatino Linotype"/>
                        </a:rPr>
                        <a:t>Capital Raised</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US$120MM credit facility (2024)</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US$100MM+ equity plus credit lines</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9379732"/>
                  </a:ext>
                </a:extLst>
              </a:tr>
              <a:tr h="259080">
                <a:tc>
                  <a:txBody>
                    <a:bodyPr/>
                    <a:lstStyle/>
                    <a:p>
                      <a:pPr algn="ctr"/>
                      <a:r>
                        <a:rPr sz="1100">
                          <a:solidFill>
                            <a:srgbClr val="FFFFFF"/>
                          </a:solidFill>
                          <a:latin typeface="Palatino Linotype"/>
                        </a:rPr>
                        <a:t>Key Investors</a:t>
                      </a:r>
                      <a:endParaRPr lang="en-US" sz="1100" b="1" dirty="0">
                        <a:solidFill>
                          <a:schemeClr val="bg1"/>
                        </a:solidFill>
                        <a:latin typeface="Palatino Linotype" panose="02040502050505030304" pitchFamily="18" charset="0"/>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171450" indent="-171450" algn="l">
                        <a:buFont typeface="Wingdings" panose="05000000000000000000" pitchFamily="2" charset="2"/>
                        <a:buChar char="§"/>
                      </a:pPr>
                      <a:r>
                        <a:rPr sz="900">
                          <a:latin typeface="Palatino Linotype"/>
                        </a:rPr>
                        <a:t>Park Cities Asset Management (credit)</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
                      </a:pPr>
                      <a:r>
                        <a:rPr sz="900">
                          <a:latin typeface="Palatino Linotype"/>
                        </a:rPr>
                        <a:t>QED, Oak HC/FT, Kaszek</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8282326"/>
                  </a:ext>
                </a:extLst>
              </a:tr>
              <a:tr h="540995">
                <a:tc>
                  <a:txBody>
                    <a:bodyPr/>
                    <a:lstStyle/>
                    <a:p>
                      <a:pPr algn="ctr"/>
                      <a:r>
                        <a:rPr sz="1100">
                          <a:solidFill>
                            <a:srgbClr val="FFFFFF"/>
                          </a:solidFill>
                          <a:latin typeface="Palatino Linotype"/>
                        </a:rPr>
                        <a:t>Scale KPIs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171450" marR="0" lvl="0" indent="-171450" algn="l"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sz="900">
                          <a:latin typeface="Palatino Linotype"/>
                        </a:rPr>
                        <a:t>Millions of loans funded; profitable</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sz="900">
                          <a:latin typeface="Palatino Linotype"/>
                        </a:rPr>
                        <a:t>10K+ merchant partners</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8166535"/>
                  </a:ext>
                </a:extLst>
              </a:tr>
              <a:tr h="691270">
                <a:tc>
                  <a:txBody>
                    <a:bodyPr/>
                    <a:lstStyle/>
                    <a:p>
                      <a:pPr algn="ctr"/>
                      <a:r>
                        <a:rPr sz="1100">
                          <a:solidFill>
                            <a:srgbClr val="FFFFFF"/>
                          </a:solidFill>
                          <a:latin typeface="Palatino Linotype"/>
                        </a:rPr>
                        <a:t>Strategic Rationale</a:t>
                      </a: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pPr marL="0" indent="0" algn="ctr">
                        <a:buFont typeface="Wingdings" panose="05000000000000000000" pitchFamily="2" charset="2"/>
                        <a:buNone/>
                      </a:pPr>
                      <a:r>
                        <a:rPr sz="900">
                          <a:latin typeface="Palatino Linotype"/>
                        </a:rPr>
                        <a:t>Automated micro-credit engine mirrors Propel's AI underwriting playbook</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marL="0" indent="0" algn="ctr" defTabSz="914400" rtl="0" eaLnBrk="1" latinLnBrk="0" hangingPunct="1">
                        <a:buFont typeface="Wingdings" panose="05000000000000000000" pitchFamily="2" charset="2"/>
                        <a:buNone/>
                      </a:pPr>
                      <a:r>
                        <a:rPr sz="900">
                          <a:latin typeface="Palatino Linotype"/>
                        </a:rPr>
                        <a:t>Omnichannel BNPL distribution and merchant network in Mexico</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4127259398"/>
                  </a:ext>
                </a:extLst>
              </a:tr>
            </a:tbl>
          </a:graphicData>
        </a:graphic>
      </p:graphicFrame>
      <p:sp>
        <p:nvSpPr>
          <p:cNvPr id="2" name="Title 1">
            <a:extLst>
              <a:ext uri="{FF2B5EF4-FFF2-40B4-BE49-F238E27FC236}">
                <a16:creationId xmlns:a16="http://schemas.microsoft.com/office/drawing/2014/main" id="{860B30F6-63CD-737D-9688-147C4361CF30}"/>
              </a:ext>
            </a:extLst>
          </p:cNvPr>
          <p:cNvSpPr>
            <a:spLocks noGrp="1"/>
          </p:cNvSpPr>
          <p:nvPr>
            <p:ph type="title"/>
          </p:nvPr>
        </p:nvSpPr>
        <p:spPr/>
        <p:txBody>
          <a:bodyPr/>
          <a:lstStyle/>
          <a:p>
            <a:r>
              <a:rPr lang="en-US" dirty="0"/>
              <a:t>Potential Latin American Market Entry Targets (2 of 3)</a:t>
            </a:r>
            <a:endParaRPr lang="en-CA" dirty="0">
              <a:solidFill>
                <a:srgbClr val="FF0000"/>
              </a:solidFill>
            </a:endParaRPr>
          </a:p>
        </p:txBody>
      </p:sp>
      <p:sp>
        <p:nvSpPr>
          <p:cNvPr id="5" name="Slide Number Placeholder 4">
            <a:extLst>
              <a:ext uri="{FF2B5EF4-FFF2-40B4-BE49-F238E27FC236}">
                <a16:creationId xmlns:a16="http://schemas.microsoft.com/office/drawing/2014/main" id="{9AECB8E7-E38A-9230-C552-E8B1B4B46F24}"/>
              </a:ext>
            </a:extLst>
          </p:cNvPr>
          <p:cNvSpPr>
            <a:spLocks noGrp="1"/>
          </p:cNvSpPr>
          <p:nvPr>
            <p:ph type="sldNum" sz="quarter" idx="12"/>
          </p:nvPr>
        </p:nvSpPr>
        <p:spPr/>
        <p:txBody>
          <a:bodyPr/>
          <a:lstStyle/>
          <a:p>
            <a:fld id="{B0BBF262-6B1A-47DC-B7A7-A92B0DCA2A1B}" type="slidenum">
              <a:rPr lang="en-CA" smtClean="0"/>
              <a:t>14</a:t>
            </a:fld>
            <a:endParaRPr lang="en-CA"/>
          </a:p>
        </p:txBody>
      </p:sp>
      <p:sp>
        <p:nvSpPr>
          <p:cNvPr id="4" name="Text Placeholder 3">
            <a:extLst>
              <a:ext uri="{FF2B5EF4-FFF2-40B4-BE49-F238E27FC236}">
                <a16:creationId xmlns:a16="http://schemas.microsoft.com/office/drawing/2014/main" id="{6866552C-3098-F8EA-958A-E384C5F8FF91}"/>
              </a:ext>
            </a:extLst>
          </p:cNvPr>
          <p:cNvSpPr>
            <a:spLocks noGrp="1"/>
          </p:cNvSpPr>
          <p:nvPr>
            <p:ph type="body" sz="quarter" idx="13"/>
          </p:nvPr>
        </p:nvSpPr>
        <p:spPr/>
        <p:txBody>
          <a:bodyPr/>
          <a:lstStyle/>
          <a:p>
            <a:r>
              <a:rPr lang="en-US" dirty="0"/>
              <a:t>Note: All figures in C$MM unless indicated otherwise</a:t>
            </a:r>
          </a:p>
          <a:p>
            <a:r>
              <a:rPr lang="en-US" dirty="0"/>
              <a:t>Source: Public sources</a:t>
            </a:r>
          </a:p>
        </p:txBody>
      </p:sp>
      <p:sp>
        <p:nvSpPr>
          <p:cNvPr id="6" name="Rectangle 5">
            <a:extLst>
              <a:ext uri="{FF2B5EF4-FFF2-40B4-BE49-F238E27FC236}">
                <a16:creationId xmlns:a16="http://schemas.microsoft.com/office/drawing/2014/main" id="{53AAE883-B8DA-DE71-9571-DC5AD48E5C63}"/>
              </a:ext>
            </a:extLst>
          </p:cNvPr>
          <p:cNvSpPr/>
          <p:nvPr/>
        </p:nvSpPr>
        <p:spPr>
          <a:xfrm>
            <a:off x="6159067" y="1019807"/>
            <a:ext cx="1838499" cy="30631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Palatino Linotype" panose="02040502050505030304" pitchFamily="18" charset="0"/>
              </a:rPr>
              <a:t>[Aplazo Logo]</a:t>
            </a:r>
          </a:p>
        </p:txBody>
      </p:sp>
      <p:sp>
        <p:nvSpPr>
          <p:cNvPr id="8" name="Rectangle 7">
            <a:extLst>
              <a:ext uri="{FF2B5EF4-FFF2-40B4-BE49-F238E27FC236}">
                <a16:creationId xmlns:a16="http://schemas.microsoft.com/office/drawing/2014/main" id="{B786E451-AD97-4581-2A71-A3B38A55D816}"/>
              </a:ext>
            </a:extLst>
          </p:cNvPr>
          <p:cNvSpPr/>
          <p:nvPr/>
        </p:nvSpPr>
        <p:spPr>
          <a:xfrm>
            <a:off x="2668267" y="1019807"/>
            <a:ext cx="1838499" cy="30631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Palatino Linotype" panose="02040502050505030304" pitchFamily="18" charset="0"/>
              </a:rPr>
              <a:t>[Baubap Logo]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16" name="Table 1215">
            <a:extLst>
              <a:ext uri="{FF2B5EF4-FFF2-40B4-BE49-F238E27FC236}">
                <a16:creationId xmlns:a16="http://schemas.microsoft.com/office/drawing/2014/main" id="{F27B3196-583A-F888-B016-C3D764D21276}"/>
              </a:ext>
            </a:extLst>
          </p:cNvPr>
          <p:cNvGraphicFramePr>
            <a:graphicFrameLocks noGrp="1"/>
          </p:cNvGraphicFramePr>
          <p:nvPr>
            <p:extLst>
              <p:ext uri="{D42A27DB-BD31-4B8C-83A1-F6EECF244321}">
                <p14:modId xmlns:p14="http://schemas.microsoft.com/office/powerpoint/2010/main" val="1637623852"/>
              </p:ext>
            </p:extLst>
          </p:nvPr>
        </p:nvGraphicFramePr>
        <p:xfrm>
          <a:off x="326782" y="1097280"/>
          <a:ext cx="8496934" cy="5221224"/>
        </p:xfrm>
        <a:graphic>
          <a:graphicData uri="http://schemas.openxmlformats.org/drawingml/2006/table">
            <a:tbl>
              <a:tblPr firstRow="1" bandRow="1">
                <a:tableStyleId>{5C22544A-7EE6-4342-B048-85BDC9FD1C3A}</a:tableStyleId>
              </a:tblPr>
              <a:tblGrid>
                <a:gridCol w="1515334">
                  <a:extLst>
                    <a:ext uri="{9D8B030D-6E8A-4147-A177-3AD203B41FA5}">
                      <a16:colId xmlns:a16="http://schemas.microsoft.com/office/drawing/2014/main" val="2612546772"/>
                    </a:ext>
                  </a:extLst>
                </a:gridCol>
                <a:gridCol w="3490800">
                  <a:extLst>
                    <a:ext uri="{9D8B030D-6E8A-4147-A177-3AD203B41FA5}">
                      <a16:colId xmlns:a16="http://schemas.microsoft.com/office/drawing/2014/main" val="1050933617"/>
                    </a:ext>
                  </a:extLst>
                </a:gridCol>
                <a:gridCol w="3490800">
                  <a:extLst>
                    <a:ext uri="{9D8B030D-6E8A-4147-A177-3AD203B41FA5}">
                      <a16:colId xmlns:a16="http://schemas.microsoft.com/office/drawing/2014/main" val="593983270"/>
                    </a:ext>
                  </a:extLst>
                </a:gridCol>
              </a:tblGrid>
              <a:tr h="259080">
                <a:tc>
                  <a:txBody>
                    <a:bodyPr/>
                    <a:lstStyle/>
                    <a:p>
                      <a:endParaRPr lang="en-US" sz="1100">
                        <a:latin typeface="Palatino Linotype" panose="02040502050505030304" pitchFamily="18" charset="0"/>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endParaRPr lang="en-US" sz="1000" dirty="0">
                        <a:latin typeface="Palatino Linotype" panose="02040502050505030304" pitchFamily="18" charset="0"/>
                      </a:endParaRPr>
                    </a:p>
                  </a:txBody>
                  <a:tcP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100">
                        <a:latin typeface="Palatino Linotype" panose="02040502050505030304" pitchFamily="18" charset="0"/>
                      </a:endParaRPr>
                    </a:p>
                  </a:txBody>
                  <a:tcPr>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21403807"/>
                  </a:ext>
                </a:extLst>
              </a:tr>
              <a:tr h="841548">
                <a:tc>
                  <a:txBody>
                    <a:bodyPr/>
                    <a:lstStyle/>
                    <a:p>
                      <a:pPr algn="ctr"/>
                      <a:r>
                        <a:rPr sz="1100">
                          <a:solidFill>
                            <a:srgbClr val="FFFFFF"/>
                          </a:solidFill>
                          <a:latin typeface="Palatino Linotype"/>
                        </a:rPr>
                        <a:t>Overview</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171450" indent="-171450" algn="l">
                        <a:buFont typeface="Wingdings" panose="05000000000000000000" pitchFamily="2" charset="2"/>
                        <a:buChar char="§"/>
                      </a:pPr>
                      <a:r>
                        <a:rPr sz="900">
                          <a:latin typeface="Palatino Linotype"/>
                        </a:rPr>
                        <a:t>Brazilian online unsecured personal lender formed from the Geru–Rebel merger</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
                      </a:pPr>
                      <a:r>
                        <a:rPr sz="900">
                          <a:latin typeface="Palatino Linotype"/>
                        </a:rPr>
                        <a:t>Colombian BNPL and point-of-sale consumer credit platform</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8588912"/>
                  </a:ext>
                </a:extLst>
              </a:tr>
              <a:tr h="259080">
                <a:tc>
                  <a:txBody>
                    <a:bodyPr/>
                    <a:lstStyle/>
                    <a:p>
                      <a:pPr algn="ctr"/>
                      <a:r>
                        <a:rPr sz="1100">
                          <a:solidFill>
                            <a:srgbClr val="FFFFFF"/>
                          </a:solidFill>
                          <a:latin typeface="Palatino Linotype"/>
                        </a:rPr>
                        <a:t>Headquarters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sz="900">
                          <a:latin typeface="Palatino Linotype"/>
                        </a:rPr>
                        <a:t>São Paulo, Brazil</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Bogotá, Colombia</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2239830"/>
                  </a:ext>
                </a:extLst>
              </a:tr>
              <a:tr h="259080">
                <a:tc>
                  <a:txBody>
                    <a:bodyPr/>
                    <a:lstStyle/>
                    <a:p>
                      <a:pPr algn="ctr"/>
                      <a:r>
                        <a:rPr sz="1100">
                          <a:solidFill>
                            <a:srgbClr val="FFFFFF"/>
                          </a:solidFill>
                          <a:latin typeface="Palatino Linotype"/>
                        </a:rPr>
                        <a:t>Year Founded</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sz="900">
                          <a:latin typeface="Palatino Linotype"/>
                        </a:rPr>
                        <a:t>2021</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2018</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4930638"/>
                  </a:ext>
                </a:extLst>
              </a:tr>
              <a:tr h="390719">
                <a:tc>
                  <a:txBody>
                    <a:bodyPr/>
                    <a:lstStyle/>
                    <a:p>
                      <a:pPr algn="ctr"/>
                      <a:r>
                        <a:rPr sz="1100">
                          <a:solidFill>
                            <a:srgbClr val="FFFFFF"/>
                          </a:solidFill>
                          <a:latin typeface="Palatino Linotype"/>
                        </a:rPr>
                        <a:t>Products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sz="900">
                          <a:latin typeface="Palatino Linotype"/>
                        </a:rPr>
                        <a:t>Unsecured personal loans</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BNPL; point-of-sale loans</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075465"/>
                  </a:ext>
                </a:extLst>
              </a:tr>
              <a:tr h="390719">
                <a:tc>
                  <a:txBody>
                    <a:bodyPr/>
                    <a:lstStyle/>
                    <a:p>
                      <a:pPr algn="ctr"/>
                      <a:r>
                        <a:rPr sz="1100">
                          <a:solidFill>
                            <a:srgbClr val="FFFFFF"/>
                          </a:solidFill>
                          <a:latin typeface="Palatino Linotype"/>
                        </a:rPr>
                        <a:t>Geography</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171450" indent="-171450" algn="l">
                        <a:buFont typeface="Wingdings" panose="05000000000000000000" pitchFamily="2" charset="2"/>
                        <a:buChar char="§"/>
                      </a:pPr>
                      <a:r>
                        <a:rPr sz="900">
                          <a:latin typeface="Palatino Linotype"/>
                        </a:rPr>
                        <a:t>Brazil</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
                      </a:pPr>
                      <a:r>
                        <a:rPr sz="900">
                          <a:latin typeface="Palatino Linotype"/>
                        </a:rPr>
                        <a:t>Colombia</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0866258"/>
                  </a:ext>
                </a:extLst>
              </a:tr>
              <a:tr h="259080">
                <a:tc>
                  <a:txBody>
                    <a:bodyPr/>
                    <a:lstStyle/>
                    <a:p>
                      <a:pPr algn="ctr"/>
                      <a:r>
                        <a:rPr sz="1100">
                          <a:solidFill>
                            <a:srgbClr val="FFFFFF"/>
                          </a:solidFill>
                          <a:latin typeface="Palatino Linotype"/>
                        </a:rPr>
                        <a:t>Business Model</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Direct digital lender</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Merchant-embedded lender</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1368760"/>
                  </a:ext>
                </a:extLst>
              </a:tr>
              <a:tr h="390719">
                <a:tc>
                  <a:txBody>
                    <a:bodyPr/>
                    <a:lstStyle/>
                    <a:p>
                      <a:pPr algn="ctr"/>
                      <a:r>
                        <a:rPr sz="1100">
                          <a:solidFill>
                            <a:srgbClr val="FFFFFF"/>
                          </a:solidFill>
                          <a:latin typeface="Palatino Linotype"/>
                        </a:rPr>
                        <a:t>Credit Segment</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Near / non-prime</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Near / non-prime</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3503752"/>
                  </a:ext>
                </a:extLst>
              </a:tr>
              <a:tr h="259080">
                <a:tc>
                  <a:txBody>
                    <a:bodyPr/>
                    <a:lstStyle/>
                    <a:p>
                      <a:pPr algn="ctr"/>
                      <a:r>
                        <a:rPr sz="1100">
                          <a:solidFill>
                            <a:srgbClr val="FFFFFF"/>
                          </a:solidFill>
                          <a:latin typeface="Palatino Linotype"/>
                        </a:rPr>
                        <a:t>Customers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1MM+ customers served</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2MM+ customers</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7442278"/>
                  </a:ext>
                </a:extLst>
              </a:tr>
              <a:tr h="420774">
                <a:tc>
                  <a:txBody>
                    <a:bodyPr/>
                    <a:lstStyle/>
                    <a:p>
                      <a:pPr algn="ctr"/>
                      <a:r>
                        <a:rPr sz="1100">
                          <a:solidFill>
                            <a:srgbClr val="FFFFFF"/>
                          </a:solidFill>
                          <a:latin typeface="Palatino Linotype"/>
                        </a:rPr>
                        <a:t>Capital Raised</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US$115MM Series C (2021)</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900">
                          <a:latin typeface="Palatino Linotype"/>
                        </a:rPr>
                        <a:t>US$85MM Series D plus credit facilities</a:t>
                      </a:r>
                      <a:endPar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9379732"/>
                  </a:ext>
                </a:extLst>
              </a:tr>
              <a:tr h="259080">
                <a:tc>
                  <a:txBody>
                    <a:bodyPr/>
                    <a:lstStyle/>
                    <a:p>
                      <a:pPr algn="ctr"/>
                      <a:r>
                        <a:rPr sz="1100">
                          <a:solidFill>
                            <a:srgbClr val="FFFFFF"/>
                          </a:solidFill>
                          <a:latin typeface="Palatino Linotype"/>
                        </a:rPr>
                        <a:t>Key Investors</a:t>
                      </a:r>
                      <a:endParaRPr lang="en-US" sz="1100" b="1" dirty="0">
                        <a:solidFill>
                          <a:schemeClr val="bg1"/>
                        </a:solidFill>
                        <a:latin typeface="Palatino Linotype" panose="02040502050505030304" pitchFamily="18" charset="0"/>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171450" indent="-171450" algn="l">
                        <a:buFont typeface="Wingdings" panose="05000000000000000000" pitchFamily="2" charset="2"/>
                        <a:buChar char="§"/>
                      </a:pPr>
                      <a:r>
                        <a:rPr sz="900">
                          <a:latin typeface="Palatino Linotype"/>
                        </a:rPr>
                        <a:t>SoftBank, IFC, Goldman Sachs (debt)</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Wingdings" panose="05000000000000000000" pitchFamily="2" charset="2"/>
                        <a:buChar char="§"/>
                      </a:pPr>
                      <a:r>
                        <a:rPr sz="900">
                          <a:latin typeface="Palatino Linotype"/>
                        </a:rPr>
                        <a:t>a16z, GIC, Union Square, Goldman Sachs (debt)</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8282326"/>
                  </a:ext>
                </a:extLst>
              </a:tr>
              <a:tr h="540995">
                <a:tc>
                  <a:txBody>
                    <a:bodyPr/>
                    <a:lstStyle/>
                    <a:p>
                      <a:pPr algn="ctr"/>
                      <a:r>
                        <a:rPr sz="1100">
                          <a:solidFill>
                            <a:srgbClr val="FFFFFF"/>
                          </a:solidFill>
                          <a:latin typeface="Palatino Linotype"/>
                        </a:rPr>
                        <a:t>Scale KPIs</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171450" marR="0" lvl="0" indent="-171450" algn="l"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sz="900">
                          <a:latin typeface="Palatino Linotype"/>
                        </a:rPr>
                        <a:t>R$ multi-billion originations</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sz="900">
                          <a:latin typeface="Palatino Linotype"/>
                        </a:rPr>
                        <a:t>Thousands of merchant partners</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8166535"/>
                  </a:ext>
                </a:extLst>
              </a:tr>
              <a:tr h="691270">
                <a:tc>
                  <a:txBody>
                    <a:bodyPr/>
                    <a:lstStyle/>
                    <a:p>
                      <a:pPr algn="ctr"/>
                      <a:r>
                        <a:rPr sz="1100">
                          <a:solidFill>
                            <a:srgbClr val="FFFFFF"/>
                          </a:solidFill>
                          <a:latin typeface="Palatino Linotype"/>
                        </a:rPr>
                        <a:t>Strategic Rationale</a:t>
                      </a: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solidFill>
                  </a:tcPr>
                </a:tc>
                <a:tc>
                  <a:txBody>
                    <a:bodyPr/>
                    <a:lstStyle/>
                    <a:p>
                      <a:pPr marL="0" indent="0" algn="ctr">
                        <a:buFont typeface="Wingdings" panose="05000000000000000000" pitchFamily="2" charset="2"/>
                        <a:buNone/>
                      </a:pPr>
                      <a:r>
                        <a:rPr sz="900">
                          <a:latin typeface="Palatino Linotype"/>
                        </a:rPr>
                        <a:t>Entry into Brazil, Latin America's largest consumer credit market</a:t>
                      </a:r>
                    </a:p>
                  </a:txBody>
                  <a:tcPr anchor="ctr">
                    <a:lnL w="12700" cmpd="sng">
                      <a:noFill/>
                    </a:lnL>
                    <a:lnR w="12700" cap="flat" cmpd="sng" algn="ctr">
                      <a:solidFill>
                        <a:schemeClr val="bg1">
                          <a:lumMod val="50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marL="0" indent="0" algn="ctr" defTabSz="914400" rtl="0" eaLnBrk="1" latinLnBrk="0" hangingPunct="1">
                        <a:buFont typeface="Wingdings" panose="05000000000000000000" pitchFamily="2" charset="2"/>
                        <a:buNone/>
                      </a:pPr>
                      <a:r>
                        <a:rPr sz="900">
                          <a:latin typeface="Palatino Linotype"/>
                        </a:rPr>
                        <a:t>Beachhead in the Andean region; POS distribution complements direct model</a:t>
                      </a:r>
                    </a:p>
                  </a:txBody>
                  <a:tcPr anchor="ctr">
                    <a:lnL w="12700" cap="flat" cmpd="sng" algn="ctr">
                      <a:solidFill>
                        <a:schemeClr val="bg1">
                          <a:lumMod val="50000"/>
                        </a:schemeClr>
                      </a:solidFill>
                      <a:prstDash val="solid"/>
                      <a:round/>
                      <a:headEnd type="none" w="med" len="med"/>
                      <a:tailEnd type="none" w="med" len="med"/>
                    </a:lnL>
                    <a:lnR w="12700" cmpd="sng">
                      <a:noFill/>
                    </a:lnR>
                    <a:lnT w="12700" cap="flat" cmpd="sng" algn="ctr">
                      <a:solidFill>
                        <a:schemeClr val="bg1">
                          <a:lumMod val="9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4127259398"/>
                  </a:ext>
                </a:extLst>
              </a:tr>
            </a:tbl>
          </a:graphicData>
        </a:graphic>
      </p:graphicFrame>
      <p:sp>
        <p:nvSpPr>
          <p:cNvPr id="2" name="Title 1">
            <a:extLst>
              <a:ext uri="{FF2B5EF4-FFF2-40B4-BE49-F238E27FC236}">
                <a16:creationId xmlns:a16="http://schemas.microsoft.com/office/drawing/2014/main" id="{860B30F6-63CD-737D-9688-147C4361CF30}"/>
              </a:ext>
            </a:extLst>
          </p:cNvPr>
          <p:cNvSpPr>
            <a:spLocks noGrp="1"/>
          </p:cNvSpPr>
          <p:nvPr>
            <p:ph type="title"/>
          </p:nvPr>
        </p:nvSpPr>
        <p:spPr/>
        <p:txBody>
          <a:bodyPr/>
          <a:lstStyle/>
          <a:p>
            <a:r>
              <a:rPr lang="en-US" dirty="0"/>
              <a:t>Potential Latin American Market Entry Targets (3 of 3)</a:t>
            </a:r>
            <a:endParaRPr lang="en-CA" dirty="0">
              <a:solidFill>
                <a:srgbClr val="FF0000"/>
              </a:solidFill>
            </a:endParaRPr>
          </a:p>
        </p:txBody>
      </p:sp>
      <p:sp>
        <p:nvSpPr>
          <p:cNvPr id="5" name="Slide Number Placeholder 4">
            <a:extLst>
              <a:ext uri="{FF2B5EF4-FFF2-40B4-BE49-F238E27FC236}">
                <a16:creationId xmlns:a16="http://schemas.microsoft.com/office/drawing/2014/main" id="{9AECB8E7-E38A-9230-C552-E8B1B4B46F24}"/>
              </a:ext>
            </a:extLst>
          </p:cNvPr>
          <p:cNvSpPr>
            <a:spLocks noGrp="1"/>
          </p:cNvSpPr>
          <p:nvPr>
            <p:ph type="sldNum" sz="quarter" idx="12"/>
          </p:nvPr>
        </p:nvSpPr>
        <p:spPr/>
        <p:txBody>
          <a:bodyPr/>
          <a:lstStyle/>
          <a:p>
            <a:fld id="{B0BBF262-6B1A-47DC-B7A7-A92B0DCA2A1B}" type="slidenum">
              <a:rPr lang="en-CA" smtClean="0"/>
              <a:t>15</a:t>
            </a:fld>
            <a:endParaRPr lang="en-CA"/>
          </a:p>
        </p:txBody>
      </p:sp>
      <p:sp>
        <p:nvSpPr>
          <p:cNvPr id="4" name="Text Placeholder 3">
            <a:extLst>
              <a:ext uri="{FF2B5EF4-FFF2-40B4-BE49-F238E27FC236}">
                <a16:creationId xmlns:a16="http://schemas.microsoft.com/office/drawing/2014/main" id="{6866552C-3098-F8EA-958A-E384C5F8FF91}"/>
              </a:ext>
            </a:extLst>
          </p:cNvPr>
          <p:cNvSpPr>
            <a:spLocks noGrp="1"/>
          </p:cNvSpPr>
          <p:nvPr>
            <p:ph type="body" sz="quarter" idx="13"/>
          </p:nvPr>
        </p:nvSpPr>
        <p:spPr/>
        <p:txBody>
          <a:bodyPr/>
          <a:lstStyle/>
          <a:p>
            <a:r>
              <a:rPr lang="en-US" dirty="0"/>
              <a:t>Note: All figures in C$MM unless indicated otherwise</a:t>
            </a:r>
          </a:p>
          <a:p>
            <a:r>
              <a:rPr lang="en-US" dirty="0"/>
              <a:t>Source: Public sources</a:t>
            </a:r>
          </a:p>
        </p:txBody>
      </p:sp>
      <p:sp>
        <p:nvSpPr>
          <p:cNvPr id="6" name="Rectangle 5">
            <a:extLst>
              <a:ext uri="{FF2B5EF4-FFF2-40B4-BE49-F238E27FC236}">
                <a16:creationId xmlns:a16="http://schemas.microsoft.com/office/drawing/2014/main" id="{53AAE883-B8DA-DE71-9571-DC5AD48E5C63}"/>
              </a:ext>
            </a:extLst>
          </p:cNvPr>
          <p:cNvSpPr/>
          <p:nvPr/>
        </p:nvSpPr>
        <p:spPr>
          <a:xfrm>
            <a:off x="6159067" y="1019807"/>
            <a:ext cx="1838499" cy="30631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Palatino Linotype" panose="02040502050505030304" pitchFamily="18" charset="0"/>
              </a:rPr>
              <a:t>[Addi Logo]</a:t>
            </a:r>
          </a:p>
        </p:txBody>
      </p:sp>
      <p:sp>
        <p:nvSpPr>
          <p:cNvPr id="8" name="Rectangle 7">
            <a:extLst>
              <a:ext uri="{FF2B5EF4-FFF2-40B4-BE49-F238E27FC236}">
                <a16:creationId xmlns:a16="http://schemas.microsoft.com/office/drawing/2014/main" id="{B786E451-AD97-4581-2A71-A3B38A55D816}"/>
              </a:ext>
            </a:extLst>
          </p:cNvPr>
          <p:cNvSpPr/>
          <p:nvPr/>
        </p:nvSpPr>
        <p:spPr>
          <a:xfrm>
            <a:off x="2668267" y="1019807"/>
            <a:ext cx="1838499" cy="30631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Palatino Linotype" panose="02040502050505030304" pitchFamily="18" charset="0"/>
              </a:rPr>
              <a:t>[Open Co Logo]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200" dirty="0"/>
              <a:t>Disclaimer</a:t>
            </a:r>
            <a:endParaRPr lang="en-CA" sz="2200" dirty="0"/>
          </a:p>
        </p:txBody>
      </p:sp>
      <p:sp>
        <p:nvSpPr>
          <p:cNvPr id="6" name="Slide Number Placeholder 1">
            <a:extLst>
              <a:ext uri="{FF2B5EF4-FFF2-40B4-BE49-F238E27FC236}">
                <a16:creationId xmlns:a16="http://schemas.microsoft.com/office/drawing/2014/main" id="{25E521DA-3961-4266-8E9E-CA1B875B70E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prstClr val="black"/>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CA" sz="12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endParaRPr>
          </a:p>
        </p:txBody>
      </p:sp>
      <p:sp>
        <p:nvSpPr>
          <p:cNvPr id="3" name="Text Placeholder 2">
            <a:extLst>
              <a:ext uri="{FF2B5EF4-FFF2-40B4-BE49-F238E27FC236}">
                <a16:creationId xmlns:a16="http://schemas.microsoft.com/office/drawing/2014/main" id="{45528576-AE45-E97C-EBC1-B75BE9D4E42A}"/>
              </a:ext>
            </a:extLst>
          </p:cNvPr>
          <p:cNvSpPr>
            <a:spLocks noGrp="1"/>
          </p:cNvSpPr>
          <p:nvPr>
            <p:ph type="body" sz="quarter" idx="13"/>
          </p:nvPr>
        </p:nvSpPr>
        <p:spPr/>
        <p:txBody>
          <a:bodyPr/>
          <a:lstStyle/>
          <a:p>
            <a:endParaRPr lang="en-US"/>
          </a:p>
        </p:txBody>
      </p:sp>
      <p:sp>
        <p:nvSpPr>
          <p:cNvPr id="5" name="TextBox 4"/>
          <p:cNvSpPr txBox="1"/>
          <p:nvPr/>
        </p:nvSpPr>
        <p:spPr>
          <a:xfrm>
            <a:off x="324000" y="1023670"/>
            <a:ext cx="8496000" cy="2296160"/>
          </a:xfrm>
          <a:prstGeom prst="rect">
            <a:avLst/>
          </a:prstGeom>
          <a:noFill/>
        </p:spPr>
        <p:txBody>
          <a:bodyPr wrap="square" lIns="36000" tIns="36000" rIns="36000" bIns="36000" rtlCol="0">
            <a:noAutofit/>
          </a:bodyPr>
          <a:lstStyle/>
          <a:p>
            <a:pPr marL="0" marR="0" lvl="0" indent="0" algn="just" defTabSz="914400" rtl="0" eaLnBrk="1" fontAlgn="auto" latinLnBrk="0" hangingPunct="1">
              <a:lnSpc>
                <a:spcPct val="150000"/>
              </a:lnSpc>
              <a:spcBef>
                <a:spcPts val="0"/>
              </a:spcBef>
              <a:spcAft>
                <a:spcPts val="120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These materials are confidential and proprietary to, and may not be reproduced, disseminated or referred to, in whole or in part without the prior consent of INFOR Financial Inc. (“INFOR Financial”). These materials have been prepared exclusively for the INFOR Financial client or potential client to which such materials are delivered and may not be used for any purpose other than as authorized in writing by INFOR Financial. INFOR Financial assumes no responsibility for verification of the information in these materials, and no representation or warranty is made as to the accuracy or completeness of such information. INFOR Financial assumes no obligation to correct or update these materials. These materials do not contain all information that may be required to evaluate, and do not constitute a recommendation with respect to, any transaction or matter. Any recipient of these materials should conduct its own independent analysis of the matters referred to herein. </a:t>
            </a:r>
          </a:p>
          <a:p>
            <a:pPr marL="0" marR="0" lvl="0" indent="0" algn="just" defTabSz="914400" rtl="0" eaLnBrk="1" fontAlgn="auto" latinLnBrk="0" hangingPunct="1">
              <a:lnSpc>
                <a:spcPct val="150000"/>
              </a:lnSpc>
              <a:spcBef>
                <a:spcPts val="0"/>
              </a:spcBef>
              <a:spcAft>
                <a:spcPts val="1200"/>
              </a:spcAft>
              <a:buClrTx/>
              <a:buSzTx/>
              <a:buFontTx/>
              <a:buNone/>
              <a:tabLst/>
              <a:defRPr/>
            </a:pPr>
            <a:r>
              <a:rPr kumimoji="0" lang="en-CA" sz="1000" b="0" i="0" u="none" strike="noStrike" kern="1200" cap="none" spc="0" normalizeH="0" baseline="0" noProof="0" dirty="0">
                <a:ln>
                  <a:noFill/>
                </a:ln>
                <a:solidFill>
                  <a:prstClr val="black"/>
                </a:solidFill>
                <a:effectLst/>
                <a:uLnTx/>
                <a:uFillTx/>
                <a:latin typeface="Palatino Linotype" panose="02040502050505030304" pitchFamily="18" charset="0"/>
                <a:ea typeface="+mn-ea"/>
                <a:cs typeface="+mn-cs"/>
              </a:rPr>
              <a:t>INFOR Financial does not provide tax or legal advice. Any discussion of tax matters in these materials (i) is not intended to be used, and cannot be used or relied upon, for the purposes of avoiding any tax penalties and (ii) may have been written in connection with the “promotion or marketing” of the transaction or matter described herein. Accordingly, the recipient should seek advice based on its particular circumstances from an independent tax advisor. </a:t>
            </a:r>
          </a:p>
        </p:txBody>
      </p:sp>
    </p:spTree>
    <p:custDataLst>
      <p:tags r:id="rId1"/>
    </p:custDataLst>
    <p:extLst>
      <p:ext uri="{BB962C8B-B14F-4D97-AF65-F5344CB8AC3E}">
        <p14:creationId xmlns:p14="http://schemas.microsoft.com/office/powerpoint/2010/main" val="3552526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CA" dirty="0"/>
              <a:t>Contact </a:t>
            </a: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BBF262-6B1A-47DC-B7A7-A92B0DCA2A1B}" type="slidenum">
              <a:rPr kumimoji="0" lang="en-CA" sz="1200" b="0" i="0" u="none" strike="noStrike" kern="1200" cap="none" spc="0" normalizeH="0" baseline="0" noProof="0" smtClean="0">
                <a:ln>
                  <a:noFill/>
                </a:ln>
                <a:solidFill>
                  <a:srgbClr val="0E213F"/>
                </a:solidFill>
                <a:effectLst/>
                <a:uLnTx/>
                <a:uFillTx/>
                <a:latin typeface="Palatino Linotype" panose="0204050205050503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CA" sz="1200" b="0" i="0" u="none" strike="noStrike" kern="1200" cap="none" spc="0" normalizeH="0" baseline="0" noProof="0" dirty="0">
              <a:ln>
                <a:noFill/>
              </a:ln>
              <a:solidFill>
                <a:srgbClr val="0E213F"/>
              </a:solidFill>
              <a:effectLst/>
              <a:uLnTx/>
              <a:uFillTx/>
              <a:latin typeface="Palatino Linotype" panose="02040502050505030304" pitchFamily="18" charset="0"/>
              <a:ea typeface="+mn-ea"/>
              <a:cs typeface="+mn-cs"/>
            </a:endParaRPr>
          </a:p>
        </p:txBody>
      </p:sp>
      <p:sp>
        <p:nvSpPr>
          <p:cNvPr id="3" name="Text Placeholder 2">
            <a:extLst>
              <a:ext uri="{FF2B5EF4-FFF2-40B4-BE49-F238E27FC236}">
                <a16:creationId xmlns:a16="http://schemas.microsoft.com/office/drawing/2014/main" id="{E21B5470-253D-5853-D8CD-FA4A9CE09688}"/>
              </a:ext>
            </a:extLst>
          </p:cNvPr>
          <p:cNvSpPr>
            <a:spLocks noGrp="1"/>
          </p:cNvSpPr>
          <p:nvPr>
            <p:ph type="body" sz="quarter" idx="13"/>
          </p:nvPr>
        </p:nvSpPr>
        <p:spPr/>
        <p:txBody>
          <a:bodyPr/>
          <a:lstStyle/>
          <a:p>
            <a:endParaRPr lang="en-US"/>
          </a:p>
        </p:txBody>
      </p:sp>
      <p:graphicFrame>
        <p:nvGraphicFramePr>
          <p:cNvPr id="8" name="Table 7"/>
          <p:cNvGraphicFramePr>
            <a:graphicFrameLocks noGrp="1"/>
          </p:cNvGraphicFramePr>
          <p:nvPr/>
        </p:nvGraphicFramePr>
        <p:xfrm>
          <a:off x="1586096" y="3076771"/>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Neil Selfe,</a:t>
                      </a:r>
                      <a:r>
                        <a:rPr lang="en-CA" sz="1200" baseline="0" dirty="0">
                          <a:latin typeface="Palatino Linotype" panose="02040502050505030304" pitchFamily="18" charset="0"/>
                        </a:rPr>
                        <a:t> Managing Principal</a:t>
                      </a:r>
                      <a:endParaRPr lang="en-CA" sz="1200" dirty="0">
                        <a:latin typeface="Palatino Linotype" panose="02040502050505030304" pitchFamily="18" charset="0"/>
                      </a:endParaRP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(416) 560-5551</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nselfe@inforfg.com</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nvGraphicFramePr>
        <p:xfrm>
          <a:off x="2772000" y="1957287"/>
          <a:ext cx="3600000" cy="701040"/>
        </p:xfrm>
        <a:graphic>
          <a:graphicData uri="http://schemas.openxmlformats.org/drawingml/2006/table">
            <a:tbl>
              <a:tblPr firstRow="1" bandRow="1">
                <a:tableStyleId>{5C22544A-7EE6-4342-B048-85BDC9FD1C3A}</a:tableStyleId>
              </a:tblPr>
              <a:tblGrid>
                <a:gridCol w="3600000">
                  <a:extLst>
                    <a:ext uri="{9D8B030D-6E8A-4147-A177-3AD203B41FA5}">
                      <a16:colId xmlns:a16="http://schemas.microsoft.com/office/drawing/2014/main" val="20000"/>
                    </a:ext>
                  </a:extLst>
                </a:gridCol>
              </a:tblGrid>
              <a:tr h="432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000" b="0" dirty="0">
                          <a:solidFill>
                            <a:schemeClr val="tx1"/>
                          </a:solidFill>
                          <a:latin typeface="Palatino Linotype" panose="02040502050505030304" pitchFamily="18" charset="0"/>
                        </a:rPr>
                        <a:t>200 Bay</a:t>
                      </a:r>
                      <a:r>
                        <a:rPr lang="en-CA" sz="1000" b="0" baseline="0" dirty="0">
                          <a:solidFill>
                            <a:schemeClr val="tx1"/>
                          </a:solidFill>
                          <a:latin typeface="Palatino Linotype" panose="02040502050505030304" pitchFamily="18" charset="0"/>
                        </a:rPr>
                        <a:t> Street, Suite 2350</a:t>
                      </a:r>
                      <a:endParaRPr lang="en-CA" sz="1000" b="0" dirty="0">
                        <a:solidFill>
                          <a:schemeClr val="tx1"/>
                        </a:solidFill>
                        <a:latin typeface="Palatino Linotype" panose="02040502050505030304" pitchFamily="18" charset="0"/>
                      </a:endParaRPr>
                    </a:p>
                    <a:p>
                      <a:pPr algn="ctr"/>
                      <a:r>
                        <a:rPr lang="en-CA" sz="1000" b="0" baseline="0" dirty="0">
                          <a:solidFill>
                            <a:schemeClr val="tx1"/>
                          </a:solidFill>
                          <a:latin typeface="Palatino Linotype" panose="02040502050505030304" pitchFamily="18" charset="0"/>
                        </a:rPr>
                        <a:t> Toronto, Ontario</a:t>
                      </a:r>
                    </a:p>
                    <a:p>
                      <a:pPr algn="ctr"/>
                      <a:r>
                        <a:rPr lang="en-CA" sz="1000" b="0" baseline="0" dirty="0">
                          <a:solidFill>
                            <a:schemeClr val="tx1"/>
                          </a:solidFill>
                          <a:latin typeface="Palatino Linotype" panose="02040502050505030304" pitchFamily="18" charset="0"/>
                        </a:rPr>
                        <a:t>Canada</a:t>
                      </a:r>
                    </a:p>
                    <a:p>
                      <a:pPr algn="ctr"/>
                      <a:r>
                        <a:rPr lang="en-CA" sz="1000" b="0" baseline="0" dirty="0">
                          <a:solidFill>
                            <a:schemeClr val="tx1"/>
                          </a:solidFill>
                          <a:latin typeface="Palatino Linotype" panose="02040502050505030304" pitchFamily="18" charset="0"/>
                        </a:rPr>
                        <a:t>M5J 2J2</a:t>
                      </a:r>
                    </a:p>
                  </a:txBody>
                  <a:tcPr anchor="ctr">
                    <a:noFill/>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39143466"/>
              </p:ext>
            </p:extLst>
          </p:nvPr>
        </p:nvGraphicFramePr>
        <p:xfrm>
          <a:off x="4683540" y="3076771"/>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[x]</a:t>
                      </a: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735964480"/>
              </p:ext>
            </p:extLst>
          </p:nvPr>
        </p:nvGraphicFramePr>
        <p:xfrm>
          <a:off x="4683540" y="4655003"/>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[x]</a:t>
                      </a: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8CD15C93-32F7-46B1-AF13-51A761CECBB9}"/>
              </a:ext>
            </a:extLst>
          </p:cNvPr>
          <p:cNvGraphicFramePr>
            <a:graphicFrameLocks noGrp="1"/>
          </p:cNvGraphicFramePr>
          <p:nvPr>
            <p:extLst>
              <p:ext uri="{D42A27DB-BD31-4B8C-83A1-F6EECF244321}">
                <p14:modId xmlns:p14="http://schemas.microsoft.com/office/powerpoint/2010/main" val="2469579282"/>
              </p:ext>
            </p:extLst>
          </p:nvPr>
        </p:nvGraphicFramePr>
        <p:xfrm>
          <a:off x="1586096" y="4655003"/>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[x]</a:t>
                      </a: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[x]</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pic>
        <p:nvPicPr>
          <p:cNvPr id="16" name="Picture 15">
            <a:extLst>
              <a:ext uri="{FF2B5EF4-FFF2-40B4-BE49-F238E27FC236}">
                <a16:creationId xmlns:a16="http://schemas.microsoft.com/office/drawing/2014/main" id="{09784AAF-10B1-4C90-8D99-3A9F1617039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412408" y="1334432"/>
            <a:ext cx="2319185" cy="542724"/>
          </a:xfrm>
          <a:prstGeom prst="rect">
            <a:avLst/>
          </a:prstGeom>
        </p:spPr>
      </p:pic>
    </p:spTree>
    <p:custDataLst>
      <p:tags r:id="rId1"/>
    </p:custDataLst>
    <p:extLst>
      <p:ext uri="{BB962C8B-B14F-4D97-AF65-F5344CB8AC3E}">
        <p14:creationId xmlns:p14="http://schemas.microsoft.com/office/powerpoint/2010/main" val="25089274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 name="MM_STAMP_CONVERTED" val="True"/>
  <p:tag name="MM_SECTION_CONVERTED" val="True"/>
  <p:tag name="DH_TOC_SUBSECTIONS" val="0"/>
  <p:tag name="DH_AGENDA_COLLAPSE" val="1"/>
  <p:tag name="DH_AGENDA_OMIT" val="0"/>
  <p:tag name="DH_AGENDA_SKIP"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7cbbc8.pptx]]&gt;&lt;/Source&gt;&lt;SourceModified&gt;2026-04-20 17:38:57&lt;/SourceModified&gt;&lt;ParentId&gt;&lt;/ParentId&gt;&lt;LinkId&gt;8a964b4297d4e909&lt;/LinkId&gt;&lt;FriendlyName&gt;&lt;/FriendlyName&gt;&lt;Type&gt;10&lt;/Type&gt;&lt;Address&gt;&lt;/Address&gt;&lt;LastUpdate&gt;2026-04-20 14:25:03&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7cbbc8.pptx]]&gt;&lt;/ContentPath&gt;&lt;ContentType&gt;1&lt;/ContentType&gt;&lt;ContentId&gt;8a964b4297d4e909&lt;/ContentId&gt;&lt;Title&gt;Executive Summary&lt;/Title&gt;&lt;CurrentVersion&gt;2&lt;/CurrentVersion&gt;&lt;IgnoredVersion /&gt;&lt;KeepSrcFormatting&gt;True&lt;/KeepSrcFormatting&gt;&lt;ModifiedAt&gt;2026-04-20 18:25:02&lt;/ModifiedAt&gt;&lt;ModifiedBy&gt;Joey Shaw&lt;/ModifiedBy&gt;&lt;/LibraryInfo&gt;"/>
</p:tagLst>
</file>

<file path=ppt/tags/tag10.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7.2.0&quot;&gt;&lt;Source&gt;&lt;![CDATA[I:\Corporate\Marketing\Pitch Book\League Table Slide\2026.04.01 - Canadian League Tables Slide.xlsx]]&gt;&lt;/Source&gt;&lt;SourceModified&gt;2026-04-01 18:11:53&lt;/SourceModified&gt;&lt;ParentId&gt;MLNK33a887942406460b92b2134edfb65b66&lt;/ParentId&gt;&lt;LinkId&gt;Chart 12&lt;/LinkId&gt;&lt;FriendlyName&gt;&lt;/FriendlyName&gt;&lt;Type&gt;6&lt;/Type&gt;&lt;Address&gt;&lt;/Address&gt;&lt;LastUpdate&gt;2026-04-01 14:23:22&lt;/LastUpdate&gt;&lt;User&gt;Tate Wilson&lt;/User&gt;&lt;/Link&gt;&lt;/Links&gt;"/>
</p:tagLst>
</file>

<file path=ppt/tags/tag11.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6.7.0&quot;&gt;&lt;Source&gt;&lt;![CDATA[I:\Corporate\Marketing\Pitch Book\League Table Slide\2025 Old\2025 Year End League Table.xlsx]]&gt;&lt;/Source&gt;&lt;SourceModified&gt;2026-03-18 20:19:55&lt;/SourceModified&gt;&lt;ParentId&gt;MLNKd081272068954569a23266256a1aebc0&lt;/ParentId&gt;&lt;LinkId&gt;Chart 1&lt;/LinkId&gt;&lt;FriendlyName&gt;&lt;/FriendlyName&gt;&lt;Type&gt;6&lt;/Type&gt;&lt;Address&gt;&lt;/Address&gt;&lt;LastUpdate&gt;2026-03-22 18:15:19&lt;/LastUpdate&gt;&lt;User&gt;Matt Buckles&lt;/User&gt;&lt;/Link&gt;&lt;/Links&gt;"/>
</p:tagLst>
</file>

<file path=ppt/tags/tag12.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fe51e9.pptx]]&gt;&lt;/Source&gt;&lt;SourceModified&gt;2026-04-20 17:29:53&lt;/SourceModified&gt;&lt;ParentId&gt;&lt;/ParentId&gt;&lt;LinkId&gt;441011e2848157d1&lt;/LinkId&gt;&lt;FriendlyName&gt;&lt;/FriendlyName&gt;&lt;Type&gt;10&lt;/Type&gt;&lt;Address&gt;&lt;/Address&gt;&lt;LastUpdate&gt;2026-04-20 14:24:52&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fe51e9.pptx]]&gt;&lt;/ContentPath&gt;&lt;ContentType&gt;1&lt;/ContentType&gt;&lt;ContentId&gt;441011e2848157d1&lt;/ContentId&gt;&lt;Title&gt;Section Divider&lt;/Title&gt;&lt;CurrentVersion&gt;1&lt;/CurrentVersion&gt;&lt;IgnoredVersion /&gt;&lt;KeepSrcFormatting&gt;True&lt;/KeepSrcFormatting&gt;&lt;ModifiedAt&gt;2026-04-20 18:24:52&lt;/ModifiedAt&gt;&lt;ModifiedBy&gt;Joey Shaw&lt;/ModifiedBy&gt;&lt;/LibraryInfo&gt;"/>
</p:tagLst>
</file>

<file path=ppt/tags/tag13.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8d38a7.pptx]]&gt;&lt;/Source&gt;&lt;SourceModified&gt;2026-04-20 17:37:52&lt;/SourceModified&gt;&lt;ParentId&gt;&lt;/ParentId&gt;&lt;LinkId&gt;b77aefcb5f13e4a8&lt;/LinkId&gt;&lt;FriendlyName&gt;&lt;/FriendlyName&gt;&lt;Type&gt;10&lt;/Type&gt;&lt;Address&gt;&lt;/Address&gt;&lt;LastUpdate&gt;2026-04-20 14:22:49&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8d38a7.pptx]]&gt;&lt;/ContentPath&gt;&lt;ContentType&gt;1&lt;/ContentType&gt;&lt;ContentId&gt;b77aefcb5f13e4a8&lt;/ContentId&gt;&lt;Title&gt;Company Overview&lt;/Title&gt;&lt;CurrentVersion&gt;2&lt;/CurrentVersion&gt;&lt;IgnoredVersion /&gt;&lt;KeepSrcFormatting&gt;True&lt;/KeepSrcFormatting&gt;&lt;ModifiedAt&gt;2026-04-20 18:22:48&lt;/ModifiedAt&gt;&lt;ModifiedBy&gt;Joey Shaw&lt;/ModifiedBy&gt;&lt;/LibraryInfo&gt;"/>
</p:tagLst>
</file>

<file path=ppt/tags/tag14.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e10102.pptx]]&gt;&lt;/Source&gt;&lt;SourceModified&gt;2026-04-20 20:03:02&lt;/SourceModified&gt;&lt;ParentId&gt;&lt;/ParentId&gt;&lt;LinkId&gt;c776c967009314bd&lt;/LinkId&gt;&lt;FriendlyName&gt;&lt;/FriendlyName&gt;&lt;Type&gt;10&lt;/Type&gt;&lt;Address&gt;&lt;/Address&gt;&lt;LastUpdate&gt;2026-06-03 09:56:52&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e10102.pptx]]&gt;&lt;/ContentPath&gt;&lt;ContentType&gt;1&lt;/ContentType&gt;&lt;ContentId&gt;c776c967009314bd&lt;/ContentId&gt;&lt;Title&gt;Ownership&lt;/Title&gt;&lt;CurrentVersion&gt;1&lt;/CurrentVersion&gt;&lt;IgnoredVersion /&gt;&lt;KeepSrcFormatting&gt;True&lt;/KeepSrcFormatting&gt;&lt;ModifiedAt&gt;2026-06-03 13:56:51&lt;/ModifiedAt&gt;&lt;ModifiedBy&gt;Joey Shaw&lt;/ModifiedBy&gt;&lt;/LibraryInfo&gt;"/>
</p:tagLst>
</file>

<file path=ppt/tags/tag15.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291b03.pptx]]&gt;&lt;/Source&gt;&lt;SourceModified&gt;2026-04-20 16:45:22&lt;/SourceModified&gt;&lt;ParentId&gt;&lt;/ParentId&gt;&lt;LinkId&gt;c3f28da82746ffd7&lt;/LinkId&gt;&lt;FriendlyName&gt;&lt;/FriendlyName&gt;&lt;Type&gt;10&lt;/Type&gt;&lt;Address&gt;&lt;/Address&gt;&lt;LastUpdate&gt;2026-04-20 14:25:20&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291b03.pptx]]&gt;&lt;/ContentPath&gt;&lt;ContentType&gt;1&lt;/ContentType&gt;&lt;ContentId&gt;c3f28da82746ffd7&lt;/ContentId&gt;&lt;Title&gt;Disclaimer&lt;/Title&gt;&lt;CurrentVersion&gt;1&lt;/CurrentVersion&gt;&lt;IgnoredVersion /&gt;&lt;KeepSrcFormatting&gt;True&lt;/KeepSrcFormatting&gt;&lt;ModifiedAt&gt;2026-04-20 18:25:20&lt;/ModifiedAt&gt;&lt;ModifiedBy&gt;Joey Shaw&lt;/ModifiedBy&gt;&lt;/LibraryInfo&gt;"/>
</p:tagLst>
</file>

<file path=ppt/tags/tag16.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8.10.0&quot;&gt;&lt;Source&gt;&lt;![CDATA[\\IFG-FILE01.inforfg.local\Infor\Corporate\AI Integration\Macabacus\Library\Slides\a9c7cc\847dea.pptx]]&gt;&lt;/Source&gt;&lt;SourceModified&gt;2026-04-20 16:44:07&lt;/SourceModified&gt;&lt;ParentId&gt;&lt;/ParentId&gt;&lt;LinkId&gt;0b0f474c00910741&lt;/LinkId&gt;&lt;FriendlyName&gt;&lt;/FriendlyName&gt;&lt;Type&gt;10&lt;/Type&gt;&lt;Address&gt;&lt;/Address&gt;&lt;LastUpdate&gt;2026-04-20 14:25:37&lt;/LastUpdate&gt;&lt;User&gt;Tate Wilson&lt;/User&gt;&lt;SourceFormat&gt;True&lt;/SourceFormat&gt;&lt;/Link&gt;&lt;/Links&gt;"/>
  <p:tag name="MACABACUS_LIB_CONTENT" val="&lt;LibraryInfo vendor=&quot;Macabacus&quot; version=&quot;9.8.10.0&quot;&gt;&lt;LibraryId&gt;6483f4&lt;/LibraryId&gt;&lt;Permission&gt;2&lt;/Permission&gt;&lt;ContentPath&gt;&lt;![CDATA[\\IFG-FILE01.inforfg.local\Infor\Corporate\AI Integration\Macabacus\Library\Slides\a9c7cc\847dea.pptx]]&gt;&lt;/ContentPath&gt;&lt;ContentType&gt;1&lt;/ContentType&gt;&lt;ContentId&gt;0b0f474c00910741&lt;/ContentId&gt;&lt;Title&gt;Master Contact Slides (April 2026)&lt;/Title&gt;&lt;CurrentVersion&gt;1&lt;/CurrentVersion&gt;&lt;IgnoredVersion /&gt;&lt;KeepSrcFormatting&gt;True&lt;/KeepSrcFormatting&gt;&lt;ModifiedAt&gt;2026-04-20 18:25:36&lt;/ModifiedAt&gt;&lt;ModifiedBy&gt;Joey Shaw&lt;/ModifiedBy&gt;&lt;/LibraryInfo&gt;"/>
</p:tagLst>
</file>

<file path=ppt/theme/theme1.xml><?xml version="1.0" encoding="utf-8"?>
<a:theme xmlns:a="http://schemas.openxmlformats.org/drawingml/2006/main" name="Office Theme">
  <a:themeElements>
    <a:clrScheme name="INFOR (New)">
      <a:dk1>
        <a:sysClr val="windowText" lastClr="000000"/>
      </a:dk1>
      <a:lt1>
        <a:sysClr val="window" lastClr="FFFFFF"/>
      </a:lt1>
      <a:dk2>
        <a:srgbClr val="000000"/>
      </a:dk2>
      <a:lt2>
        <a:srgbClr val="FFFFFF"/>
      </a:lt2>
      <a:accent1>
        <a:srgbClr val="0E213F"/>
      </a:accent1>
      <a:accent2>
        <a:srgbClr val="46566E"/>
      </a:accent2>
      <a:accent3>
        <a:srgbClr val="ADB9CA"/>
      </a:accent3>
      <a:accent4>
        <a:srgbClr val="A4844B"/>
      </a:accent4>
      <a:accent5>
        <a:srgbClr val="767171"/>
      </a:accent5>
      <a:accent6>
        <a:srgbClr val="E5E3E3"/>
      </a:accent6>
      <a:hlink>
        <a:srgbClr val="800000"/>
      </a:hlink>
      <a:folHlink>
        <a:srgbClr val="333300"/>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dirty="0" smtClean="0"/>
        </a:defPPr>
      </a:lstStyle>
    </a:txDef>
  </a:objectDefaults>
  <a:extraClrSchemeLst/>
  <a:extLst>
    <a:ext uri="{05A4C25C-085E-4340-85A3-A5531E510DB2}">
      <thm15:themeFamily xmlns:thm15="http://schemas.microsoft.com/office/thememl/2012/main" name="INFOR Master Slide Template [Read-Only]" id="{A28BFA56-E9F4-4E5C-AF69-0DACACC32728}" vid="{01A3D815-FE74-4684-A7FD-184B6D201BC0}"/>
    </a:ext>
  </a:extLst>
</a:theme>
</file>

<file path=ppt/theme/theme2.xml><?xml version="1.0" encoding="utf-8"?>
<a:theme xmlns:a="http://schemas.openxmlformats.org/drawingml/2006/main" name="4_Custom Design">
  <a:themeElements>
    <a:clrScheme name="INFOR (New)">
      <a:dk1>
        <a:sysClr val="windowText" lastClr="000000"/>
      </a:dk1>
      <a:lt1>
        <a:sysClr val="window" lastClr="FFFFFF"/>
      </a:lt1>
      <a:dk2>
        <a:srgbClr val="000000"/>
      </a:dk2>
      <a:lt2>
        <a:srgbClr val="FFFFFF"/>
      </a:lt2>
      <a:accent1>
        <a:srgbClr val="0E213F"/>
      </a:accent1>
      <a:accent2>
        <a:srgbClr val="46566E"/>
      </a:accent2>
      <a:accent3>
        <a:srgbClr val="ADB9CA"/>
      </a:accent3>
      <a:accent4>
        <a:srgbClr val="A4844B"/>
      </a:accent4>
      <a:accent5>
        <a:srgbClr val="767171"/>
      </a:accent5>
      <a:accent6>
        <a:srgbClr val="E5E3E3"/>
      </a:accent6>
      <a:hlink>
        <a:srgbClr val="800000"/>
      </a:hlink>
      <a:folHlink>
        <a:srgbClr val="3333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R Master Slide Template [Read-Only]" id="{A28BFA56-E9F4-4E5C-AF69-0DACACC32728}" vid="{656B5F5D-0BBD-4C1C-BF00-B7AEB2D774B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09.xml"/></Relationships>
</file>

<file path=customXml/_rels/item110.xml.rels><?xml version="1.0" encoding="UTF-8" standalone="yes"?>
<Relationships xmlns="http://schemas.openxmlformats.org/package/2006/relationships"><Relationship Id="rId1" Type="http://schemas.openxmlformats.org/officeDocument/2006/relationships/customXmlProps" Target="itemProps110.xml"/></Relationships>
</file>

<file path=customXml/_rels/item111.xml.rels><?xml version="1.0" encoding="UTF-8" standalone="yes"?>
<Relationships xmlns="http://schemas.openxmlformats.org/package/2006/relationships"><Relationship Id="rId1" Type="http://schemas.openxmlformats.org/officeDocument/2006/relationships/customXmlProps" Target="itemProps111.xml"/></Relationships>
</file>

<file path=customXml/_rels/item112.xml.rels><?xml version="1.0" encoding="UTF-8" standalone="yes"?>
<Relationships xmlns="http://schemas.openxmlformats.org/package/2006/relationships"><Relationship Id="rId1" Type="http://schemas.openxmlformats.org/officeDocument/2006/relationships/customXmlProps" Target="itemProps112.xml"/></Relationships>
</file>

<file path=customXml/_rels/item113.xml.rels><?xml version="1.0" encoding="UTF-8" standalone="yes"?>
<Relationships xmlns="http://schemas.openxmlformats.org/package/2006/relationships"><Relationship Id="rId1" Type="http://schemas.openxmlformats.org/officeDocument/2006/relationships/customXmlProps" Target="itemProps113.xml"/></Relationships>
</file>

<file path=customXml/_rels/item114.xml.rels><?xml version="1.0" encoding="UTF-8" standalone="yes"?>
<Relationships xmlns="http://schemas.openxmlformats.org/package/2006/relationships"><Relationship Id="rId1" Type="http://schemas.openxmlformats.org/officeDocument/2006/relationships/customXmlProps" Target="itemProps114.xml"/></Relationships>
</file>

<file path=customXml/_rels/item115.xml.rels><?xml version="1.0" encoding="UTF-8" standalone="yes"?>
<Relationships xmlns="http://schemas.openxmlformats.org/package/2006/relationships"><Relationship Id="rId1" Type="http://schemas.openxmlformats.org/officeDocument/2006/relationships/customXmlProps" Target="itemProps115.xml"/></Relationships>
</file>

<file path=customXml/_rels/item116.xml.rels><?xml version="1.0" encoding="UTF-8" standalone="yes"?>
<Relationships xmlns="http://schemas.openxmlformats.org/package/2006/relationships"><Relationship Id="rId1" Type="http://schemas.openxmlformats.org/officeDocument/2006/relationships/customXmlProps" Target="itemProps116.xml"/></Relationships>
</file>

<file path=customXml/_rels/item117.xml.rels><?xml version="1.0" encoding="UTF-8" standalone="yes"?>
<Relationships xmlns="http://schemas.openxmlformats.org/package/2006/relationships"><Relationship Id="rId1" Type="http://schemas.openxmlformats.org/officeDocument/2006/relationships/customXmlProps" Target="itemProps117.xml"/></Relationships>
</file>

<file path=customXml/_rels/item118.xml.rels><?xml version="1.0" encoding="UTF-8" standalone="yes"?>
<Relationships xmlns="http://schemas.openxmlformats.org/package/2006/relationships"><Relationship Id="rId1" Type="http://schemas.openxmlformats.org/officeDocument/2006/relationships/customXmlProps" Target="itemProps118.xml"/></Relationships>
</file>

<file path=customXml/_rels/item119.xml.rels><?xml version="1.0" encoding="UTF-8" standalone="yes"?>
<Relationships xmlns="http://schemas.openxmlformats.org/package/2006/relationships"><Relationship Id="rId1" Type="http://schemas.openxmlformats.org/officeDocument/2006/relationships/customXmlProps" Target="itemProps119.xml"/></Relationships>
</file>

<file path=customXml/_rels/item120.xml.rels><?xml version="1.0" encoding="UTF-8" standalone="yes"?>
<Relationships xmlns="http://schemas.openxmlformats.org/package/2006/relationships"><Relationship Id="rId1" Type="http://schemas.openxmlformats.org/officeDocument/2006/relationships/customXmlProps" Target="itemProps120.xml"/></Relationships>
</file>

<file path=customXml/_rels/item121.xml.rels><?xml version="1.0" encoding="UTF-8" standalone="yes"?>
<Relationships xmlns="http://schemas.openxmlformats.org/package/2006/relationships"><Relationship Id="rId1" Type="http://schemas.openxmlformats.org/officeDocument/2006/relationships/customXmlProps" Target="itemProps121.xml"/></Relationships>
</file>

<file path=customXml/_rels/item122.xml.rels><?xml version="1.0" encoding="UTF-8" standalone="yes"?>
<Relationships xmlns="http://schemas.openxmlformats.org/package/2006/relationships"><Relationship Id="rId1" Type="http://schemas.openxmlformats.org/officeDocument/2006/relationships/customXmlProps" Target="itemProps122.xml"/></Relationships>
</file>

<file path=customXml/_rels/item123.xml.rels><?xml version="1.0" encoding="UTF-8" standalone="yes"?>
<Relationships xmlns="http://schemas.openxmlformats.org/package/2006/relationships"><Relationship Id="rId1" Type="http://schemas.openxmlformats.org/officeDocument/2006/relationships/customXmlProps" Target="itemProps123.xml"/></Relationships>
</file>

<file path=customXml/_rels/item124.xml.rels><?xml version="1.0" encoding="UTF-8" standalone="yes"?>
<Relationships xmlns="http://schemas.openxmlformats.org/package/2006/relationships"><Relationship Id="rId1" Type="http://schemas.openxmlformats.org/officeDocument/2006/relationships/customXmlProps" Target="itemProps124.xml"/></Relationships>
</file>

<file path=customXml/_rels/item125.xml.rels><?xml version="1.0" encoding="UTF-8" standalone="yes"?>
<Relationships xmlns="http://schemas.openxmlformats.org/package/2006/relationships"><Relationship Id="rId1" Type="http://schemas.openxmlformats.org/officeDocument/2006/relationships/customXmlProps" Target="itemProps125.xml"/></Relationships>
</file>

<file path=customXml/_rels/item126.xml.rels><?xml version="1.0" encoding="UTF-8" standalone="yes"?>
<Relationships xmlns="http://schemas.openxmlformats.org/package/2006/relationships"><Relationship Id="rId1" Type="http://schemas.openxmlformats.org/officeDocument/2006/relationships/customXmlProps" Target="itemProps126.xml"/></Relationships>
</file>

<file path=customXml/_rels/item127.xml.rels><?xml version="1.0" encoding="UTF-8" standalone="yes"?>
<Relationships xmlns="http://schemas.openxmlformats.org/package/2006/relationships"><Relationship Id="rId1" Type="http://schemas.openxmlformats.org/officeDocument/2006/relationships/customXmlProps" Target="itemProps127.xml"/></Relationships>
</file>

<file path=customXml/_rels/item128.xml.rels><?xml version="1.0" encoding="UTF-8" standalone="yes"?>
<Relationships xmlns="http://schemas.openxmlformats.org/package/2006/relationships"><Relationship Id="rId1" Type="http://schemas.openxmlformats.org/officeDocument/2006/relationships/customXmlProps" Target="itemProps128.xml"/></Relationships>
</file>

<file path=customXml/_rels/item129.xml.rels><?xml version="1.0" encoding="UTF-8" standalone="yes"?>
<Relationships xmlns="http://schemas.openxmlformats.org/package/2006/relationships"><Relationship Id="rId1" Type="http://schemas.openxmlformats.org/officeDocument/2006/relationships/customXmlProps" Target="itemProps129.xml"/></Relationships>
</file>

<file path=customXml/_rels/item130.xml.rels><?xml version="1.0" encoding="UTF-8" standalone="yes"?>
<Relationships xmlns="http://schemas.openxmlformats.org/package/2006/relationships"><Relationship Id="rId1" Type="http://schemas.openxmlformats.org/officeDocument/2006/relationships/customXmlProps" Target="itemProps130.xml"/></Relationships>
</file>

<file path=customXml/_rels/item131.xml.rels><?xml version="1.0" encoding="UTF-8" standalone="yes"?>
<Relationships xmlns="http://schemas.openxmlformats.org/package/2006/relationships"><Relationship Id="rId1" Type="http://schemas.openxmlformats.org/officeDocument/2006/relationships/customXmlProps" Target="itemProps131.xml"/></Relationships>
</file>

<file path=customXml/_rels/item132.xml.rels><?xml version="1.0" encoding="UTF-8" standalone="yes"?>
<Relationships xmlns="http://schemas.openxmlformats.org/package/2006/relationships"><Relationship Id="rId1" Type="http://schemas.openxmlformats.org/officeDocument/2006/relationships/customXmlProps" Target="itemProps132.xml"/></Relationships>
</file>

<file path=customXml/item1.xml>��
</file>

<file path=customXml/item2.xml>��
</file>

<file path=customXml/item3.xml>��
</file>

<file path=customXml/item4.xml>��
</file>

<file path=customXml/item5.xml>��
</file>

<file path=customXml/item6.xml>��
</file>

<file path=customXml/item7.xml>��
</file>

<file path=customXml/item8.xml>��
</file>

<file path=customXml/item9.xml>��
</file>

<file path=customXml/item10.xml>��
</file>

<file path=customXml/item11.xml>��
</file>

<file path=customXml/item12.xml>��
</file>

<file path=customXml/item13.xml>��
</file>

<file path=customXml/item14.xml>��
</file>

<file path=customXml/item15.xml>��
</file>

<file path=customXml/item16.xml>��
</file>

<file path=customXml/item17.xml>��
</file>

<file path=customXml/item18.xml>��
</file>

<file path=customXml/item19.xml>��
</file>

<file path=customXml/item20.xml>��
</file>

<file path=customXml/item21.xml>��
</file>

<file path=customXml/item22.xml>��
</file>

<file path=customXml/item23.xml>��
</file>

<file path=customXml/item24.xml>��
</file>

<file path=customXml/item25.xml>��
</file>

<file path=customXml/item26.xml>��
</file>

<file path=customXml/item27.xml>��
</file>

<file path=customXml/item28.xml>��
</file>

<file path=customXml/item29.xml>��
</file>

<file path=customXml/item30.xml>��
</file>

<file path=customXml/item31.xml>��
</file>

<file path=customXml/item32.xml>��
</file>

<file path=customXml/item33.xml>��
</file>

<file path=customXml/item34.xml>��
</file>

<file path=customXml/item35.xml>��
</file>

<file path=customXml/item36.xml>��
</file>

<file path=customXml/item37.xml>��
</file>

<file path=customXml/item38.xml>��
</file>

<file path=customXml/item39.xml>��
</file>

<file path=customXml/item40.xml>��
</file>

<file path=customXml/item41.xml>��
</file>

<file path=customXml/item42.xml>��
</file>

<file path=customXml/item43.xml>��
</file>

<file path=customXml/item44.xml>��
</file>

<file path=customXml/item45.xml>��
</file>

<file path=customXml/item46.xml>��
</file>

<file path=customXml/item47.xml><?xml version="1.0" encoding="utf-8"?>
<p:properties xmlns:p="http://schemas.microsoft.com/office/2006/metadata/properties" xmlns:xsi="http://www.w3.org/2001/XMLSchema-instance" xmlns:pc="http://schemas.microsoft.com/office/infopath/2007/PartnerControls">
  <documentManagement/>
</p:properties>
</file>

<file path=customXml/item48.xml>��
</file>

<file path=customXml/item49.xml>��
</file>

<file path=customXml/item50.xml>��
</file>

<file path=customXml/item51.xml>��
</file>

<file path=customXml/item52.xml>��
</file>

<file path=customXml/item53.xml>��
</file>

<file path=customXml/item54.xml>��
</file>

<file path=customXml/item55.xml>��
</file>

<file path=customXml/item56.xml>��
</file>

<file path=customXml/item57.xml><?xml version="1.0" encoding="utf-8"?>
<ct:contentTypeSchema xmlns:ct="http://schemas.microsoft.com/office/2006/metadata/contentType" xmlns:ma="http://schemas.microsoft.com/office/2006/metadata/properties/metaAttributes" ct:_="" ma:_="" ma:contentTypeName="Document" ma:contentTypeID="0x0101001CC90450323BF944A056C05D9632F2E1" ma:contentTypeVersion="6" ma:contentTypeDescription="Create a new document." ma:contentTypeScope="" ma:versionID="8ad0cff02f8856c8d358cfd7a8c4d22b">
  <xsd:schema xmlns:xsd="http://www.w3.org/2001/XMLSchema" xmlns:xs="http://www.w3.org/2001/XMLSchema" xmlns:p="http://schemas.microsoft.com/office/2006/metadata/properties" xmlns:ns2="32a12548-025c-4113-be0a-5de40f156b7f" xmlns:ns3="ad0c4147-2d43-4434-966d-a4e58ac9e85a" targetNamespace="http://schemas.microsoft.com/office/2006/metadata/properties" ma:root="true" ma:fieldsID="128fac691a6137bf2e25af61c0b4437e" ns2:_="" ns3:_="">
    <xsd:import namespace="32a12548-025c-4113-be0a-5de40f156b7f"/>
    <xsd:import namespace="ad0c4147-2d43-4434-966d-a4e58ac9e85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a12548-025c-4113-be0a-5de40f156b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d0c4147-2d43-4434-966d-a4e58ac9e85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8.xml>��
</file>

<file path=customXml/item59.xml>��
</file>

<file path=customXml/item60.xml>��
</file>

<file path=customXml/item61.xml>��
</file>

<file path=customXml/item62.xml>��
</file>

<file path=customXml/item63.xml>��
</file>

<file path=customXml/item64.xml>��
</file>

<file path=customXml/item65.xml>��
</file>

<file path=customXml/item66.xml>��
</file>

<file path=customXml/item67.xml>��
</file>

<file path=customXml/item68.xml>��
</file>

<file path=customXml/item69.xml>��
</file>

<file path=customXml/item70.xml>��
</file>

<file path=customXml/item71.xml>��
</file>

<file path=customXml/item72.xml>��
</file>

<file path=customXml/item73.xml>��
</file>

<file path=customXml/item74.xml>��
</file>

<file path=customXml/item75.xml>��
</file>

<file path=customXml/item76.xml>��
</file>

<file path=customXml/item77.xml>��
</file>

<file path=customXml/item78.xml>��
</file>

<file path=customXml/item79.xml>��
</file>

<file path=customXml/item80.xml>��
</file>

<file path=customXml/item81.xml>��
</file>

<file path=customXml/item82.xml>��
</file>

<file path=customXml/item83.xml>��
</file>

<file path=customXml/item84.xml>��
</file>

<file path=customXml/item85.xml>��
</file>

<file path=customXml/item86.xml>��
</file>

<file path=customXml/item87.xml>��
</file>

<file path=customXml/item88.xml>��
</file>

<file path=customXml/item89.xml>��
</file>

<file path=customXml/item90.xml>��
</file>

<file path=customXml/item91.xml>��
</file>

<file path=customXml/item92.xml>��
</file>

<file path=customXml/item93.xml>��
</file>

<file path=customXml/item94.xml>��
</file>

<file path=customXml/item95.xml>��
</file>

<file path=customXml/item96.xml>��
</file>

<file path=customXml/item97.xml>��
</file>

<file path=customXml/item98.xml>��
</file>

<file path=customXml/item99.xml>��
</file>

<file path=customXml/item100.xml>��
</file>

<file path=customXml/item101.xml>��
</file>

<file path=customXml/item102.xml>��
</file>

<file path=customXml/item103.xml>��
</file>

<file path=customXml/item104.xml>��
</file>

<file path=customXml/item105.xml>��
</file>

<file path=customXml/item106.xml>��
</file>

<file path=customXml/item107.xml>��
</file>

<file path=customXml/item108.xml>��
</file>

<file path=customXml/item109.xml>��
</file>

<file path=customXml/item110.xml>��
</file>

<file path=customXml/item111.xml>��
</file>

<file path=customXml/item112.xml>��
</file>

<file path=customXml/item113.xml>��
</file>

<file path=customXml/item114.xml>��
</file>

<file path=customXml/item115.xml>��
</file>

<file path=customXml/item116.xml>��
</file>

<file path=customXml/item117.xml>��
</file>

<file path=customXml/item118.xml>��
</file>

<file path=customXml/item119.xml>��
</file>

<file path=customXml/item120.xml>��
</file>

<file path=customXml/item121.xml><?xml version="1.0" encoding="utf-8"?>
<?mso-contentType ?>
<FormTemplates xmlns="http://schemas.microsoft.com/sharepoint/v3/contenttype/forms">
  <Display>DocumentLibraryForm</Display>
  <Edit>DocumentLibraryForm</Edit>
  <New>DocumentLibraryForm</New>
</FormTemplates>
</file>

<file path=customXml/item122.xml>��
</file>

<file path=customXml/item123.xml>��
</file>

<file path=customXml/item124.xml>��
</file>

<file path=customXml/item125.xml>��
</file>

<file path=customXml/item126.xml>��
</file>

<file path=customXml/item127.xml>��
</file>

<file path=customXml/item128.xml>��
</file>

<file path=customXml/item129.xml>��
</file>

<file path=customXml/item130.xml>��
</file>

<file path=customXml/item131.xml>��
</file>

<file path=customXml/item132.xml>��
</file>

<file path=customXml/itemProps1.xml><?xml version="1.0" encoding="utf-8"?>
<ds:datastoreItem xmlns:ds="http://schemas.openxmlformats.org/officeDocument/2006/customXml" ds:itemID="{4E49E78D-54E1-4A7E-AA90-39082CD5CBA2}">
  <ds:schemaRefs>
    <ds:schemaRef ds:uri="http://macabacus.com"/>
  </ds:schemaRefs>
</ds:datastoreItem>
</file>

<file path=customXml/itemProps2.xml><?xml version="1.0" encoding="utf-8"?>
<ds:datastoreItem xmlns:ds="http://schemas.openxmlformats.org/officeDocument/2006/customXml" ds:itemID="{B9979C64-7404-453B-8375-CBD269CA82DF}">
  <ds:schemaRefs>
    <ds:schemaRef ds:uri="http://macabacus.com"/>
  </ds:schemaRefs>
</ds:datastoreItem>
</file>

<file path=customXml/itemProps3.xml><?xml version="1.0" encoding="utf-8"?>
<ds:datastoreItem xmlns:ds="http://schemas.openxmlformats.org/officeDocument/2006/customXml" ds:itemID="{04BC8FFF-6C5B-4312-8C37-24B43E601E01}">
  <ds:schemaRefs>
    <ds:schemaRef ds:uri="http://macabacus.com"/>
  </ds:schemaRefs>
</ds:datastoreItem>
</file>

<file path=customXml/itemProps4.xml><?xml version="1.0" encoding="utf-8"?>
<ds:datastoreItem xmlns:ds="http://schemas.openxmlformats.org/officeDocument/2006/customXml" ds:itemID="{9E9D5AF6-EDD7-4950-BDCC-2FED30665885}">
  <ds:schemaRefs>
    <ds:schemaRef ds:uri="http://macabacus.com"/>
  </ds:schemaRefs>
</ds:datastoreItem>
</file>

<file path=customXml/itemProps5.xml><?xml version="1.0" encoding="utf-8"?>
<ds:datastoreItem xmlns:ds="http://schemas.openxmlformats.org/officeDocument/2006/customXml" ds:itemID="{3F306767-4664-4B14-B975-A5683092E94C}">
  <ds:schemaRefs>
    <ds:schemaRef ds:uri="http://macabacus.com"/>
  </ds:schemaRefs>
</ds:datastoreItem>
</file>

<file path=customXml/itemProps6.xml><?xml version="1.0" encoding="utf-8"?>
<ds:datastoreItem xmlns:ds="http://schemas.openxmlformats.org/officeDocument/2006/customXml" ds:itemID="{2A3C6A2B-B501-483D-8B09-45B406E80EB6}">
  <ds:schemaRefs>
    <ds:schemaRef ds:uri="http://macabacus.com"/>
  </ds:schemaRefs>
</ds:datastoreItem>
</file>

<file path=customXml/itemProps7.xml><?xml version="1.0" encoding="utf-8"?>
<ds:datastoreItem xmlns:ds="http://schemas.openxmlformats.org/officeDocument/2006/customXml" ds:itemID="{75303608-EDD5-446E-9527-DD37A1396F94}">
  <ds:schemaRefs>
    <ds:schemaRef ds:uri="http://macabacus.com"/>
  </ds:schemaRefs>
</ds:datastoreItem>
</file>

<file path=customXml/itemProps8.xml><?xml version="1.0" encoding="utf-8"?>
<ds:datastoreItem xmlns:ds="http://schemas.openxmlformats.org/officeDocument/2006/customXml" ds:itemID="{060E31B7-EAAB-4D10-BD59-6966D23424AD}">
  <ds:schemaRefs>
    <ds:schemaRef ds:uri="http://macabacus.com"/>
  </ds:schemaRefs>
</ds:datastoreItem>
</file>

<file path=customXml/itemProps9.xml><?xml version="1.0" encoding="utf-8"?>
<ds:datastoreItem xmlns:ds="http://schemas.openxmlformats.org/officeDocument/2006/customXml" ds:itemID="{C9507455-816F-4254-9CF8-8B9C4EB1431B}">
  <ds:schemaRefs>
    <ds:schemaRef ds:uri="http://macabacus.com"/>
  </ds:schemaRefs>
</ds:datastoreItem>
</file>

<file path=customXml/itemProps10.xml><?xml version="1.0" encoding="utf-8"?>
<ds:datastoreItem xmlns:ds="http://schemas.openxmlformats.org/officeDocument/2006/customXml" ds:itemID="{550D905A-1840-4CB8-B248-18B4A80B80D6}">
  <ds:schemaRefs>
    <ds:schemaRef ds:uri="http://macabacus.com"/>
  </ds:schemaRefs>
</ds:datastoreItem>
</file>

<file path=customXml/itemProps11.xml><?xml version="1.0" encoding="utf-8"?>
<ds:datastoreItem xmlns:ds="http://schemas.openxmlformats.org/officeDocument/2006/customXml" ds:itemID="{4DB1A4AD-FB36-45D2-93DE-E792E1C1DE15}">
  <ds:schemaRefs>
    <ds:schemaRef ds:uri="http://macabacus.com"/>
  </ds:schemaRefs>
</ds:datastoreItem>
</file>

<file path=customXml/itemProps12.xml><?xml version="1.0" encoding="utf-8"?>
<ds:datastoreItem xmlns:ds="http://schemas.openxmlformats.org/officeDocument/2006/customXml" ds:itemID="{671443EC-75C3-4544-A289-D9D428578426}">
  <ds:schemaRefs>
    <ds:schemaRef ds:uri="http://macabacus.com"/>
  </ds:schemaRefs>
</ds:datastoreItem>
</file>

<file path=customXml/itemProps13.xml><?xml version="1.0" encoding="utf-8"?>
<ds:datastoreItem xmlns:ds="http://schemas.openxmlformats.org/officeDocument/2006/customXml" ds:itemID="{2EA9E129-ED27-466E-BF86-590A6D772B04}">
  <ds:schemaRefs>
    <ds:schemaRef ds:uri="http://macabacus.com"/>
  </ds:schemaRefs>
</ds:datastoreItem>
</file>

<file path=customXml/itemProps14.xml><?xml version="1.0" encoding="utf-8"?>
<ds:datastoreItem xmlns:ds="http://schemas.openxmlformats.org/officeDocument/2006/customXml" ds:itemID="{A336470F-4198-4394-90DE-357AD52A020A}">
  <ds:schemaRefs>
    <ds:schemaRef ds:uri="http://macabacus.com"/>
  </ds:schemaRefs>
</ds:datastoreItem>
</file>

<file path=customXml/itemProps15.xml><?xml version="1.0" encoding="utf-8"?>
<ds:datastoreItem xmlns:ds="http://schemas.openxmlformats.org/officeDocument/2006/customXml" ds:itemID="{263CB93B-A20B-40C7-8137-66B2B7E81A48}">
  <ds:schemaRefs>
    <ds:schemaRef ds:uri="http://macabacus.com"/>
  </ds:schemaRefs>
</ds:datastoreItem>
</file>

<file path=customXml/itemProps16.xml><?xml version="1.0" encoding="utf-8"?>
<ds:datastoreItem xmlns:ds="http://schemas.openxmlformats.org/officeDocument/2006/customXml" ds:itemID="{94AEEB49-1FF7-4848-94DC-D56CBDC3194B}">
  <ds:schemaRefs>
    <ds:schemaRef ds:uri="http://macabacus.com"/>
  </ds:schemaRefs>
</ds:datastoreItem>
</file>

<file path=customXml/itemProps17.xml><?xml version="1.0" encoding="utf-8"?>
<ds:datastoreItem xmlns:ds="http://schemas.openxmlformats.org/officeDocument/2006/customXml" ds:itemID="{92F0377E-6BE3-4967-93F5-C4476410128A}">
  <ds:schemaRefs>
    <ds:schemaRef ds:uri="http://macabacus.com"/>
  </ds:schemaRefs>
</ds:datastoreItem>
</file>

<file path=customXml/itemProps18.xml><?xml version="1.0" encoding="utf-8"?>
<ds:datastoreItem xmlns:ds="http://schemas.openxmlformats.org/officeDocument/2006/customXml" ds:itemID="{4B5CD039-CA50-4F51-B46A-8DED96384D34}">
  <ds:schemaRefs>
    <ds:schemaRef ds:uri="http://macabacus.com"/>
  </ds:schemaRefs>
</ds:datastoreItem>
</file>

<file path=customXml/itemProps19.xml><?xml version="1.0" encoding="utf-8"?>
<ds:datastoreItem xmlns:ds="http://schemas.openxmlformats.org/officeDocument/2006/customXml" ds:itemID="{6186ECD5-0432-4595-91D3-DE1C10DE85B0}">
  <ds:schemaRefs>
    <ds:schemaRef ds:uri="http://macabacus.com"/>
  </ds:schemaRefs>
</ds:datastoreItem>
</file>

<file path=customXml/itemProps20.xml><?xml version="1.0" encoding="utf-8"?>
<ds:datastoreItem xmlns:ds="http://schemas.openxmlformats.org/officeDocument/2006/customXml" ds:itemID="{96A42BE5-0098-4369-B3D2-88BA3C2D62E4}">
  <ds:schemaRefs>
    <ds:schemaRef ds:uri="http://macabacus.com"/>
  </ds:schemaRefs>
</ds:datastoreItem>
</file>

<file path=customXml/itemProps21.xml><?xml version="1.0" encoding="utf-8"?>
<ds:datastoreItem xmlns:ds="http://schemas.openxmlformats.org/officeDocument/2006/customXml" ds:itemID="{C6570A7B-ECCB-43C6-B7D2-0928F7217E2E}">
  <ds:schemaRefs>
    <ds:schemaRef ds:uri="http://macabacus.com"/>
  </ds:schemaRefs>
</ds:datastoreItem>
</file>

<file path=customXml/itemProps22.xml><?xml version="1.0" encoding="utf-8"?>
<ds:datastoreItem xmlns:ds="http://schemas.openxmlformats.org/officeDocument/2006/customXml" ds:itemID="{6CAD533A-8DBA-4764-8659-BA8A46567EC7}">
  <ds:schemaRefs>
    <ds:schemaRef ds:uri="http://macabacus.com"/>
  </ds:schemaRefs>
</ds:datastoreItem>
</file>

<file path=customXml/itemProps23.xml><?xml version="1.0" encoding="utf-8"?>
<ds:datastoreItem xmlns:ds="http://schemas.openxmlformats.org/officeDocument/2006/customXml" ds:itemID="{5F0E317F-5CDD-4245-AC1A-C47048B1B28A}">
  <ds:schemaRefs>
    <ds:schemaRef ds:uri="http://macabacus.com"/>
  </ds:schemaRefs>
</ds:datastoreItem>
</file>

<file path=customXml/itemProps24.xml><?xml version="1.0" encoding="utf-8"?>
<ds:datastoreItem xmlns:ds="http://schemas.openxmlformats.org/officeDocument/2006/customXml" ds:itemID="{F268AA44-7F72-4408-9F14-9C65699ED944}">
  <ds:schemaRefs>
    <ds:schemaRef ds:uri="http://macabacus.com"/>
  </ds:schemaRefs>
</ds:datastoreItem>
</file>

<file path=customXml/itemProps25.xml><?xml version="1.0" encoding="utf-8"?>
<ds:datastoreItem xmlns:ds="http://schemas.openxmlformats.org/officeDocument/2006/customXml" ds:itemID="{AC3D7D10-DA7B-4C46-A440-D35FBEEB613C}">
  <ds:schemaRefs>
    <ds:schemaRef ds:uri="http://macabacus.com"/>
  </ds:schemaRefs>
</ds:datastoreItem>
</file>

<file path=customXml/itemProps26.xml><?xml version="1.0" encoding="utf-8"?>
<ds:datastoreItem xmlns:ds="http://schemas.openxmlformats.org/officeDocument/2006/customXml" ds:itemID="{2BE2369D-0F51-490B-967A-E772A297543D}">
  <ds:schemaRefs>
    <ds:schemaRef ds:uri="http://macabacus.com"/>
  </ds:schemaRefs>
</ds:datastoreItem>
</file>

<file path=customXml/itemProps27.xml><?xml version="1.0" encoding="utf-8"?>
<ds:datastoreItem xmlns:ds="http://schemas.openxmlformats.org/officeDocument/2006/customXml" ds:itemID="{74A2F58B-1863-463B-9A17-9FD6002DF3EA}">
  <ds:schemaRefs>
    <ds:schemaRef ds:uri="http://macabacus.com"/>
  </ds:schemaRefs>
</ds:datastoreItem>
</file>

<file path=customXml/itemProps28.xml><?xml version="1.0" encoding="utf-8"?>
<ds:datastoreItem xmlns:ds="http://schemas.openxmlformats.org/officeDocument/2006/customXml" ds:itemID="{21E72A72-0F4B-4A03-BBA3-6A27C826890C}">
  <ds:schemaRefs>
    <ds:schemaRef ds:uri="http://macabacus.com"/>
  </ds:schemaRefs>
</ds:datastoreItem>
</file>

<file path=customXml/itemProps29.xml><?xml version="1.0" encoding="utf-8"?>
<ds:datastoreItem xmlns:ds="http://schemas.openxmlformats.org/officeDocument/2006/customXml" ds:itemID="{84176A60-C5CE-4096-A469-0ABB795F69FC}">
  <ds:schemaRefs>
    <ds:schemaRef ds:uri="http://macabacus.com"/>
  </ds:schemaRefs>
</ds:datastoreItem>
</file>

<file path=customXml/itemProps30.xml><?xml version="1.0" encoding="utf-8"?>
<ds:datastoreItem xmlns:ds="http://schemas.openxmlformats.org/officeDocument/2006/customXml" ds:itemID="{B78937B7-6CED-4967-98F1-9C295EB845E6}">
  <ds:schemaRefs>
    <ds:schemaRef ds:uri="http://macabacus.com"/>
  </ds:schemaRefs>
</ds:datastoreItem>
</file>

<file path=customXml/itemProps31.xml><?xml version="1.0" encoding="utf-8"?>
<ds:datastoreItem xmlns:ds="http://schemas.openxmlformats.org/officeDocument/2006/customXml" ds:itemID="{6C499524-575A-4CC8-BB3E-4BD9850A135B}">
  <ds:schemaRefs>
    <ds:schemaRef ds:uri="http://macabacus.com"/>
  </ds:schemaRefs>
</ds:datastoreItem>
</file>

<file path=customXml/itemProps32.xml><?xml version="1.0" encoding="utf-8"?>
<ds:datastoreItem xmlns:ds="http://schemas.openxmlformats.org/officeDocument/2006/customXml" ds:itemID="{D59F5F65-2F5B-4E00-92BD-12AEB232CBFB}">
  <ds:schemaRefs>
    <ds:schemaRef ds:uri="http://macabacus.com"/>
  </ds:schemaRefs>
</ds:datastoreItem>
</file>

<file path=customXml/itemProps33.xml><?xml version="1.0" encoding="utf-8"?>
<ds:datastoreItem xmlns:ds="http://schemas.openxmlformats.org/officeDocument/2006/customXml" ds:itemID="{96315420-B635-4BA3-AD64-ED3197249883}">
  <ds:schemaRefs>
    <ds:schemaRef ds:uri="http://macabacus.com"/>
  </ds:schemaRefs>
</ds:datastoreItem>
</file>

<file path=customXml/itemProps34.xml><?xml version="1.0" encoding="utf-8"?>
<ds:datastoreItem xmlns:ds="http://schemas.openxmlformats.org/officeDocument/2006/customXml" ds:itemID="{45633EBB-578B-4C7B-93AC-4E29E4D8C720}">
  <ds:schemaRefs>
    <ds:schemaRef ds:uri="http://macabacus.com"/>
  </ds:schemaRefs>
</ds:datastoreItem>
</file>

<file path=customXml/itemProps35.xml><?xml version="1.0" encoding="utf-8"?>
<ds:datastoreItem xmlns:ds="http://schemas.openxmlformats.org/officeDocument/2006/customXml" ds:itemID="{C9A0195F-520C-464B-A87E-C3BAC10A9A4B}">
  <ds:schemaRefs>
    <ds:schemaRef ds:uri="http://macabacus.com"/>
  </ds:schemaRefs>
</ds:datastoreItem>
</file>

<file path=customXml/itemProps36.xml><?xml version="1.0" encoding="utf-8"?>
<ds:datastoreItem xmlns:ds="http://schemas.openxmlformats.org/officeDocument/2006/customXml" ds:itemID="{75E58F22-32D1-473D-873C-6F981620686F}">
  <ds:schemaRefs>
    <ds:schemaRef ds:uri="http://macabacus.com"/>
  </ds:schemaRefs>
</ds:datastoreItem>
</file>

<file path=customXml/itemProps37.xml><?xml version="1.0" encoding="utf-8"?>
<ds:datastoreItem xmlns:ds="http://schemas.openxmlformats.org/officeDocument/2006/customXml" ds:itemID="{30A181CB-C4A9-4042-9ABF-5A445AE688A4}">
  <ds:schemaRefs>
    <ds:schemaRef ds:uri="http://macabacus.com"/>
  </ds:schemaRefs>
</ds:datastoreItem>
</file>

<file path=customXml/itemProps38.xml><?xml version="1.0" encoding="utf-8"?>
<ds:datastoreItem xmlns:ds="http://schemas.openxmlformats.org/officeDocument/2006/customXml" ds:itemID="{0EE1E98B-F3F6-4C3A-B3F4-D56F144C0ED1}">
  <ds:schemaRefs>
    <ds:schemaRef ds:uri="http://macabacus.com"/>
  </ds:schemaRefs>
</ds:datastoreItem>
</file>

<file path=customXml/itemProps39.xml><?xml version="1.0" encoding="utf-8"?>
<ds:datastoreItem xmlns:ds="http://schemas.openxmlformats.org/officeDocument/2006/customXml" ds:itemID="{149A8EE8-FAF9-4F0F-A58D-DE805C526F65}">
  <ds:schemaRefs>
    <ds:schemaRef ds:uri="http://macabacus.com"/>
  </ds:schemaRefs>
</ds:datastoreItem>
</file>

<file path=customXml/itemProps40.xml><?xml version="1.0" encoding="utf-8"?>
<ds:datastoreItem xmlns:ds="http://schemas.openxmlformats.org/officeDocument/2006/customXml" ds:itemID="{453648E7-00C6-44CE-8CCF-B935E9B1F836}">
  <ds:schemaRefs>
    <ds:schemaRef ds:uri="http://macabacus.com"/>
  </ds:schemaRefs>
</ds:datastoreItem>
</file>

<file path=customXml/itemProps41.xml><?xml version="1.0" encoding="utf-8"?>
<ds:datastoreItem xmlns:ds="http://schemas.openxmlformats.org/officeDocument/2006/customXml" ds:itemID="{8F3F4184-DC13-4E48-BF95-83D24BFDCB59}">
  <ds:schemaRefs>
    <ds:schemaRef ds:uri="http://macabacus.com"/>
  </ds:schemaRefs>
</ds:datastoreItem>
</file>

<file path=customXml/itemProps42.xml><?xml version="1.0" encoding="utf-8"?>
<ds:datastoreItem xmlns:ds="http://schemas.openxmlformats.org/officeDocument/2006/customXml" ds:itemID="{37AC0175-97FD-4709-BFA4-236FDE52EAD6}">
  <ds:schemaRefs>
    <ds:schemaRef ds:uri="http://macabacus.com"/>
  </ds:schemaRefs>
</ds:datastoreItem>
</file>

<file path=customXml/itemProps43.xml><?xml version="1.0" encoding="utf-8"?>
<ds:datastoreItem xmlns:ds="http://schemas.openxmlformats.org/officeDocument/2006/customXml" ds:itemID="{240A18A4-47C8-41F8-907A-BDD48939CB1E}">
  <ds:schemaRefs>
    <ds:schemaRef ds:uri="http://macabacus.com"/>
  </ds:schemaRefs>
</ds:datastoreItem>
</file>

<file path=customXml/itemProps44.xml><?xml version="1.0" encoding="utf-8"?>
<ds:datastoreItem xmlns:ds="http://schemas.openxmlformats.org/officeDocument/2006/customXml" ds:itemID="{828BBFB9-B2F5-4A23-8821-8D98CCD5379F}">
  <ds:schemaRefs>
    <ds:schemaRef ds:uri="http://macabacus.com"/>
  </ds:schemaRefs>
</ds:datastoreItem>
</file>

<file path=customXml/itemProps45.xml><?xml version="1.0" encoding="utf-8"?>
<ds:datastoreItem xmlns:ds="http://schemas.openxmlformats.org/officeDocument/2006/customXml" ds:itemID="{6D06D0E4-067B-4C5E-9C1B-EB0284B77838}">
  <ds:schemaRefs>
    <ds:schemaRef ds:uri="http://macabacus.com"/>
  </ds:schemaRefs>
</ds:datastoreItem>
</file>

<file path=customXml/itemProps46.xml><?xml version="1.0" encoding="utf-8"?>
<ds:datastoreItem xmlns:ds="http://schemas.openxmlformats.org/officeDocument/2006/customXml" ds:itemID="{3C45D92A-2DFF-480C-9B58-A1E452909B84}">
  <ds:schemaRefs>
    <ds:schemaRef ds:uri="http://macabacus.com"/>
  </ds:schemaRefs>
</ds:datastoreItem>
</file>

<file path=customXml/itemProps47.xml><?xml version="1.0" encoding="utf-8"?>
<ds:datastoreItem xmlns:ds="http://schemas.openxmlformats.org/officeDocument/2006/customXml" ds:itemID="{6EB3DE9F-BEE9-45D9-BC17-00C3B46DD685}">
  <ds:schemaRefs>
    <ds:schemaRef ds:uri="http://purl.org/dc/dcmitype/"/>
    <ds:schemaRef ds:uri="http://schemas.microsoft.com/office/2006/documentManagement/types"/>
    <ds:schemaRef ds:uri="http://schemas.microsoft.com/office/2006/metadata/properties"/>
    <ds:schemaRef ds:uri="http://www.w3.org/XML/1998/namespace"/>
    <ds:schemaRef ds:uri="http://purl.org/dc/terms/"/>
    <ds:schemaRef ds:uri="http://schemas.microsoft.com/office/infopath/2007/PartnerControls"/>
    <ds:schemaRef ds:uri="32a12548-025c-4113-be0a-5de40f156b7f"/>
    <ds:schemaRef ds:uri="http://schemas.openxmlformats.org/package/2006/metadata/core-properties"/>
    <ds:schemaRef ds:uri="ad0c4147-2d43-4434-966d-a4e58ac9e85a"/>
    <ds:schemaRef ds:uri="http://purl.org/dc/elements/1.1/"/>
  </ds:schemaRefs>
</ds:datastoreItem>
</file>

<file path=customXml/itemProps48.xml><?xml version="1.0" encoding="utf-8"?>
<ds:datastoreItem xmlns:ds="http://schemas.openxmlformats.org/officeDocument/2006/customXml" ds:itemID="{AFDAF6D5-468B-4C41-BB33-F8C62B0740C6}">
  <ds:schemaRefs>
    <ds:schemaRef ds:uri="http://macabacus.com"/>
  </ds:schemaRefs>
</ds:datastoreItem>
</file>

<file path=customXml/itemProps49.xml><?xml version="1.0" encoding="utf-8"?>
<ds:datastoreItem xmlns:ds="http://schemas.openxmlformats.org/officeDocument/2006/customXml" ds:itemID="{91EEAC99-15C0-42ED-AD86-D2686EBF1DA2}">
  <ds:schemaRefs>
    <ds:schemaRef ds:uri="http://macabacus.com"/>
  </ds:schemaRefs>
</ds:datastoreItem>
</file>

<file path=customXml/itemProps50.xml><?xml version="1.0" encoding="utf-8"?>
<ds:datastoreItem xmlns:ds="http://schemas.openxmlformats.org/officeDocument/2006/customXml" ds:itemID="{F8D26A2D-69D9-4420-B593-4E039EC17DF5}">
  <ds:schemaRefs>
    <ds:schemaRef ds:uri="http://macabacus.com"/>
  </ds:schemaRefs>
</ds:datastoreItem>
</file>

<file path=customXml/itemProps51.xml><?xml version="1.0" encoding="utf-8"?>
<ds:datastoreItem xmlns:ds="http://schemas.openxmlformats.org/officeDocument/2006/customXml" ds:itemID="{6F74B883-01D0-491F-AC29-F1B1F36A687B}">
  <ds:schemaRefs>
    <ds:schemaRef ds:uri="http://macabacus.com"/>
  </ds:schemaRefs>
</ds:datastoreItem>
</file>

<file path=customXml/itemProps52.xml><?xml version="1.0" encoding="utf-8"?>
<ds:datastoreItem xmlns:ds="http://schemas.openxmlformats.org/officeDocument/2006/customXml" ds:itemID="{8EC9C2FB-156C-4C94-9EA1-947D106A7A1C}">
  <ds:schemaRefs>
    <ds:schemaRef ds:uri="http://macabacus.com"/>
  </ds:schemaRefs>
</ds:datastoreItem>
</file>

<file path=customXml/itemProps53.xml><?xml version="1.0" encoding="utf-8"?>
<ds:datastoreItem xmlns:ds="http://schemas.openxmlformats.org/officeDocument/2006/customXml" ds:itemID="{4E7DBD33-61D1-40AC-854D-8450BED07E7A}">
  <ds:schemaRefs>
    <ds:schemaRef ds:uri="http://macabacus.com"/>
  </ds:schemaRefs>
</ds:datastoreItem>
</file>

<file path=customXml/itemProps54.xml><?xml version="1.0" encoding="utf-8"?>
<ds:datastoreItem xmlns:ds="http://schemas.openxmlformats.org/officeDocument/2006/customXml" ds:itemID="{A02840BE-FEC0-4982-AC1C-360DB1E54A68}">
  <ds:schemaRefs>
    <ds:schemaRef ds:uri="http://macabacus.com"/>
  </ds:schemaRefs>
</ds:datastoreItem>
</file>

<file path=customXml/itemProps55.xml><?xml version="1.0" encoding="utf-8"?>
<ds:datastoreItem xmlns:ds="http://schemas.openxmlformats.org/officeDocument/2006/customXml" ds:itemID="{DAE1DB7B-35E0-4ECA-93EC-ECC5FE3E17EE}">
  <ds:schemaRefs>
    <ds:schemaRef ds:uri="http://macabacus.com"/>
  </ds:schemaRefs>
</ds:datastoreItem>
</file>

<file path=customXml/itemProps56.xml><?xml version="1.0" encoding="utf-8"?>
<ds:datastoreItem xmlns:ds="http://schemas.openxmlformats.org/officeDocument/2006/customXml" ds:itemID="{E8EF96AF-4EB1-49DE-907B-BFAE887F46CE}">
  <ds:schemaRefs>
    <ds:schemaRef ds:uri="http://macabacus.com"/>
  </ds:schemaRefs>
</ds:datastoreItem>
</file>

<file path=customXml/itemProps57.xml><?xml version="1.0" encoding="utf-8"?>
<ds:datastoreItem xmlns:ds="http://schemas.openxmlformats.org/officeDocument/2006/customXml" ds:itemID="{2485ED8E-DB3A-47DC-8B22-564356DAB3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2a12548-025c-4113-be0a-5de40f156b7f"/>
    <ds:schemaRef ds:uri="ad0c4147-2d43-4434-966d-a4e58ac9e85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8.xml><?xml version="1.0" encoding="utf-8"?>
<ds:datastoreItem xmlns:ds="http://schemas.openxmlformats.org/officeDocument/2006/customXml" ds:itemID="{A15087E0-4D39-4D26-957A-F9BF8AB7CD15}">
  <ds:schemaRefs>
    <ds:schemaRef ds:uri="http://macabacus.com"/>
  </ds:schemaRefs>
</ds:datastoreItem>
</file>

<file path=customXml/itemProps59.xml><?xml version="1.0" encoding="utf-8"?>
<ds:datastoreItem xmlns:ds="http://schemas.openxmlformats.org/officeDocument/2006/customXml" ds:itemID="{79517373-9F58-42BE-A4F1-0098EF5D4D0C}">
  <ds:schemaRefs>
    <ds:schemaRef ds:uri="http://macabacus.com"/>
  </ds:schemaRefs>
</ds:datastoreItem>
</file>

<file path=customXml/itemProps60.xml><?xml version="1.0" encoding="utf-8"?>
<ds:datastoreItem xmlns:ds="http://schemas.openxmlformats.org/officeDocument/2006/customXml" ds:itemID="{ECA05229-FA42-44D7-9C2F-E2408D0994AD}">
  <ds:schemaRefs>
    <ds:schemaRef ds:uri="http://macabacus.com"/>
  </ds:schemaRefs>
</ds:datastoreItem>
</file>

<file path=customXml/itemProps61.xml><?xml version="1.0" encoding="utf-8"?>
<ds:datastoreItem xmlns:ds="http://schemas.openxmlformats.org/officeDocument/2006/customXml" ds:itemID="{1A6767FF-8AAD-4940-8281-2C6331C33D96}">
  <ds:schemaRefs>
    <ds:schemaRef ds:uri="http://macabacus.com"/>
  </ds:schemaRefs>
</ds:datastoreItem>
</file>

<file path=customXml/itemProps62.xml><?xml version="1.0" encoding="utf-8"?>
<ds:datastoreItem xmlns:ds="http://schemas.openxmlformats.org/officeDocument/2006/customXml" ds:itemID="{D8700D8D-62CA-481B-B998-7BE282AEF742}">
  <ds:schemaRefs>
    <ds:schemaRef ds:uri="http://macabacus.com"/>
  </ds:schemaRefs>
</ds:datastoreItem>
</file>

<file path=customXml/itemProps63.xml><?xml version="1.0" encoding="utf-8"?>
<ds:datastoreItem xmlns:ds="http://schemas.openxmlformats.org/officeDocument/2006/customXml" ds:itemID="{27FD3BE9-08A7-4951-A451-96DA79C01D23}">
  <ds:schemaRefs>
    <ds:schemaRef ds:uri="http://macabacus.com"/>
  </ds:schemaRefs>
</ds:datastoreItem>
</file>

<file path=customXml/itemProps64.xml><?xml version="1.0" encoding="utf-8"?>
<ds:datastoreItem xmlns:ds="http://schemas.openxmlformats.org/officeDocument/2006/customXml" ds:itemID="{8224CE37-2AC9-4E57-A290-E612B28B1E29}">
  <ds:schemaRefs>
    <ds:schemaRef ds:uri="http://macabacus.com"/>
  </ds:schemaRefs>
</ds:datastoreItem>
</file>

<file path=customXml/itemProps65.xml><?xml version="1.0" encoding="utf-8"?>
<ds:datastoreItem xmlns:ds="http://schemas.openxmlformats.org/officeDocument/2006/customXml" ds:itemID="{135AED11-E2E2-48F5-BD3B-9F087132F148}">
  <ds:schemaRefs>
    <ds:schemaRef ds:uri="http://macabacus.com"/>
  </ds:schemaRefs>
</ds:datastoreItem>
</file>

<file path=customXml/itemProps66.xml><?xml version="1.0" encoding="utf-8"?>
<ds:datastoreItem xmlns:ds="http://schemas.openxmlformats.org/officeDocument/2006/customXml" ds:itemID="{1551A933-4240-4E61-A1DD-C587CC4521E9}">
  <ds:schemaRefs>
    <ds:schemaRef ds:uri="http://macabacus.com"/>
  </ds:schemaRefs>
</ds:datastoreItem>
</file>

<file path=customXml/itemProps67.xml><?xml version="1.0" encoding="utf-8"?>
<ds:datastoreItem xmlns:ds="http://schemas.openxmlformats.org/officeDocument/2006/customXml" ds:itemID="{6FD65DFD-96EE-47DE-9ECE-92962A30AE8E}">
  <ds:schemaRefs>
    <ds:schemaRef ds:uri="http://macabacus.com"/>
  </ds:schemaRefs>
</ds:datastoreItem>
</file>

<file path=customXml/itemProps68.xml><?xml version="1.0" encoding="utf-8"?>
<ds:datastoreItem xmlns:ds="http://schemas.openxmlformats.org/officeDocument/2006/customXml" ds:itemID="{B66B62CF-60AD-46A3-AA4B-E25ECC580B08}">
  <ds:schemaRefs>
    <ds:schemaRef ds:uri="http://macabacus.com"/>
  </ds:schemaRefs>
</ds:datastoreItem>
</file>

<file path=customXml/itemProps69.xml><?xml version="1.0" encoding="utf-8"?>
<ds:datastoreItem xmlns:ds="http://schemas.openxmlformats.org/officeDocument/2006/customXml" ds:itemID="{026E6971-A25B-4691-B6AB-872A4B216A56}">
  <ds:schemaRefs>
    <ds:schemaRef ds:uri="http://macabacus.com"/>
  </ds:schemaRefs>
</ds:datastoreItem>
</file>

<file path=customXml/itemProps70.xml><?xml version="1.0" encoding="utf-8"?>
<ds:datastoreItem xmlns:ds="http://schemas.openxmlformats.org/officeDocument/2006/customXml" ds:itemID="{8A23D2F2-04A4-4EE7-A793-E0543ECBBCF9}">
  <ds:schemaRefs>
    <ds:schemaRef ds:uri="http://macabacus.com"/>
  </ds:schemaRefs>
</ds:datastoreItem>
</file>

<file path=customXml/itemProps71.xml><?xml version="1.0" encoding="utf-8"?>
<ds:datastoreItem xmlns:ds="http://schemas.openxmlformats.org/officeDocument/2006/customXml" ds:itemID="{8A14217F-6C52-425C-B096-1E1D2690959E}">
  <ds:schemaRefs>
    <ds:schemaRef ds:uri="http://macabacus.com"/>
  </ds:schemaRefs>
</ds:datastoreItem>
</file>

<file path=customXml/itemProps72.xml><?xml version="1.0" encoding="utf-8"?>
<ds:datastoreItem xmlns:ds="http://schemas.openxmlformats.org/officeDocument/2006/customXml" ds:itemID="{9066CBFA-1D84-48FB-8F84-9A0C96FA636D}">
  <ds:schemaRefs>
    <ds:schemaRef ds:uri="http://macabacus.com"/>
  </ds:schemaRefs>
</ds:datastoreItem>
</file>

<file path=customXml/itemProps73.xml><?xml version="1.0" encoding="utf-8"?>
<ds:datastoreItem xmlns:ds="http://schemas.openxmlformats.org/officeDocument/2006/customXml" ds:itemID="{D395FDE2-DCDA-44FB-99D6-EB6FCC6A5548}">
  <ds:schemaRefs>
    <ds:schemaRef ds:uri="http://macabacus.com"/>
  </ds:schemaRefs>
</ds:datastoreItem>
</file>

<file path=customXml/itemProps74.xml><?xml version="1.0" encoding="utf-8"?>
<ds:datastoreItem xmlns:ds="http://schemas.openxmlformats.org/officeDocument/2006/customXml" ds:itemID="{653109CF-558B-4EDB-AF2E-1C87DE3D1396}">
  <ds:schemaRefs>
    <ds:schemaRef ds:uri="http://macabacus.com"/>
  </ds:schemaRefs>
</ds:datastoreItem>
</file>

<file path=customXml/itemProps75.xml><?xml version="1.0" encoding="utf-8"?>
<ds:datastoreItem xmlns:ds="http://schemas.openxmlformats.org/officeDocument/2006/customXml" ds:itemID="{4FD8E487-F81B-4EE6-9364-ED05FF32A0B0}">
  <ds:schemaRefs>
    <ds:schemaRef ds:uri="http://macabacus.com"/>
  </ds:schemaRefs>
</ds:datastoreItem>
</file>

<file path=customXml/itemProps76.xml><?xml version="1.0" encoding="utf-8"?>
<ds:datastoreItem xmlns:ds="http://schemas.openxmlformats.org/officeDocument/2006/customXml" ds:itemID="{F0D091EA-36EC-42F8-A919-8F43F0BFC2C2}">
  <ds:schemaRefs>
    <ds:schemaRef ds:uri="http://macabacus.com"/>
  </ds:schemaRefs>
</ds:datastoreItem>
</file>

<file path=customXml/itemProps77.xml><?xml version="1.0" encoding="utf-8"?>
<ds:datastoreItem xmlns:ds="http://schemas.openxmlformats.org/officeDocument/2006/customXml" ds:itemID="{D014C11A-0CB9-479C-B3CC-CF3C2287EE75}">
  <ds:schemaRefs>
    <ds:schemaRef ds:uri="http://macabacus.com"/>
  </ds:schemaRefs>
</ds:datastoreItem>
</file>

<file path=customXml/itemProps78.xml><?xml version="1.0" encoding="utf-8"?>
<ds:datastoreItem xmlns:ds="http://schemas.openxmlformats.org/officeDocument/2006/customXml" ds:itemID="{DC051E33-C373-49B6-B473-0A96332C9C23}">
  <ds:schemaRefs>
    <ds:schemaRef ds:uri="http://macabacus.com"/>
  </ds:schemaRefs>
</ds:datastoreItem>
</file>

<file path=customXml/itemProps79.xml><?xml version="1.0" encoding="utf-8"?>
<ds:datastoreItem xmlns:ds="http://schemas.openxmlformats.org/officeDocument/2006/customXml" ds:itemID="{69ED915A-16BA-4162-AB93-F9B3D20274A1}">
  <ds:schemaRefs>
    <ds:schemaRef ds:uri="http://macabacus.com"/>
  </ds:schemaRefs>
</ds:datastoreItem>
</file>

<file path=customXml/itemProps80.xml><?xml version="1.0" encoding="utf-8"?>
<ds:datastoreItem xmlns:ds="http://schemas.openxmlformats.org/officeDocument/2006/customXml" ds:itemID="{0278805A-B6E0-4ACE-B365-E5FC9EC16178}">
  <ds:schemaRefs>
    <ds:schemaRef ds:uri="http://macabacus.com"/>
  </ds:schemaRefs>
</ds:datastoreItem>
</file>

<file path=customXml/itemProps81.xml><?xml version="1.0" encoding="utf-8"?>
<ds:datastoreItem xmlns:ds="http://schemas.openxmlformats.org/officeDocument/2006/customXml" ds:itemID="{2957749B-F412-42E5-AF9C-8EFBB7EDFCFF}">
  <ds:schemaRefs>
    <ds:schemaRef ds:uri="http://macabacus.com"/>
  </ds:schemaRefs>
</ds:datastoreItem>
</file>

<file path=customXml/itemProps82.xml><?xml version="1.0" encoding="utf-8"?>
<ds:datastoreItem xmlns:ds="http://schemas.openxmlformats.org/officeDocument/2006/customXml" ds:itemID="{E87F85AD-EF6D-4F4B-8AD6-791F8294E1E1}">
  <ds:schemaRefs>
    <ds:schemaRef ds:uri="http://macabacus.com"/>
  </ds:schemaRefs>
</ds:datastoreItem>
</file>

<file path=customXml/itemProps83.xml><?xml version="1.0" encoding="utf-8"?>
<ds:datastoreItem xmlns:ds="http://schemas.openxmlformats.org/officeDocument/2006/customXml" ds:itemID="{2872A061-3A62-476F-A0A2-FE5B075CE8EF}">
  <ds:schemaRefs>
    <ds:schemaRef ds:uri="http://macabacus.com"/>
  </ds:schemaRefs>
</ds:datastoreItem>
</file>

<file path=customXml/itemProps84.xml><?xml version="1.0" encoding="utf-8"?>
<ds:datastoreItem xmlns:ds="http://schemas.openxmlformats.org/officeDocument/2006/customXml" ds:itemID="{1A046D5D-7BC6-41BE-A417-A350A80DE7B6}">
  <ds:schemaRefs>
    <ds:schemaRef ds:uri="http://macabacus.com"/>
  </ds:schemaRefs>
</ds:datastoreItem>
</file>

<file path=customXml/itemProps85.xml><?xml version="1.0" encoding="utf-8"?>
<ds:datastoreItem xmlns:ds="http://schemas.openxmlformats.org/officeDocument/2006/customXml" ds:itemID="{366104C4-CC19-40E5-9BBE-368DA0B50B87}">
  <ds:schemaRefs>
    <ds:schemaRef ds:uri="http://macabacus.com"/>
  </ds:schemaRefs>
</ds:datastoreItem>
</file>

<file path=customXml/itemProps86.xml><?xml version="1.0" encoding="utf-8"?>
<ds:datastoreItem xmlns:ds="http://schemas.openxmlformats.org/officeDocument/2006/customXml" ds:itemID="{4AA0FDB8-0E01-4690-A96C-E8AA4B17154D}">
  <ds:schemaRefs>
    <ds:schemaRef ds:uri="http://macabacus.com"/>
  </ds:schemaRefs>
</ds:datastoreItem>
</file>

<file path=customXml/itemProps87.xml><?xml version="1.0" encoding="utf-8"?>
<ds:datastoreItem xmlns:ds="http://schemas.openxmlformats.org/officeDocument/2006/customXml" ds:itemID="{5CF2C4E1-6B68-45AA-A6FD-42AB4E713F35}">
  <ds:schemaRefs>
    <ds:schemaRef ds:uri="http://macabacus.com"/>
  </ds:schemaRefs>
</ds:datastoreItem>
</file>

<file path=customXml/itemProps88.xml><?xml version="1.0" encoding="utf-8"?>
<ds:datastoreItem xmlns:ds="http://schemas.openxmlformats.org/officeDocument/2006/customXml" ds:itemID="{8335B9E6-8E9C-4193-B118-B8BCC70B74E9}">
  <ds:schemaRefs>
    <ds:schemaRef ds:uri="http://macabacus.com"/>
  </ds:schemaRefs>
</ds:datastoreItem>
</file>

<file path=customXml/itemProps89.xml><?xml version="1.0" encoding="utf-8"?>
<ds:datastoreItem xmlns:ds="http://schemas.openxmlformats.org/officeDocument/2006/customXml" ds:itemID="{61CAF986-50B4-4EEB-B960-EA6507E45A95}">
  <ds:schemaRefs>
    <ds:schemaRef ds:uri="http://macabacus.com"/>
  </ds:schemaRefs>
</ds:datastoreItem>
</file>

<file path=customXml/itemProps90.xml><?xml version="1.0" encoding="utf-8"?>
<ds:datastoreItem xmlns:ds="http://schemas.openxmlformats.org/officeDocument/2006/customXml" ds:itemID="{737BA18B-C454-4325-855B-35E89164B159}">
  <ds:schemaRefs>
    <ds:schemaRef ds:uri="http://macabacus.com"/>
  </ds:schemaRefs>
</ds:datastoreItem>
</file>

<file path=customXml/itemProps91.xml><?xml version="1.0" encoding="utf-8"?>
<ds:datastoreItem xmlns:ds="http://schemas.openxmlformats.org/officeDocument/2006/customXml" ds:itemID="{A2C983DD-E8B1-49FB-BF06-72675BD1246C}">
  <ds:schemaRefs>
    <ds:schemaRef ds:uri="http://macabacus.com"/>
  </ds:schemaRefs>
</ds:datastoreItem>
</file>

<file path=customXml/itemProps92.xml><?xml version="1.0" encoding="utf-8"?>
<ds:datastoreItem xmlns:ds="http://schemas.openxmlformats.org/officeDocument/2006/customXml" ds:itemID="{34C00308-DC6B-4312-BC94-0453E0AC4D08}">
  <ds:schemaRefs>
    <ds:schemaRef ds:uri="http://macabacus.com"/>
  </ds:schemaRefs>
</ds:datastoreItem>
</file>

<file path=customXml/itemProps93.xml><?xml version="1.0" encoding="utf-8"?>
<ds:datastoreItem xmlns:ds="http://schemas.openxmlformats.org/officeDocument/2006/customXml" ds:itemID="{B15DC8DE-4E41-49F2-BEB1-4C5F782A05C4}">
  <ds:schemaRefs>
    <ds:schemaRef ds:uri="http://macabacus.com"/>
  </ds:schemaRefs>
</ds:datastoreItem>
</file>

<file path=customXml/itemProps94.xml><?xml version="1.0" encoding="utf-8"?>
<ds:datastoreItem xmlns:ds="http://schemas.openxmlformats.org/officeDocument/2006/customXml" ds:itemID="{624ADC78-020B-4B98-9193-4D2D1A232A69}">
  <ds:schemaRefs>
    <ds:schemaRef ds:uri="http://macabacus.com"/>
  </ds:schemaRefs>
</ds:datastoreItem>
</file>

<file path=customXml/itemProps95.xml><?xml version="1.0" encoding="utf-8"?>
<ds:datastoreItem xmlns:ds="http://schemas.openxmlformats.org/officeDocument/2006/customXml" ds:itemID="{777C1E19-D61D-4BD1-A54B-483E91D29678}">
  <ds:schemaRefs>
    <ds:schemaRef ds:uri="http://macabacus.com"/>
  </ds:schemaRefs>
</ds:datastoreItem>
</file>

<file path=customXml/itemProps96.xml><?xml version="1.0" encoding="utf-8"?>
<ds:datastoreItem xmlns:ds="http://schemas.openxmlformats.org/officeDocument/2006/customXml" ds:itemID="{9BBAE588-F412-4A99-B99D-83F512F6C267}">
  <ds:schemaRefs>
    <ds:schemaRef ds:uri="http://macabacus.com"/>
  </ds:schemaRefs>
</ds:datastoreItem>
</file>

<file path=customXml/itemProps97.xml><?xml version="1.0" encoding="utf-8"?>
<ds:datastoreItem xmlns:ds="http://schemas.openxmlformats.org/officeDocument/2006/customXml" ds:itemID="{48A0D701-53B6-4964-BFAD-B8FCAB125AF3}">
  <ds:schemaRefs>
    <ds:schemaRef ds:uri="http://macabacus.com"/>
  </ds:schemaRefs>
</ds:datastoreItem>
</file>

<file path=customXml/itemProps98.xml><?xml version="1.0" encoding="utf-8"?>
<ds:datastoreItem xmlns:ds="http://schemas.openxmlformats.org/officeDocument/2006/customXml" ds:itemID="{E9A9520D-252E-47D5-AE22-67DF5E6D8E89}">
  <ds:schemaRefs>
    <ds:schemaRef ds:uri="http://macabacus.com"/>
  </ds:schemaRefs>
</ds:datastoreItem>
</file>

<file path=customXml/itemProps99.xml><?xml version="1.0" encoding="utf-8"?>
<ds:datastoreItem xmlns:ds="http://schemas.openxmlformats.org/officeDocument/2006/customXml" ds:itemID="{5732FC22-B878-4CD7-A0E5-E150D751F040}">
  <ds:schemaRefs>
    <ds:schemaRef ds:uri="http://macabacus.com"/>
  </ds:schemaRefs>
</ds:datastoreItem>
</file>

<file path=customXml/itemProps100.xml><?xml version="1.0" encoding="utf-8"?>
<ds:datastoreItem xmlns:ds="http://schemas.openxmlformats.org/officeDocument/2006/customXml" ds:itemID="{21E277FB-74C8-4098-A891-DC180DA11D66}">
  <ds:schemaRefs>
    <ds:schemaRef ds:uri="http://macabacus.com"/>
  </ds:schemaRefs>
</ds:datastoreItem>
</file>

<file path=customXml/itemProps101.xml><?xml version="1.0" encoding="utf-8"?>
<ds:datastoreItem xmlns:ds="http://schemas.openxmlformats.org/officeDocument/2006/customXml" ds:itemID="{04DEB12B-8F62-49EF-AA9D-6ECE1CD23AA0}">
  <ds:schemaRefs>
    <ds:schemaRef ds:uri="http://macabacus.com"/>
  </ds:schemaRefs>
</ds:datastoreItem>
</file>

<file path=customXml/itemProps102.xml><?xml version="1.0" encoding="utf-8"?>
<ds:datastoreItem xmlns:ds="http://schemas.openxmlformats.org/officeDocument/2006/customXml" ds:itemID="{52A03F70-6738-43CD-A349-996DE52D49CF}">
  <ds:schemaRefs>
    <ds:schemaRef ds:uri="http://macabacus.com"/>
  </ds:schemaRefs>
</ds:datastoreItem>
</file>

<file path=customXml/itemProps103.xml><?xml version="1.0" encoding="utf-8"?>
<ds:datastoreItem xmlns:ds="http://schemas.openxmlformats.org/officeDocument/2006/customXml" ds:itemID="{5A0E3FFC-BC1B-4313-8A6D-8AE2AE15BF53}">
  <ds:schemaRefs>
    <ds:schemaRef ds:uri="http://macabacus.com"/>
  </ds:schemaRefs>
</ds:datastoreItem>
</file>

<file path=customXml/itemProps104.xml><?xml version="1.0" encoding="utf-8"?>
<ds:datastoreItem xmlns:ds="http://schemas.openxmlformats.org/officeDocument/2006/customXml" ds:itemID="{CF6370B2-B797-4A92-8D4E-6AB628AD784B}">
  <ds:schemaRefs>
    <ds:schemaRef ds:uri="http://macabacus.com"/>
  </ds:schemaRefs>
</ds:datastoreItem>
</file>

<file path=customXml/itemProps105.xml><?xml version="1.0" encoding="utf-8"?>
<ds:datastoreItem xmlns:ds="http://schemas.openxmlformats.org/officeDocument/2006/customXml" ds:itemID="{0A92F38C-85E9-4AC0-BF0E-E22A4AD79D09}">
  <ds:schemaRefs>
    <ds:schemaRef ds:uri="http://macabacus.com"/>
  </ds:schemaRefs>
</ds:datastoreItem>
</file>

<file path=customXml/itemProps106.xml><?xml version="1.0" encoding="utf-8"?>
<ds:datastoreItem xmlns:ds="http://schemas.openxmlformats.org/officeDocument/2006/customXml" ds:itemID="{CF6CBFF1-1DC0-45B0-9DAA-840B67239381}">
  <ds:schemaRefs>
    <ds:schemaRef ds:uri="http://macabacus.com"/>
  </ds:schemaRefs>
</ds:datastoreItem>
</file>

<file path=customXml/itemProps107.xml><?xml version="1.0" encoding="utf-8"?>
<ds:datastoreItem xmlns:ds="http://schemas.openxmlformats.org/officeDocument/2006/customXml" ds:itemID="{193BF2A5-6AC1-41F0-9A65-CE83FA056F80}">
  <ds:schemaRefs>
    <ds:schemaRef ds:uri="http://macabacus.com"/>
  </ds:schemaRefs>
</ds:datastoreItem>
</file>

<file path=customXml/itemProps108.xml><?xml version="1.0" encoding="utf-8"?>
<ds:datastoreItem xmlns:ds="http://schemas.openxmlformats.org/officeDocument/2006/customXml" ds:itemID="{3C2EE3FF-F903-4F4A-A361-687B89ADBF5D}">
  <ds:schemaRefs>
    <ds:schemaRef ds:uri="http://macabacus.com"/>
  </ds:schemaRefs>
</ds:datastoreItem>
</file>

<file path=customXml/itemProps109.xml><?xml version="1.0" encoding="utf-8"?>
<ds:datastoreItem xmlns:ds="http://schemas.openxmlformats.org/officeDocument/2006/customXml" ds:itemID="{903AD103-0EE8-4ECE-AAFC-8F6ACF825AC3}">
  <ds:schemaRefs>
    <ds:schemaRef ds:uri="http://macabacus.com"/>
  </ds:schemaRefs>
</ds:datastoreItem>
</file>

<file path=customXml/itemProps110.xml><?xml version="1.0" encoding="utf-8"?>
<ds:datastoreItem xmlns:ds="http://schemas.openxmlformats.org/officeDocument/2006/customXml" ds:itemID="{05361EA6-CB62-40B6-9F3E-042F3E4B57AD}">
  <ds:schemaRefs>
    <ds:schemaRef ds:uri="http://macabacus.com"/>
  </ds:schemaRefs>
</ds:datastoreItem>
</file>

<file path=customXml/itemProps111.xml><?xml version="1.0" encoding="utf-8"?>
<ds:datastoreItem xmlns:ds="http://schemas.openxmlformats.org/officeDocument/2006/customXml" ds:itemID="{466ACEC2-36CC-405C-ACF5-E6D313DA275E}">
  <ds:schemaRefs>
    <ds:schemaRef ds:uri="http://macabacus.com"/>
  </ds:schemaRefs>
</ds:datastoreItem>
</file>

<file path=customXml/itemProps112.xml><?xml version="1.0" encoding="utf-8"?>
<ds:datastoreItem xmlns:ds="http://schemas.openxmlformats.org/officeDocument/2006/customXml" ds:itemID="{2947A6FC-801D-4412-81BD-980A26BD6B9E}">
  <ds:schemaRefs>
    <ds:schemaRef ds:uri="http://macabacus.com"/>
  </ds:schemaRefs>
</ds:datastoreItem>
</file>

<file path=customXml/itemProps113.xml><?xml version="1.0" encoding="utf-8"?>
<ds:datastoreItem xmlns:ds="http://schemas.openxmlformats.org/officeDocument/2006/customXml" ds:itemID="{92A90794-08F0-4B60-A689-04E998DC1D9F}">
  <ds:schemaRefs>
    <ds:schemaRef ds:uri="http://macabacus.com"/>
  </ds:schemaRefs>
</ds:datastoreItem>
</file>

<file path=customXml/itemProps114.xml><?xml version="1.0" encoding="utf-8"?>
<ds:datastoreItem xmlns:ds="http://schemas.openxmlformats.org/officeDocument/2006/customXml" ds:itemID="{6557C92F-E465-4DFF-8A7E-DBA031979CE3}">
  <ds:schemaRefs>
    <ds:schemaRef ds:uri="http://macabacus.com"/>
  </ds:schemaRefs>
</ds:datastoreItem>
</file>

<file path=customXml/itemProps115.xml><?xml version="1.0" encoding="utf-8"?>
<ds:datastoreItem xmlns:ds="http://schemas.openxmlformats.org/officeDocument/2006/customXml" ds:itemID="{99387AD8-6435-4031-AED1-B765E693B6D8}">
  <ds:schemaRefs>
    <ds:schemaRef ds:uri="http://macabacus.com"/>
  </ds:schemaRefs>
</ds:datastoreItem>
</file>

<file path=customXml/itemProps116.xml><?xml version="1.0" encoding="utf-8"?>
<ds:datastoreItem xmlns:ds="http://schemas.openxmlformats.org/officeDocument/2006/customXml" ds:itemID="{27AA862D-5A85-4E8B-B77F-137484C22EEF}">
  <ds:schemaRefs>
    <ds:schemaRef ds:uri="http://macabacus.com"/>
  </ds:schemaRefs>
</ds:datastoreItem>
</file>

<file path=customXml/itemProps117.xml><?xml version="1.0" encoding="utf-8"?>
<ds:datastoreItem xmlns:ds="http://schemas.openxmlformats.org/officeDocument/2006/customXml" ds:itemID="{24886683-8F5D-4A66-977D-67B7EB883013}">
  <ds:schemaRefs>
    <ds:schemaRef ds:uri="http://macabacus.com"/>
  </ds:schemaRefs>
</ds:datastoreItem>
</file>

<file path=customXml/itemProps118.xml><?xml version="1.0" encoding="utf-8"?>
<ds:datastoreItem xmlns:ds="http://schemas.openxmlformats.org/officeDocument/2006/customXml" ds:itemID="{BEA8E2CE-36C8-4400-AFC6-BBFEFA1698F1}">
  <ds:schemaRefs>
    <ds:schemaRef ds:uri="http://macabacus.com"/>
  </ds:schemaRefs>
</ds:datastoreItem>
</file>

<file path=customXml/itemProps119.xml><?xml version="1.0" encoding="utf-8"?>
<ds:datastoreItem xmlns:ds="http://schemas.openxmlformats.org/officeDocument/2006/customXml" ds:itemID="{A8C7D7F7-ECFD-4E99-B9F0-75E068103563}">
  <ds:schemaRefs>
    <ds:schemaRef ds:uri="http://macabacus.com"/>
  </ds:schemaRefs>
</ds:datastoreItem>
</file>

<file path=customXml/itemProps120.xml><?xml version="1.0" encoding="utf-8"?>
<ds:datastoreItem xmlns:ds="http://schemas.openxmlformats.org/officeDocument/2006/customXml" ds:itemID="{5056A744-3AA2-41D9-9520-DA4884EEB787}">
  <ds:schemaRefs>
    <ds:schemaRef ds:uri="http://macabacus.com"/>
  </ds:schemaRefs>
</ds:datastoreItem>
</file>

<file path=customXml/itemProps121.xml><?xml version="1.0" encoding="utf-8"?>
<ds:datastoreItem xmlns:ds="http://schemas.openxmlformats.org/officeDocument/2006/customXml" ds:itemID="{AEA2C14F-B6ED-4717-8000-5E226EE81752}">
  <ds:schemaRefs>
    <ds:schemaRef ds:uri="http://schemas.microsoft.com/sharepoint/v3/contenttype/forms"/>
  </ds:schemaRefs>
</ds:datastoreItem>
</file>

<file path=customXml/itemProps122.xml><?xml version="1.0" encoding="utf-8"?>
<ds:datastoreItem xmlns:ds="http://schemas.openxmlformats.org/officeDocument/2006/customXml" ds:itemID="{C6FE8F90-0EC5-42EE-A96E-E8FDE77EC9CA}">
  <ds:schemaRefs>
    <ds:schemaRef ds:uri="http://macabacus.com"/>
  </ds:schemaRefs>
</ds:datastoreItem>
</file>

<file path=customXml/itemProps123.xml><?xml version="1.0" encoding="utf-8"?>
<ds:datastoreItem xmlns:ds="http://schemas.openxmlformats.org/officeDocument/2006/customXml" ds:itemID="{D4CE0D74-51D8-4935-96E3-E94815FD372F}">
  <ds:schemaRefs>
    <ds:schemaRef ds:uri="http://macabacus.com"/>
  </ds:schemaRefs>
</ds:datastoreItem>
</file>

<file path=customXml/itemProps124.xml><?xml version="1.0" encoding="utf-8"?>
<ds:datastoreItem xmlns:ds="http://schemas.openxmlformats.org/officeDocument/2006/customXml" ds:itemID="{F1E614D4-EFE9-43AE-9DE1-D0A67D6BB1F4}">
  <ds:schemaRefs>
    <ds:schemaRef ds:uri="http://macabacus.com"/>
  </ds:schemaRefs>
</ds:datastoreItem>
</file>

<file path=customXml/itemProps125.xml><?xml version="1.0" encoding="utf-8"?>
<ds:datastoreItem xmlns:ds="http://schemas.openxmlformats.org/officeDocument/2006/customXml" ds:itemID="{FF53D666-BCA9-4939-B85D-F850F488C154}">
  <ds:schemaRefs>
    <ds:schemaRef ds:uri="http://macabacus.com"/>
  </ds:schemaRefs>
</ds:datastoreItem>
</file>

<file path=customXml/itemProps126.xml><?xml version="1.0" encoding="utf-8"?>
<ds:datastoreItem xmlns:ds="http://schemas.openxmlformats.org/officeDocument/2006/customXml" ds:itemID="{695A3544-8374-4B68-8B56-9376732D7327}">
  <ds:schemaRefs>
    <ds:schemaRef ds:uri="http://macabacus.com"/>
  </ds:schemaRefs>
</ds:datastoreItem>
</file>

<file path=customXml/itemProps127.xml><?xml version="1.0" encoding="utf-8"?>
<ds:datastoreItem xmlns:ds="http://schemas.openxmlformats.org/officeDocument/2006/customXml" ds:itemID="{04A274B0-93FC-47F0-870B-502F2F0F7326}">
  <ds:schemaRefs>
    <ds:schemaRef ds:uri="http://macabacus.com"/>
  </ds:schemaRefs>
</ds:datastoreItem>
</file>

<file path=customXml/itemProps128.xml><?xml version="1.0" encoding="utf-8"?>
<ds:datastoreItem xmlns:ds="http://schemas.openxmlformats.org/officeDocument/2006/customXml" ds:itemID="{21D6C46F-170C-4F46-AF8C-B5348FCFC490}">
  <ds:schemaRefs>
    <ds:schemaRef ds:uri="http://macabacus.com"/>
  </ds:schemaRefs>
</ds:datastoreItem>
</file>

<file path=customXml/itemProps129.xml><?xml version="1.0" encoding="utf-8"?>
<ds:datastoreItem xmlns:ds="http://schemas.openxmlformats.org/officeDocument/2006/customXml" ds:itemID="{5E380FEB-070E-4283-8187-4B93836E0F74}">
  <ds:schemaRefs>
    <ds:schemaRef ds:uri="http://macabacus.com"/>
  </ds:schemaRefs>
</ds:datastoreItem>
</file>

<file path=customXml/itemProps130.xml><?xml version="1.0" encoding="utf-8"?>
<ds:datastoreItem xmlns:ds="http://schemas.openxmlformats.org/officeDocument/2006/customXml" ds:itemID="{52778C26-298A-42D0-A002-BFD67249CC89}">
  <ds:schemaRefs>
    <ds:schemaRef ds:uri="http://macabacus.com"/>
  </ds:schemaRefs>
</ds:datastoreItem>
</file>

<file path=customXml/itemProps131.xml><?xml version="1.0" encoding="utf-8"?>
<ds:datastoreItem xmlns:ds="http://schemas.openxmlformats.org/officeDocument/2006/customXml" ds:itemID="{C9D376EA-5B2C-48DC-ADAC-7A4A4950557F}">
  <ds:schemaRefs>
    <ds:schemaRef ds:uri="http://macabacus.com"/>
  </ds:schemaRefs>
</ds:datastoreItem>
</file>

<file path=customXml/itemProps132.xml><?xml version="1.0" encoding="utf-8"?>
<ds:datastoreItem xmlns:ds="http://schemas.openxmlformats.org/officeDocument/2006/customXml" ds:itemID="{326E4EF2-6C1C-4D86-9022-5819E0A56E05}">
  <ds:schemaRefs>
    <ds:schemaRef ds:uri="http://macabacus.com"/>
  </ds:schemaRefs>
</ds:datastoreItem>
</file>

<file path=docProps/app.xml><?xml version="1.0" encoding="utf-8"?>
<Properties xmlns="http://schemas.openxmlformats.org/officeDocument/2006/extended-properties" xmlns:vt="http://schemas.openxmlformats.org/officeDocument/2006/docPropsVTypes">
  <Template/>
  <TotalTime>1652</TotalTime>
  <Words>2263</Words>
  <Application>Microsoft Office PowerPoint</Application>
  <PresentationFormat>On-screen Show (4:3)</PresentationFormat>
  <Paragraphs>343</Paragraphs>
  <Slides>18</Slides>
  <Notes>10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18</vt:i4>
      </vt:variant>
    </vt:vector>
  </HeadingPairs>
  <TitlesOfParts>
    <vt:vector size="28" baseType="lpstr">
      <vt:lpstr>Aharoni</vt:lpstr>
      <vt:lpstr>Segoe UI</vt:lpstr>
      <vt:lpstr>Arial</vt:lpstr>
      <vt:lpstr>Palatino Linotype</vt:lpstr>
      <vt:lpstr>Century Gothic</vt:lpstr>
      <vt:lpstr>Wingdings</vt:lpstr>
      <vt:lpstr>Corbel</vt:lpstr>
      <vt:lpstr>Calibri</vt:lpstr>
      <vt:lpstr>Office Theme</vt:lpstr>
      <vt:lpstr>4_Custom Design</vt:lpstr>
      <vt:lpstr>PowerPoint Presentation</vt:lpstr>
      <vt:lpstr>Executive Summary</vt:lpstr>
      <vt:lpstr>INFOR Financial Inc. Overview </vt:lpstr>
      <vt:lpstr>Canada’s Top Independent M&amp;A Advisor</vt:lpstr>
      <vt:lpstr>INFOR Key Highlights</vt:lpstr>
      <vt:lpstr>PowerPoint Presentation</vt:lpstr>
      <vt:lpstr>Introduction to Propel Holdings Inc.</vt:lpstr>
      <vt:lpstr>PowerPoint Presentation</vt:lpstr>
      <vt:lpstr>Ownership</vt:lpstr>
      <vt:lpstr>Potential Perceived Acquiror Considerations and Mitigants</vt:lpstr>
      <vt:lpstr>Comparable Companies Analysis</vt:lpstr>
      <vt:lpstr>Precedent Transactions Analysis</vt:lpstr>
      <vt:lpstr>Key Investment Highlights</vt:lpstr>
      <vt:lpstr>Potential Latin American Market Entry Targets (1 of 3)</vt:lpstr>
      <vt:lpstr>Potential Latin American Market Entry Targets (2 of 3)</vt:lpstr>
      <vt:lpstr>Potential Latin American Market Entry Targets (3 of 3)</vt:lpstr>
      <vt:lpstr>Disclaimer</vt:lpstr>
      <vt:lpstr>Contact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Joey Shaw</dc:creator>
  <cp:lastModifiedBy>Tate Wilson</cp:lastModifiedBy>
  <cp:revision>66</cp:revision>
  <cp:lastPrinted>2022-07-27T14:27:48Z</cp:lastPrinted>
  <dcterms:created xsi:type="dcterms:W3CDTF">2017-07-31T13:36:44Z</dcterms:created>
  <dcterms:modified xsi:type="dcterms:W3CDTF">2026-07-16T21:19:48Z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0x0101001CC90450323BF944A056C05D9632F2E1</vt:lpwstr>
  </property>
</Properties>
</file>